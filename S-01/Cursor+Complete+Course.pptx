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85" r:id="rId17"/>
    <p:sldId id="272" r:id="rId18"/>
    <p:sldId id="282" r:id="rId19"/>
    <p:sldId id="283" r:id="rId20"/>
    <p:sldId id="273" r:id="rId21"/>
    <p:sldId id="284" r:id="rId22"/>
    <p:sldId id="287" r:id="rId23"/>
    <p:sldId id="286" r:id="rId24"/>
    <p:sldId id="281"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 id="303" r:id="rId41"/>
    <p:sldId id="304" r:id="rId42"/>
    <p:sldId id="305" r:id="rId43"/>
    <p:sldId id="306" r:id="rId44"/>
    <p:sldId id="307" r:id="rId45"/>
    <p:sldId id="308" r:id="rId46"/>
    <p:sldId id="309" r:id="rId47"/>
    <p:sldId id="310" r:id="rId48"/>
    <p:sldId id="311" r:id="rId49"/>
    <p:sldId id="312" r:id="rId50"/>
    <p:sldId id="313" r:id="rId51"/>
    <p:sldId id="314" r:id="rId52"/>
    <p:sldId id="316" r:id="rId53"/>
    <p:sldId id="315" r:id="rId54"/>
    <p:sldId id="322" r:id="rId55"/>
    <p:sldId id="323" r:id="rId56"/>
    <p:sldId id="317" r:id="rId57"/>
    <p:sldId id="318" r:id="rId58"/>
    <p:sldId id="319" r:id="rId59"/>
    <p:sldId id="320" r:id="rId60"/>
    <p:sldId id="321" r:id="rId61"/>
  </p:sldIdLst>
  <p:sldSz cx="18288000" cy="10287000"/>
  <p:notesSz cx="6858000" cy="9144000"/>
  <p:embeddedFontLst>
    <p:embeddedFont>
      <p:font typeface="Gagalin" panose="020B0604020202020204" charset="0"/>
      <p:regular r:id="rId63"/>
    </p:embeddedFont>
    <p:embeddedFont>
      <p:font typeface="HK Modular" panose="020B0604020202020204" charset="0"/>
      <p:regular r:id="rId64"/>
    </p:embeddedFont>
    <p:embeddedFont>
      <p:font typeface="Lato Bold" panose="020F0802020204030203" pitchFamily="34" charset="0"/>
      <p:regular r:id="rId65"/>
      <p:bold r:id="rId66"/>
    </p:embeddedFont>
    <p:embeddedFont>
      <p:font typeface="Ovo" panose="020B0604020202020204" charset="0"/>
      <p:regular r:id="rId67"/>
    </p:embeddedFont>
    <p:embeddedFont>
      <p:font typeface="Tomorrow" panose="020B0604020202020204" charset="0"/>
      <p:regular r:id="rId6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DAC354-BD42-4CFB-9857-BC423C3925EB}" v="102" dt="2025-10-13T18:08:17.8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708" y="2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fntdata"/><Relationship Id="rId68"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4.fntdata"/><Relationship Id="rId74"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 Aulakh" userId="d6babfaf87fe36d4" providerId="LiveId" clId="{B334BEFE-12FD-4E1D-8027-ACB009DF3171}"/>
    <pc:docChg chg="undo custSel addSld delSld modSld sldOrd">
      <pc:chgData name="Sim Aulakh" userId="d6babfaf87fe36d4" providerId="LiveId" clId="{B334BEFE-12FD-4E1D-8027-ACB009DF3171}" dt="2025-10-14T16:14:06.688" v="2840" actId="20577"/>
      <pc:docMkLst>
        <pc:docMk/>
      </pc:docMkLst>
      <pc:sldChg chg="addSp delSp modSp add mod">
        <pc:chgData name="Sim Aulakh" userId="d6babfaf87fe36d4" providerId="LiveId" clId="{B334BEFE-12FD-4E1D-8027-ACB009DF3171}" dt="2025-09-29T18:30:16.567" v="263" actId="14100"/>
        <pc:sldMkLst>
          <pc:docMk/>
          <pc:sldMk cId="4269391206" sldId="288"/>
        </pc:sldMkLst>
        <pc:spChg chg="mod">
          <ac:chgData name="Sim Aulakh" userId="d6babfaf87fe36d4" providerId="LiveId" clId="{B334BEFE-12FD-4E1D-8027-ACB009DF3171}" dt="2025-09-29T18:28:19.062" v="51" actId="20577"/>
          <ac:spMkLst>
            <pc:docMk/>
            <pc:sldMk cId="4269391206" sldId="288"/>
            <ac:spMk id="3" creationId="{52A60D65-7ED6-271A-31A1-5762082B3A48}"/>
          </ac:spMkLst>
        </pc:spChg>
        <pc:graphicFrameChg chg="add mod">
          <ac:chgData name="Sim Aulakh" userId="d6babfaf87fe36d4" providerId="LiveId" clId="{B334BEFE-12FD-4E1D-8027-ACB009DF3171}" dt="2025-09-29T18:30:16.567" v="263" actId="14100"/>
          <ac:graphicFrameMkLst>
            <pc:docMk/>
            <pc:sldMk cId="4269391206" sldId="288"/>
            <ac:graphicFrameMk id="6" creationId="{F70C889F-200E-3106-4679-80E781E20758}"/>
          </ac:graphicFrameMkLst>
        </pc:graphicFrameChg>
      </pc:sldChg>
      <pc:sldChg chg="addSp delSp modSp add mod ord">
        <pc:chgData name="Sim Aulakh" userId="d6babfaf87fe36d4" providerId="LiveId" clId="{B334BEFE-12FD-4E1D-8027-ACB009DF3171}" dt="2025-09-29T18:52:58.501" v="888" actId="20577"/>
        <pc:sldMkLst>
          <pc:docMk/>
          <pc:sldMk cId="106716832" sldId="289"/>
        </pc:sldMkLst>
        <pc:spChg chg="mod">
          <ac:chgData name="Sim Aulakh" userId="d6babfaf87fe36d4" providerId="LiveId" clId="{B334BEFE-12FD-4E1D-8027-ACB009DF3171}" dt="2025-09-29T18:52:32.488" v="884" actId="1076"/>
          <ac:spMkLst>
            <pc:docMk/>
            <pc:sldMk cId="106716832" sldId="289"/>
            <ac:spMk id="2" creationId="{2211D9B3-C256-E31E-99DC-5E4543F6210E}"/>
          </ac:spMkLst>
        </pc:spChg>
        <pc:spChg chg="mod">
          <ac:chgData name="Sim Aulakh" userId="d6babfaf87fe36d4" providerId="LiveId" clId="{B334BEFE-12FD-4E1D-8027-ACB009DF3171}" dt="2025-09-29T18:32:29.022" v="364" actId="20577"/>
          <ac:spMkLst>
            <pc:docMk/>
            <pc:sldMk cId="106716832" sldId="289"/>
            <ac:spMk id="3" creationId="{1DB6CE0B-C01F-298B-848D-B6EE765B3C56}"/>
          </ac:spMkLst>
        </pc:spChg>
        <pc:spChg chg="add mod">
          <ac:chgData name="Sim Aulakh" userId="d6babfaf87fe36d4" providerId="LiveId" clId="{B334BEFE-12FD-4E1D-8027-ACB009DF3171}" dt="2025-09-29T18:52:58.501" v="888" actId="20577"/>
          <ac:spMkLst>
            <pc:docMk/>
            <pc:sldMk cId="106716832" sldId="289"/>
            <ac:spMk id="4" creationId="{9E1072D5-9F8F-D7FE-A3D0-7986E5EF9FB5}"/>
          </ac:spMkLst>
        </pc:spChg>
      </pc:sldChg>
      <pc:sldChg chg="add del setBg">
        <pc:chgData name="Sim Aulakh" userId="d6babfaf87fe36d4" providerId="LiveId" clId="{B334BEFE-12FD-4E1D-8027-ACB009DF3171}" dt="2025-09-29T18:30:32.744" v="265"/>
        <pc:sldMkLst>
          <pc:docMk/>
          <pc:sldMk cId="145844305" sldId="289"/>
        </pc:sldMkLst>
      </pc:sldChg>
      <pc:sldChg chg="new del">
        <pc:chgData name="Sim Aulakh" userId="d6babfaf87fe36d4" providerId="LiveId" clId="{B334BEFE-12FD-4E1D-8027-ACB009DF3171}" dt="2025-09-29T18:29:58.969" v="261" actId="47"/>
        <pc:sldMkLst>
          <pc:docMk/>
          <pc:sldMk cId="168544091" sldId="289"/>
        </pc:sldMkLst>
      </pc:sldChg>
      <pc:sldChg chg="modSp add del mod">
        <pc:chgData name="Sim Aulakh" userId="d6babfaf87fe36d4" providerId="LiveId" clId="{B334BEFE-12FD-4E1D-8027-ACB009DF3171}" dt="2025-09-29T18:32:11.711" v="341" actId="47"/>
        <pc:sldMkLst>
          <pc:docMk/>
          <pc:sldMk cId="3571099800" sldId="289"/>
        </pc:sldMkLst>
      </pc:sldChg>
      <pc:sldChg chg="add del setBg">
        <pc:chgData name="Sim Aulakh" userId="d6babfaf87fe36d4" providerId="LiveId" clId="{B334BEFE-12FD-4E1D-8027-ACB009DF3171}" dt="2025-09-29T18:32:18.327" v="343" actId="47"/>
        <pc:sldMkLst>
          <pc:docMk/>
          <pc:sldMk cId="3693969079" sldId="289"/>
        </pc:sldMkLst>
      </pc:sldChg>
      <pc:sldChg chg="addSp modSp add mod">
        <pc:chgData name="Sim Aulakh" userId="d6babfaf87fe36d4" providerId="LiveId" clId="{B334BEFE-12FD-4E1D-8027-ACB009DF3171}" dt="2025-09-29T19:44:11.402" v="1228" actId="13926"/>
        <pc:sldMkLst>
          <pc:docMk/>
          <pc:sldMk cId="1948269370" sldId="290"/>
        </pc:sldMkLst>
        <pc:spChg chg="mod">
          <ac:chgData name="Sim Aulakh" userId="d6babfaf87fe36d4" providerId="LiveId" clId="{B334BEFE-12FD-4E1D-8027-ACB009DF3171}" dt="2025-09-29T19:41:21.850" v="892" actId="20577"/>
          <ac:spMkLst>
            <pc:docMk/>
            <pc:sldMk cId="1948269370" sldId="290"/>
            <ac:spMk id="3" creationId="{18674460-C4A0-92EB-09C8-5502F1785CDE}"/>
          </ac:spMkLst>
        </pc:spChg>
        <pc:spChg chg="mod">
          <ac:chgData name="Sim Aulakh" userId="d6babfaf87fe36d4" providerId="LiveId" clId="{B334BEFE-12FD-4E1D-8027-ACB009DF3171}" dt="2025-09-29T18:53:09.478" v="890" actId="20577"/>
          <ac:spMkLst>
            <pc:docMk/>
            <pc:sldMk cId="1948269370" sldId="290"/>
            <ac:spMk id="4" creationId="{2653B954-D56F-7693-410F-69D392F1AD4A}"/>
          </ac:spMkLst>
        </pc:spChg>
        <pc:spChg chg="add mod">
          <ac:chgData name="Sim Aulakh" userId="d6babfaf87fe36d4" providerId="LiveId" clId="{B334BEFE-12FD-4E1D-8027-ACB009DF3171}" dt="2025-09-29T19:44:11.402" v="1228" actId="13926"/>
          <ac:spMkLst>
            <pc:docMk/>
            <pc:sldMk cId="1948269370" sldId="290"/>
            <ac:spMk id="5" creationId="{741B3F4C-084B-0420-81A0-F5A807E76FA6}"/>
          </ac:spMkLst>
        </pc:spChg>
      </pc:sldChg>
      <pc:sldChg chg="modSp add mod">
        <pc:chgData name="Sim Aulakh" userId="d6babfaf87fe36d4" providerId="LiveId" clId="{B334BEFE-12FD-4E1D-8027-ACB009DF3171}" dt="2025-09-29T19:46:10.412" v="1513" actId="13926"/>
        <pc:sldMkLst>
          <pc:docMk/>
          <pc:sldMk cId="3643912375" sldId="291"/>
        </pc:sldMkLst>
        <pc:spChg chg="mod">
          <ac:chgData name="Sim Aulakh" userId="d6babfaf87fe36d4" providerId="LiveId" clId="{B334BEFE-12FD-4E1D-8027-ACB009DF3171}" dt="2025-09-29T19:46:10.412" v="1513" actId="13926"/>
          <ac:spMkLst>
            <pc:docMk/>
            <pc:sldMk cId="3643912375" sldId="291"/>
            <ac:spMk id="5" creationId="{20A33F4D-444F-9C52-5DB7-CAE8FC304752}"/>
          </ac:spMkLst>
        </pc:spChg>
      </pc:sldChg>
      <pc:sldChg chg="modSp add mod">
        <pc:chgData name="Sim Aulakh" userId="d6babfaf87fe36d4" providerId="LiveId" clId="{B334BEFE-12FD-4E1D-8027-ACB009DF3171}" dt="2025-09-29T19:49:19.588" v="1795"/>
        <pc:sldMkLst>
          <pc:docMk/>
          <pc:sldMk cId="1061891671" sldId="292"/>
        </pc:sldMkLst>
        <pc:spChg chg="mod">
          <ac:chgData name="Sim Aulakh" userId="d6babfaf87fe36d4" providerId="LiveId" clId="{B334BEFE-12FD-4E1D-8027-ACB009DF3171}" dt="2025-09-29T19:49:19.588" v="1795"/>
          <ac:spMkLst>
            <pc:docMk/>
            <pc:sldMk cId="1061891671" sldId="292"/>
            <ac:spMk id="5" creationId="{185A4C4E-6DD5-43CD-4873-18C27F3E7B0B}"/>
          </ac:spMkLst>
        </pc:spChg>
      </pc:sldChg>
      <pc:sldChg chg="delSp modSp add mod">
        <pc:chgData name="Sim Aulakh" userId="d6babfaf87fe36d4" providerId="LiveId" clId="{B334BEFE-12FD-4E1D-8027-ACB009DF3171}" dt="2025-09-29T19:52:22.032" v="1934" actId="13926"/>
        <pc:sldMkLst>
          <pc:docMk/>
          <pc:sldMk cId="1729605848" sldId="293"/>
        </pc:sldMkLst>
        <pc:spChg chg="mod">
          <ac:chgData name="Sim Aulakh" userId="d6babfaf87fe36d4" providerId="LiveId" clId="{B334BEFE-12FD-4E1D-8027-ACB009DF3171}" dt="2025-09-29T19:52:22.032" v="1934" actId="13926"/>
          <ac:spMkLst>
            <pc:docMk/>
            <pc:sldMk cId="1729605848" sldId="293"/>
            <ac:spMk id="5" creationId="{0BED281F-F9F8-61D5-ED3C-8BF69B3927DF}"/>
          </ac:spMkLst>
        </pc:spChg>
      </pc:sldChg>
      <pc:sldChg chg="addSp delSp modSp add mod">
        <pc:chgData name="Sim Aulakh" userId="d6babfaf87fe36d4" providerId="LiveId" clId="{B334BEFE-12FD-4E1D-8027-ACB009DF3171}" dt="2025-09-29T19:58:49.546" v="1977" actId="13926"/>
        <pc:sldMkLst>
          <pc:docMk/>
          <pc:sldMk cId="2114287253" sldId="294"/>
        </pc:sldMkLst>
        <pc:spChg chg="mod">
          <ac:chgData name="Sim Aulakh" userId="d6babfaf87fe36d4" providerId="LiveId" clId="{B334BEFE-12FD-4E1D-8027-ACB009DF3171}" dt="2025-09-29T19:53:15.729" v="1938" actId="1076"/>
          <ac:spMkLst>
            <pc:docMk/>
            <pc:sldMk cId="2114287253" sldId="294"/>
            <ac:spMk id="4" creationId="{DCD9F6EB-0035-9978-F83D-D3A88AB67E73}"/>
          </ac:spMkLst>
        </pc:spChg>
        <pc:spChg chg="mod">
          <ac:chgData name="Sim Aulakh" userId="d6babfaf87fe36d4" providerId="LiveId" clId="{B334BEFE-12FD-4E1D-8027-ACB009DF3171}" dt="2025-09-29T19:52:43.072" v="1936" actId="20577"/>
          <ac:spMkLst>
            <pc:docMk/>
            <pc:sldMk cId="2114287253" sldId="294"/>
            <ac:spMk id="5" creationId="{0EA4B82B-687F-E7FF-0193-E61431C9B64F}"/>
          </ac:spMkLst>
        </pc:spChg>
        <pc:spChg chg="add mod">
          <ac:chgData name="Sim Aulakh" userId="d6babfaf87fe36d4" providerId="LiveId" clId="{B334BEFE-12FD-4E1D-8027-ACB009DF3171}" dt="2025-09-29T19:58:49.546" v="1977" actId="13926"/>
          <ac:spMkLst>
            <pc:docMk/>
            <pc:sldMk cId="2114287253" sldId="294"/>
            <ac:spMk id="7" creationId="{3195923C-AE71-6BF4-76B7-7E092086CB7E}"/>
          </ac:spMkLst>
        </pc:spChg>
      </pc:sldChg>
      <pc:sldChg chg="add del setBg">
        <pc:chgData name="Sim Aulakh" userId="d6babfaf87fe36d4" providerId="LiveId" clId="{B334BEFE-12FD-4E1D-8027-ACB009DF3171}" dt="2025-09-29T19:57:18.304" v="1948" actId="47"/>
        <pc:sldMkLst>
          <pc:docMk/>
          <pc:sldMk cId="988462735" sldId="295"/>
        </pc:sldMkLst>
      </pc:sldChg>
      <pc:sldChg chg="modSp add mod">
        <pc:chgData name="Sim Aulakh" userId="d6babfaf87fe36d4" providerId="LiveId" clId="{B334BEFE-12FD-4E1D-8027-ACB009DF3171}" dt="2025-09-29T20:03:01.774" v="2152" actId="20577"/>
        <pc:sldMkLst>
          <pc:docMk/>
          <pc:sldMk cId="1367369359" sldId="295"/>
        </pc:sldMkLst>
        <pc:spChg chg="mod">
          <ac:chgData name="Sim Aulakh" userId="d6babfaf87fe36d4" providerId="LiveId" clId="{B334BEFE-12FD-4E1D-8027-ACB009DF3171}" dt="2025-09-29T20:03:01.774" v="2152" actId="20577"/>
          <ac:spMkLst>
            <pc:docMk/>
            <pc:sldMk cId="1367369359" sldId="295"/>
            <ac:spMk id="7" creationId="{36E23EC4-1A8B-9698-2C33-B51DCA2BFB0A}"/>
          </ac:spMkLst>
        </pc:spChg>
      </pc:sldChg>
      <pc:sldChg chg="addSp delSp modSp add mod">
        <pc:chgData name="Sim Aulakh" userId="d6babfaf87fe36d4" providerId="LiveId" clId="{B334BEFE-12FD-4E1D-8027-ACB009DF3171}" dt="2025-09-29T20:04:29.949" v="2191" actId="20577"/>
        <pc:sldMkLst>
          <pc:docMk/>
          <pc:sldMk cId="333024733" sldId="296"/>
        </pc:sldMkLst>
        <pc:spChg chg="mod">
          <ac:chgData name="Sim Aulakh" userId="d6babfaf87fe36d4" providerId="LiveId" clId="{B334BEFE-12FD-4E1D-8027-ACB009DF3171}" dt="2025-09-29T20:04:29.949" v="2191" actId="20577"/>
          <ac:spMkLst>
            <pc:docMk/>
            <pc:sldMk cId="333024733" sldId="296"/>
            <ac:spMk id="7" creationId="{E24A883D-F57B-A656-5868-F3C9B4E809FD}"/>
          </ac:spMkLst>
        </pc:spChg>
      </pc:sldChg>
      <pc:sldChg chg="add del setBg">
        <pc:chgData name="Sim Aulakh" userId="d6babfaf87fe36d4" providerId="LiveId" clId="{B334BEFE-12FD-4E1D-8027-ACB009DF3171}" dt="2025-09-29T19:57:17.193" v="1947" actId="47"/>
        <pc:sldMkLst>
          <pc:docMk/>
          <pc:sldMk cId="4116903303" sldId="296"/>
        </pc:sldMkLst>
      </pc:sldChg>
      <pc:sldChg chg="addSp modSp add mod">
        <pc:chgData name="Sim Aulakh" userId="d6babfaf87fe36d4" providerId="LiveId" clId="{B334BEFE-12FD-4E1D-8027-ACB009DF3171}" dt="2025-09-29T20:06:16.474" v="2220" actId="13926"/>
        <pc:sldMkLst>
          <pc:docMk/>
          <pc:sldMk cId="2283806472" sldId="297"/>
        </pc:sldMkLst>
        <pc:spChg chg="mod">
          <ac:chgData name="Sim Aulakh" userId="d6babfaf87fe36d4" providerId="LiveId" clId="{B334BEFE-12FD-4E1D-8027-ACB009DF3171}" dt="2025-09-29T20:06:16.474" v="2220" actId="13926"/>
          <ac:spMkLst>
            <pc:docMk/>
            <pc:sldMk cId="2283806472" sldId="297"/>
            <ac:spMk id="7" creationId="{D62BA8CD-FBF7-1F61-2EEC-B4028CE0AF81}"/>
          </ac:spMkLst>
        </pc:spChg>
      </pc:sldChg>
      <pc:sldChg chg="addSp modSp add mod">
        <pc:chgData name="Sim Aulakh" userId="d6babfaf87fe36d4" providerId="LiveId" clId="{B334BEFE-12FD-4E1D-8027-ACB009DF3171}" dt="2025-09-29T20:08:55.277" v="2241" actId="13926"/>
        <pc:sldMkLst>
          <pc:docMk/>
          <pc:sldMk cId="173755913" sldId="298"/>
        </pc:sldMkLst>
        <pc:spChg chg="mod">
          <ac:chgData name="Sim Aulakh" userId="d6babfaf87fe36d4" providerId="LiveId" clId="{B334BEFE-12FD-4E1D-8027-ACB009DF3171}" dt="2025-09-29T20:08:55.277" v="2241" actId="13926"/>
          <ac:spMkLst>
            <pc:docMk/>
            <pc:sldMk cId="173755913" sldId="298"/>
            <ac:spMk id="7" creationId="{6E07AEA0-425C-28D9-64F2-9D1CBB76D2AA}"/>
          </ac:spMkLst>
        </pc:spChg>
      </pc:sldChg>
      <pc:sldChg chg="modSp mod">
        <pc:chgData name="Sim Aulakh" userId="d6babfaf87fe36d4" providerId="LiveId" clId="{B334BEFE-12FD-4E1D-8027-ACB009DF3171}" dt="2025-10-07T20:10:28.295" v="2246" actId="20577"/>
        <pc:sldMkLst>
          <pc:docMk/>
          <pc:sldMk cId="1599947302" sldId="306"/>
        </pc:sldMkLst>
        <pc:spChg chg="mod">
          <ac:chgData name="Sim Aulakh" userId="d6babfaf87fe36d4" providerId="LiveId" clId="{B334BEFE-12FD-4E1D-8027-ACB009DF3171}" dt="2025-10-07T20:10:28.295" v="2246" actId="20577"/>
          <ac:spMkLst>
            <pc:docMk/>
            <pc:sldMk cId="1599947302" sldId="306"/>
            <ac:spMk id="7" creationId="{092311DF-5AD1-F3E3-1E57-F0E29008B246}"/>
          </ac:spMkLst>
        </pc:spChg>
      </pc:sldChg>
      <pc:sldChg chg="modSp add mod ord">
        <pc:chgData name="Sim Aulakh" userId="d6babfaf87fe36d4" providerId="LiveId" clId="{B334BEFE-12FD-4E1D-8027-ACB009DF3171}" dt="2025-10-08T13:11:39.632" v="2634" actId="313"/>
        <pc:sldMkLst>
          <pc:docMk/>
          <pc:sldMk cId="2503010709" sldId="309"/>
        </pc:sldMkLst>
        <pc:spChg chg="mod">
          <ac:chgData name="Sim Aulakh" userId="d6babfaf87fe36d4" providerId="LiveId" clId="{B334BEFE-12FD-4E1D-8027-ACB009DF3171}" dt="2025-10-08T11:04:12.173" v="2274" actId="20577"/>
          <ac:spMkLst>
            <pc:docMk/>
            <pc:sldMk cId="2503010709" sldId="309"/>
            <ac:spMk id="4" creationId="{81DD080D-2E44-38CE-CABF-3CEA8EA11FF1}"/>
          </ac:spMkLst>
        </pc:spChg>
        <pc:spChg chg="mod">
          <ac:chgData name="Sim Aulakh" userId="d6babfaf87fe36d4" providerId="LiveId" clId="{B334BEFE-12FD-4E1D-8027-ACB009DF3171}" dt="2025-10-08T13:11:39.632" v="2634" actId="313"/>
          <ac:spMkLst>
            <pc:docMk/>
            <pc:sldMk cId="2503010709" sldId="309"/>
            <ac:spMk id="7" creationId="{E8DCE681-68A6-8DA9-336C-7600F62A9E14}"/>
          </ac:spMkLst>
        </pc:spChg>
      </pc:sldChg>
      <pc:sldChg chg="modSp add mod">
        <pc:chgData name="Sim Aulakh" userId="d6babfaf87fe36d4" providerId="LiveId" clId="{B334BEFE-12FD-4E1D-8027-ACB009DF3171}" dt="2025-10-08T11:30:46.504" v="2510" actId="5793"/>
        <pc:sldMkLst>
          <pc:docMk/>
          <pc:sldMk cId="2334720851" sldId="310"/>
        </pc:sldMkLst>
        <pc:spChg chg="mod">
          <ac:chgData name="Sim Aulakh" userId="d6babfaf87fe36d4" providerId="LiveId" clId="{B334BEFE-12FD-4E1D-8027-ACB009DF3171}" dt="2025-10-08T11:08:05.360" v="2400" actId="20577"/>
          <ac:spMkLst>
            <pc:docMk/>
            <pc:sldMk cId="2334720851" sldId="310"/>
            <ac:spMk id="4" creationId="{EA935E71-0F00-8B0B-AA23-CA5ED6535B77}"/>
          </ac:spMkLst>
        </pc:spChg>
        <pc:spChg chg="mod">
          <ac:chgData name="Sim Aulakh" userId="d6babfaf87fe36d4" providerId="LiveId" clId="{B334BEFE-12FD-4E1D-8027-ACB009DF3171}" dt="2025-10-08T11:30:46.504" v="2510" actId="5793"/>
          <ac:spMkLst>
            <pc:docMk/>
            <pc:sldMk cId="2334720851" sldId="310"/>
            <ac:spMk id="7" creationId="{48119FFB-C79E-5E17-901F-E4F04C690A40}"/>
          </ac:spMkLst>
        </pc:spChg>
      </pc:sldChg>
      <pc:sldChg chg="modSp add mod">
        <pc:chgData name="Sim Aulakh" userId="d6babfaf87fe36d4" providerId="LiveId" clId="{B334BEFE-12FD-4E1D-8027-ACB009DF3171}" dt="2025-10-08T11:41:20.565" v="2526"/>
        <pc:sldMkLst>
          <pc:docMk/>
          <pc:sldMk cId="2256987944" sldId="311"/>
        </pc:sldMkLst>
        <pc:spChg chg="mod">
          <ac:chgData name="Sim Aulakh" userId="d6babfaf87fe36d4" providerId="LiveId" clId="{B334BEFE-12FD-4E1D-8027-ACB009DF3171}" dt="2025-10-08T11:41:20.565" v="2526"/>
          <ac:spMkLst>
            <pc:docMk/>
            <pc:sldMk cId="2256987944" sldId="311"/>
            <ac:spMk id="7" creationId="{248C3509-A826-AF15-E7E5-BE88B60AA975}"/>
          </ac:spMkLst>
        </pc:spChg>
      </pc:sldChg>
      <pc:sldChg chg="modSp add mod">
        <pc:chgData name="Sim Aulakh" userId="d6babfaf87fe36d4" providerId="LiveId" clId="{B334BEFE-12FD-4E1D-8027-ACB009DF3171}" dt="2025-10-08T11:47:51.289" v="2540" actId="403"/>
        <pc:sldMkLst>
          <pc:docMk/>
          <pc:sldMk cId="795385700" sldId="312"/>
        </pc:sldMkLst>
        <pc:spChg chg="mod">
          <ac:chgData name="Sim Aulakh" userId="d6babfaf87fe36d4" providerId="LiveId" clId="{B334BEFE-12FD-4E1D-8027-ACB009DF3171}" dt="2025-10-08T11:47:51.289" v="2540" actId="403"/>
          <ac:spMkLst>
            <pc:docMk/>
            <pc:sldMk cId="795385700" sldId="312"/>
            <ac:spMk id="7" creationId="{9522974E-EB0A-AB4D-5895-203ABA686C2D}"/>
          </ac:spMkLst>
        </pc:spChg>
      </pc:sldChg>
      <pc:sldChg chg="modSp add mod">
        <pc:chgData name="Sim Aulakh" userId="d6babfaf87fe36d4" providerId="LiveId" clId="{B334BEFE-12FD-4E1D-8027-ACB009DF3171}" dt="2025-10-08T13:10:08.228" v="2621" actId="404"/>
        <pc:sldMkLst>
          <pc:docMk/>
          <pc:sldMk cId="2179546492" sldId="313"/>
        </pc:sldMkLst>
        <pc:spChg chg="mod">
          <ac:chgData name="Sim Aulakh" userId="d6babfaf87fe36d4" providerId="LiveId" clId="{B334BEFE-12FD-4E1D-8027-ACB009DF3171}" dt="2025-10-08T13:09:21.611" v="2558" actId="20577"/>
          <ac:spMkLst>
            <pc:docMk/>
            <pc:sldMk cId="2179546492" sldId="313"/>
            <ac:spMk id="4" creationId="{5B1EE869-4D7C-C659-0117-554A5D895D92}"/>
          </ac:spMkLst>
        </pc:spChg>
        <pc:spChg chg="mod">
          <ac:chgData name="Sim Aulakh" userId="d6babfaf87fe36d4" providerId="LiveId" clId="{B334BEFE-12FD-4E1D-8027-ACB009DF3171}" dt="2025-10-08T13:10:08.228" v="2621" actId="404"/>
          <ac:spMkLst>
            <pc:docMk/>
            <pc:sldMk cId="2179546492" sldId="313"/>
            <ac:spMk id="7" creationId="{CEFA7934-A9EC-AEAC-2116-F09CEC0BDF7F}"/>
          </ac:spMkLst>
        </pc:spChg>
      </pc:sldChg>
      <pc:sldChg chg="modSp add mod">
        <pc:chgData name="Sim Aulakh" userId="d6babfaf87fe36d4" providerId="LiveId" clId="{B334BEFE-12FD-4E1D-8027-ACB009DF3171}" dt="2025-10-08T13:11:13.637" v="2633" actId="12"/>
        <pc:sldMkLst>
          <pc:docMk/>
          <pc:sldMk cId="4291480184" sldId="314"/>
        </pc:sldMkLst>
        <pc:spChg chg="mod">
          <ac:chgData name="Sim Aulakh" userId="d6babfaf87fe36d4" providerId="LiveId" clId="{B334BEFE-12FD-4E1D-8027-ACB009DF3171}" dt="2025-10-08T13:11:13.637" v="2633" actId="12"/>
          <ac:spMkLst>
            <pc:docMk/>
            <pc:sldMk cId="4291480184" sldId="314"/>
            <ac:spMk id="7" creationId="{E93CF8FC-9015-7D34-EF37-A14CE6AD79AB}"/>
          </ac:spMkLst>
        </pc:spChg>
      </pc:sldChg>
      <pc:sldChg chg="addSp modSp add mod ord">
        <pc:chgData name="Sim Aulakh" userId="d6babfaf87fe36d4" providerId="LiveId" clId="{B334BEFE-12FD-4E1D-8027-ACB009DF3171}" dt="2025-10-09T21:45:45.566" v="2792" actId="207"/>
        <pc:sldMkLst>
          <pc:docMk/>
          <pc:sldMk cId="2128863700" sldId="315"/>
        </pc:sldMkLst>
        <pc:spChg chg="mod">
          <ac:chgData name="Sim Aulakh" userId="d6babfaf87fe36d4" providerId="LiveId" clId="{B334BEFE-12FD-4E1D-8027-ACB009DF3171}" dt="2025-10-09T21:44:59.251" v="2781"/>
          <ac:spMkLst>
            <pc:docMk/>
            <pc:sldMk cId="2128863700" sldId="315"/>
            <ac:spMk id="4" creationId="{60B41AC2-29FC-A005-B608-F19BCC94AFE1}"/>
          </ac:spMkLst>
        </pc:spChg>
        <pc:spChg chg="mod">
          <ac:chgData name="Sim Aulakh" userId="d6babfaf87fe36d4" providerId="LiveId" clId="{B334BEFE-12FD-4E1D-8027-ACB009DF3171}" dt="2025-10-09T21:45:45.566" v="2792" actId="207"/>
          <ac:spMkLst>
            <pc:docMk/>
            <pc:sldMk cId="2128863700" sldId="315"/>
            <ac:spMk id="7" creationId="{C7D0915C-FFC7-33D2-01C2-5116D81B46DF}"/>
          </ac:spMkLst>
        </pc:spChg>
      </pc:sldChg>
      <pc:sldChg chg="modSp add mod ord">
        <pc:chgData name="Sim Aulakh" userId="d6babfaf87fe36d4" providerId="LiveId" clId="{B334BEFE-12FD-4E1D-8027-ACB009DF3171}" dt="2025-10-09T21:44:35.403" v="2777" actId="403"/>
        <pc:sldMkLst>
          <pc:docMk/>
          <pc:sldMk cId="2245738223" sldId="316"/>
        </pc:sldMkLst>
        <pc:spChg chg="mod">
          <ac:chgData name="Sim Aulakh" userId="d6babfaf87fe36d4" providerId="LiveId" clId="{B334BEFE-12FD-4E1D-8027-ACB009DF3171}" dt="2025-10-09T21:44:35.403" v="2777" actId="403"/>
          <ac:spMkLst>
            <pc:docMk/>
            <pc:sldMk cId="2245738223" sldId="316"/>
            <ac:spMk id="7" creationId="{19579236-4865-1AED-97CF-80486F937F0A}"/>
          </ac:spMkLst>
        </pc:spChg>
      </pc:sldChg>
      <pc:sldChg chg="modSp add mod">
        <pc:chgData name="Sim Aulakh" userId="d6babfaf87fe36d4" providerId="LiveId" clId="{B334BEFE-12FD-4E1D-8027-ACB009DF3171}" dt="2025-10-09T21:30:16.416" v="2690" actId="12"/>
        <pc:sldMkLst>
          <pc:docMk/>
          <pc:sldMk cId="158671737" sldId="317"/>
        </pc:sldMkLst>
        <pc:spChg chg="mod">
          <ac:chgData name="Sim Aulakh" userId="d6babfaf87fe36d4" providerId="LiveId" clId="{B334BEFE-12FD-4E1D-8027-ACB009DF3171}" dt="2025-10-09T21:29:10.055" v="2684" actId="207"/>
          <ac:spMkLst>
            <pc:docMk/>
            <pc:sldMk cId="158671737" sldId="317"/>
            <ac:spMk id="4" creationId="{EA0DA6B8-6369-0553-4962-F98A80F9457C}"/>
          </ac:spMkLst>
        </pc:spChg>
        <pc:spChg chg="mod">
          <ac:chgData name="Sim Aulakh" userId="d6babfaf87fe36d4" providerId="LiveId" clId="{B334BEFE-12FD-4E1D-8027-ACB009DF3171}" dt="2025-10-09T21:30:16.416" v="2690" actId="12"/>
          <ac:spMkLst>
            <pc:docMk/>
            <pc:sldMk cId="158671737" sldId="317"/>
            <ac:spMk id="7" creationId="{7EF865B7-4157-7275-0ACF-5A81E40417A0}"/>
          </ac:spMkLst>
        </pc:spChg>
      </pc:sldChg>
      <pc:sldChg chg="addSp delSp modSp add mod">
        <pc:chgData name="Sim Aulakh" userId="d6babfaf87fe36d4" providerId="LiveId" clId="{B334BEFE-12FD-4E1D-8027-ACB009DF3171}" dt="2025-10-13T18:07:32.138" v="2838"/>
        <pc:sldMkLst>
          <pc:docMk/>
          <pc:sldMk cId="3650362217" sldId="318"/>
        </pc:sldMkLst>
        <pc:spChg chg="mod">
          <ac:chgData name="Sim Aulakh" userId="d6babfaf87fe36d4" providerId="LiveId" clId="{B334BEFE-12FD-4E1D-8027-ACB009DF3171}" dt="2025-10-09T21:30:51.785" v="2716" actId="20577"/>
          <ac:spMkLst>
            <pc:docMk/>
            <pc:sldMk cId="3650362217" sldId="318"/>
            <ac:spMk id="4" creationId="{315B8FF7-5C55-E352-75DB-6D4BBE2D43FA}"/>
          </ac:spMkLst>
        </pc:spChg>
        <pc:graphicFrameChg chg="add mod modGraphic">
          <ac:chgData name="Sim Aulakh" userId="d6babfaf87fe36d4" providerId="LiveId" clId="{B334BEFE-12FD-4E1D-8027-ACB009DF3171}" dt="2025-10-13T18:07:32.138" v="2838"/>
          <ac:graphicFrameMkLst>
            <pc:docMk/>
            <pc:sldMk cId="3650362217" sldId="318"/>
            <ac:graphicFrameMk id="3" creationId="{D034AF1E-4E7C-3F23-C062-1BB9F3EFA445}"/>
          </ac:graphicFrameMkLst>
        </pc:graphicFrameChg>
      </pc:sldChg>
      <pc:sldChg chg="modSp add mod ord">
        <pc:chgData name="Sim Aulakh" userId="d6babfaf87fe36d4" providerId="LiveId" clId="{B334BEFE-12FD-4E1D-8027-ACB009DF3171}" dt="2025-10-14T16:14:06.688" v="2840" actId="20577"/>
        <pc:sldMkLst>
          <pc:docMk/>
          <pc:sldMk cId="3939007281" sldId="319"/>
        </pc:sldMkLst>
        <pc:spChg chg="mod">
          <ac:chgData name="Sim Aulakh" userId="d6babfaf87fe36d4" providerId="LiveId" clId="{B334BEFE-12FD-4E1D-8027-ACB009DF3171}" dt="2025-10-09T21:33:20.653" v="2741" actId="403"/>
          <ac:spMkLst>
            <pc:docMk/>
            <pc:sldMk cId="3939007281" sldId="319"/>
            <ac:spMk id="4" creationId="{2F1E63F2-BD5B-0EDC-D3D8-F5891EED5C6E}"/>
          </ac:spMkLst>
        </pc:spChg>
        <pc:spChg chg="mod">
          <ac:chgData name="Sim Aulakh" userId="d6babfaf87fe36d4" providerId="LiveId" clId="{B334BEFE-12FD-4E1D-8027-ACB009DF3171}" dt="2025-10-14T16:14:06.688" v="2840" actId="20577"/>
          <ac:spMkLst>
            <pc:docMk/>
            <pc:sldMk cId="3939007281" sldId="319"/>
            <ac:spMk id="7" creationId="{844EDD35-ACAC-602A-D41D-AB50C61AD94F}"/>
          </ac:spMkLst>
        </pc:spChg>
      </pc:sldChg>
      <pc:sldChg chg="modSp add mod">
        <pc:chgData name="Sim Aulakh" userId="d6babfaf87fe36d4" providerId="LiveId" clId="{B334BEFE-12FD-4E1D-8027-ACB009DF3171}" dt="2025-10-09T21:34:14.794" v="2755" actId="13926"/>
        <pc:sldMkLst>
          <pc:docMk/>
          <pc:sldMk cId="2896815822" sldId="320"/>
        </pc:sldMkLst>
        <pc:spChg chg="mod">
          <ac:chgData name="Sim Aulakh" userId="d6babfaf87fe36d4" providerId="LiveId" clId="{B334BEFE-12FD-4E1D-8027-ACB009DF3171}" dt="2025-10-09T21:34:00.516" v="2750" actId="207"/>
          <ac:spMkLst>
            <pc:docMk/>
            <pc:sldMk cId="2896815822" sldId="320"/>
            <ac:spMk id="4" creationId="{4093A964-377B-F599-367C-668FA2FC5211}"/>
          </ac:spMkLst>
        </pc:spChg>
        <pc:spChg chg="mod">
          <ac:chgData name="Sim Aulakh" userId="d6babfaf87fe36d4" providerId="LiveId" clId="{B334BEFE-12FD-4E1D-8027-ACB009DF3171}" dt="2025-10-09T21:34:14.794" v="2755" actId="13926"/>
          <ac:spMkLst>
            <pc:docMk/>
            <pc:sldMk cId="2896815822" sldId="320"/>
            <ac:spMk id="7" creationId="{386F4266-1FC5-D64C-365E-81F14FA2EF14}"/>
          </ac:spMkLst>
        </pc:spChg>
      </pc:sldChg>
      <pc:sldChg chg="modSp add mod">
        <pc:chgData name="Sim Aulakh" userId="d6babfaf87fe36d4" providerId="LiveId" clId="{B334BEFE-12FD-4E1D-8027-ACB009DF3171}" dt="2025-10-09T21:35:22.362" v="2766" actId="13926"/>
        <pc:sldMkLst>
          <pc:docMk/>
          <pc:sldMk cId="3244550897" sldId="321"/>
        </pc:sldMkLst>
        <pc:spChg chg="mod">
          <ac:chgData name="Sim Aulakh" userId="d6babfaf87fe36d4" providerId="LiveId" clId="{B334BEFE-12FD-4E1D-8027-ACB009DF3171}" dt="2025-10-09T21:34:50.769" v="2759" actId="207"/>
          <ac:spMkLst>
            <pc:docMk/>
            <pc:sldMk cId="3244550897" sldId="321"/>
            <ac:spMk id="4" creationId="{F85D770C-56BF-4720-C052-4C71389D9422}"/>
          </ac:spMkLst>
        </pc:spChg>
        <pc:spChg chg="mod">
          <ac:chgData name="Sim Aulakh" userId="d6babfaf87fe36d4" providerId="LiveId" clId="{B334BEFE-12FD-4E1D-8027-ACB009DF3171}" dt="2025-10-09T21:35:22.362" v="2766" actId="13926"/>
          <ac:spMkLst>
            <pc:docMk/>
            <pc:sldMk cId="3244550897" sldId="321"/>
            <ac:spMk id="7" creationId="{3B5B16DC-0209-67D9-3B02-78867A19E027}"/>
          </ac:spMkLst>
        </pc:spChg>
      </pc:sldChg>
      <pc:sldChg chg="addSp modSp add mod">
        <pc:chgData name="Sim Aulakh" userId="d6babfaf87fe36d4" providerId="LiveId" clId="{B334BEFE-12FD-4E1D-8027-ACB009DF3171}" dt="2025-10-09T21:47:06.733" v="2821" actId="207"/>
        <pc:sldMkLst>
          <pc:docMk/>
          <pc:sldMk cId="3884352265" sldId="322"/>
        </pc:sldMkLst>
        <pc:spChg chg="mod">
          <ac:chgData name="Sim Aulakh" userId="d6babfaf87fe36d4" providerId="LiveId" clId="{B334BEFE-12FD-4E1D-8027-ACB009DF3171}" dt="2025-10-09T21:46:36.328" v="2809" actId="20577"/>
          <ac:spMkLst>
            <pc:docMk/>
            <pc:sldMk cId="3884352265" sldId="322"/>
            <ac:spMk id="4" creationId="{FAAF95B9-C81D-E8F0-B496-5E5417A3862E}"/>
          </ac:spMkLst>
        </pc:spChg>
        <pc:spChg chg="mod">
          <ac:chgData name="Sim Aulakh" userId="d6babfaf87fe36d4" providerId="LiveId" clId="{B334BEFE-12FD-4E1D-8027-ACB009DF3171}" dt="2025-10-09T21:47:06.733" v="2821" actId="207"/>
          <ac:spMkLst>
            <pc:docMk/>
            <pc:sldMk cId="3884352265" sldId="322"/>
            <ac:spMk id="7" creationId="{1D166F64-6093-98AE-8D72-7764333D341D}"/>
          </ac:spMkLst>
        </pc:spChg>
      </pc:sldChg>
      <pc:sldChg chg="modSp add mod">
        <pc:chgData name="Sim Aulakh" userId="d6babfaf87fe36d4" providerId="LiveId" clId="{B334BEFE-12FD-4E1D-8027-ACB009DF3171}" dt="2025-10-09T21:48:19.650" v="2837" actId="207"/>
        <pc:sldMkLst>
          <pc:docMk/>
          <pc:sldMk cId="621850668" sldId="323"/>
        </pc:sldMkLst>
        <pc:spChg chg="mod">
          <ac:chgData name="Sim Aulakh" userId="d6babfaf87fe36d4" providerId="LiveId" clId="{B334BEFE-12FD-4E1D-8027-ACB009DF3171}" dt="2025-10-09T21:47:48.470" v="2825"/>
          <ac:spMkLst>
            <pc:docMk/>
            <pc:sldMk cId="621850668" sldId="323"/>
            <ac:spMk id="4" creationId="{FC9BF300-A3CE-55F3-2C2C-7D45833ADB02}"/>
          </ac:spMkLst>
        </pc:spChg>
        <pc:spChg chg="mod">
          <ac:chgData name="Sim Aulakh" userId="d6babfaf87fe36d4" providerId="LiveId" clId="{B334BEFE-12FD-4E1D-8027-ACB009DF3171}" dt="2025-10-09T21:48:19.650" v="2837" actId="207"/>
          <ac:spMkLst>
            <pc:docMk/>
            <pc:sldMk cId="621850668" sldId="323"/>
            <ac:spMk id="7" creationId="{46792266-FFF1-CD2B-2B2A-457459D442DF}"/>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7D9036-9159-454B-BAA9-72B30B7E469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9B5467F-AC2C-4D2D-8C31-BEBC9541416B}">
      <dgm:prSet/>
      <dgm:spPr/>
      <dgm:t>
        <a:bodyPr/>
        <a:lstStyle/>
        <a:p>
          <a:pPr>
            <a:lnSpc>
              <a:spcPct val="100000"/>
            </a:lnSpc>
          </a:pPr>
          <a:r>
            <a:rPr lang="en-US"/>
            <a:t>Learn about Creating New custom fields</a:t>
          </a:r>
        </a:p>
      </dgm:t>
    </dgm:pt>
    <dgm:pt modelId="{9A096F8C-0C0C-4338-9BA5-669963283F6C}" type="parTrans" cxnId="{27891240-7E22-49BC-9063-52C1B7073616}">
      <dgm:prSet/>
      <dgm:spPr/>
      <dgm:t>
        <a:bodyPr/>
        <a:lstStyle/>
        <a:p>
          <a:endParaRPr lang="en-US"/>
        </a:p>
      </dgm:t>
    </dgm:pt>
    <dgm:pt modelId="{0E44C5D3-2F0C-436E-BA20-4A06E5AF4D80}" type="sibTrans" cxnId="{27891240-7E22-49BC-9063-52C1B7073616}">
      <dgm:prSet/>
      <dgm:spPr/>
      <dgm:t>
        <a:bodyPr/>
        <a:lstStyle/>
        <a:p>
          <a:endParaRPr lang="en-US"/>
        </a:p>
      </dgm:t>
    </dgm:pt>
    <dgm:pt modelId="{EB870733-90F3-4FEE-9A3C-FA755B925AD6}">
      <dgm:prSet/>
      <dgm:spPr/>
      <dgm:t>
        <a:bodyPr/>
        <a:lstStyle/>
        <a:p>
          <a:pPr>
            <a:lnSpc>
              <a:spcPct val="100000"/>
            </a:lnSpc>
          </a:pPr>
          <a:r>
            <a:rPr lang="en-US"/>
            <a:t>Learn about Deploying Code through cursor.</a:t>
          </a:r>
        </a:p>
      </dgm:t>
    </dgm:pt>
    <dgm:pt modelId="{BCF1CFDF-4AD8-42EB-80DE-DEA3A06D03A8}" type="parTrans" cxnId="{C43878BA-5B7E-4F0E-86A2-7EDD9A45889B}">
      <dgm:prSet/>
      <dgm:spPr/>
      <dgm:t>
        <a:bodyPr/>
        <a:lstStyle/>
        <a:p>
          <a:endParaRPr lang="en-US"/>
        </a:p>
      </dgm:t>
    </dgm:pt>
    <dgm:pt modelId="{B31156D3-C562-4027-98AC-CF087CAE3FB5}" type="sibTrans" cxnId="{C43878BA-5B7E-4F0E-86A2-7EDD9A45889B}">
      <dgm:prSet/>
      <dgm:spPr/>
      <dgm:t>
        <a:bodyPr/>
        <a:lstStyle/>
        <a:p>
          <a:endParaRPr lang="en-US"/>
        </a:p>
      </dgm:t>
    </dgm:pt>
    <dgm:pt modelId="{4041246E-90F3-44EC-A8CD-8353B6B78946}">
      <dgm:prSet/>
      <dgm:spPr/>
      <dgm:t>
        <a:bodyPr/>
        <a:lstStyle/>
        <a:p>
          <a:pPr>
            <a:lnSpc>
              <a:spcPct val="100000"/>
            </a:lnSpc>
          </a:pPr>
          <a:r>
            <a:rPr lang="en-US"/>
            <a:t>Building Flows</a:t>
          </a:r>
        </a:p>
      </dgm:t>
    </dgm:pt>
    <dgm:pt modelId="{5ADD3C37-83D8-48C0-87DB-D0E224118885}" type="parTrans" cxnId="{A31F86F0-0DD6-4277-BCEC-4FAC9CECA26B}">
      <dgm:prSet/>
      <dgm:spPr/>
      <dgm:t>
        <a:bodyPr/>
        <a:lstStyle/>
        <a:p>
          <a:endParaRPr lang="en-US"/>
        </a:p>
      </dgm:t>
    </dgm:pt>
    <dgm:pt modelId="{92687173-099D-4A2B-9CEF-A563A10F6F31}" type="sibTrans" cxnId="{A31F86F0-0DD6-4277-BCEC-4FAC9CECA26B}">
      <dgm:prSet/>
      <dgm:spPr/>
      <dgm:t>
        <a:bodyPr/>
        <a:lstStyle/>
        <a:p>
          <a:endParaRPr lang="en-US"/>
        </a:p>
      </dgm:t>
    </dgm:pt>
    <dgm:pt modelId="{E507DF13-BAC5-4A3E-A31F-3B4CD8D319CD}">
      <dgm:prSet/>
      <dgm:spPr/>
      <dgm:t>
        <a:bodyPr/>
        <a:lstStyle/>
        <a:p>
          <a:pPr>
            <a:lnSpc>
              <a:spcPct val="100000"/>
            </a:lnSpc>
          </a:pPr>
          <a:r>
            <a:rPr lang="en-US"/>
            <a:t>Writing Trigger and test classes</a:t>
          </a:r>
        </a:p>
      </dgm:t>
    </dgm:pt>
    <dgm:pt modelId="{9C1ABF91-FEBA-4095-B4AB-20C64DE1A1CD}" type="parTrans" cxnId="{78407A79-242E-42F8-A252-1E8C8F03D3A1}">
      <dgm:prSet/>
      <dgm:spPr/>
      <dgm:t>
        <a:bodyPr/>
        <a:lstStyle/>
        <a:p>
          <a:endParaRPr lang="en-US"/>
        </a:p>
      </dgm:t>
    </dgm:pt>
    <dgm:pt modelId="{4630CE17-AAEA-4342-B984-1D59D730BB9B}" type="sibTrans" cxnId="{78407A79-242E-42F8-A252-1E8C8F03D3A1}">
      <dgm:prSet/>
      <dgm:spPr/>
      <dgm:t>
        <a:bodyPr/>
        <a:lstStyle/>
        <a:p>
          <a:endParaRPr lang="en-US"/>
        </a:p>
      </dgm:t>
    </dgm:pt>
    <dgm:pt modelId="{E1A8B8AB-8806-4134-AC3D-F4557952A2C8}">
      <dgm:prSet/>
      <dgm:spPr/>
      <dgm:t>
        <a:bodyPr/>
        <a:lstStyle/>
        <a:p>
          <a:pPr>
            <a:lnSpc>
              <a:spcPct val="100000"/>
            </a:lnSpc>
          </a:pPr>
          <a:r>
            <a:rPr lang="en-US"/>
            <a:t>Create a LWC component. </a:t>
          </a:r>
        </a:p>
      </dgm:t>
    </dgm:pt>
    <dgm:pt modelId="{28F8BDC7-A3A9-491B-9A6B-1838511ED759}" type="parTrans" cxnId="{F46AE5B2-17CB-45D8-9741-938A19108676}">
      <dgm:prSet/>
      <dgm:spPr/>
      <dgm:t>
        <a:bodyPr/>
        <a:lstStyle/>
        <a:p>
          <a:endParaRPr lang="en-US"/>
        </a:p>
      </dgm:t>
    </dgm:pt>
    <dgm:pt modelId="{006EABDF-084C-45BE-94CD-C1BDDB313026}" type="sibTrans" cxnId="{F46AE5B2-17CB-45D8-9741-938A19108676}">
      <dgm:prSet/>
      <dgm:spPr/>
      <dgm:t>
        <a:bodyPr/>
        <a:lstStyle/>
        <a:p>
          <a:endParaRPr lang="en-US"/>
        </a:p>
      </dgm:t>
    </dgm:pt>
    <dgm:pt modelId="{5AAC95B6-BE4B-4CBF-9EEF-99AFC747C23F}" type="pres">
      <dgm:prSet presAssocID="{CD7D9036-9159-454B-BAA9-72B30B7E4690}" presName="root" presStyleCnt="0">
        <dgm:presLayoutVars>
          <dgm:dir/>
          <dgm:resizeHandles val="exact"/>
        </dgm:presLayoutVars>
      </dgm:prSet>
      <dgm:spPr/>
    </dgm:pt>
    <dgm:pt modelId="{2FA6E08B-C708-43B1-9C57-EA3C9C232454}" type="pres">
      <dgm:prSet presAssocID="{09B5467F-AC2C-4D2D-8C31-BEBC9541416B}" presName="compNode" presStyleCnt="0"/>
      <dgm:spPr/>
    </dgm:pt>
    <dgm:pt modelId="{41E0B1B6-70E1-425C-9BEC-66E109537ECC}" type="pres">
      <dgm:prSet presAssocID="{09B5467F-AC2C-4D2D-8C31-BEBC9541416B}" presName="bgRect" presStyleLbl="bgShp" presStyleIdx="0" presStyleCnt="5"/>
      <dgm:spPr/>
    </dgm:pt>
    <dgm:pt modelId="{82707017-C2D1-4A28-B7D2-62686CAAEB53}" type="pres">
      <dgm:prSet presAssocID="{09B5467F-AC2C-4D2D-8C31-BEBC9541416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gnifying glass"/>
        </a:ext>
      </dgm:extLst>
    </dgm:pt>
    <dgm:pt modelId="{82E69EAF-0A79-4F15-B0F3-954B715EF6BD}" type="pres">
      <dgm:prSet presAssocID="{09B5467F-AC2C-4D2D-8C31-BEBC9541416B}" presName="spaceRect" presStyleCnt="0"/>
      <dgm:spPr/>
    </dgm:pt>
    <dgm:pt modelId="{F33CD512-EC83-467E-BFA4-924089F74536}" type="pres">
      <dgm:prSet presAssocID="{09B5467F-AC2C-4D2D-8C31-BEBC9541416B}" presName="parTx" presStyleLbl="revTx" presStyleIdx="0" presStyleCnt="5">
        <dgm:presLayoutVars>
          <dgm:chMax val="0"/>
          <dgm:chPref val="0"/>
        </dgm:presLayoutVars>
      </dgm:prSet>
      <dgm:spPr/>
    </dgm:pt>
    <dgm:pt modelId="{5388D724-2C5F-4C79-98B7-F0A09BA63781}" type="pres">
      <dgm:prSet presAssocID="{0E44C5D3-2F0C-436E-BA20-4A06E5AF4D80}" presName="sibTrans" presStyleCnt="0"/>
      <dgm:spPr/>
    </dgm:pt>
    <dgm:pt modelId="{4623C296-96B5-45E3-8CE1-861E4580855F}" type="pres">
      <dgm:prSet presAssocID="{EB870733-90F3-4FEE-9A3C-FA755B925AD6}" presName="compNode" presStyleCnt="0"/>
      <dgm:spPr/>
    </dgm:pt>
    <dgm:pt modelId="{E4240DEA-399B-492E-BD79-3F662B606A14}" type="pres">
      <dgm:prSet presAssocID="{EB870733-90F3-4FEE-9A3C-FA755B925AD6}" presName="bgRect" presStyleLbl="bgShp" presStyleIdx="1" presStyleCnt="5"/>
      <dgm:spPr/>
    </dgm:pt>
    <dgm:pt modelId="{DCC440F2-F637-4FC5-8307-D2129117BB5F}" type="pres">
      <dgm:prSet presAssocID="{EB870733-90F3-4FEE-9A3C-FA755B925AD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ursor"/>
        </a:ext>
      </dgm:extLst>
    </dgm:pt>
    <dgm:pt modelId="{145D520A-D203-4F09-9C08-4EDC35089DAB}" type="pres">
      <dgm:prSet presAssocID="{EB870733-90F3-4FEE-9A3C-FA755B925AD6}" presName="spaceRect" presStyleCnt="0"/>
      <dgm:spPr/>
    </dgm:pt>
    <dgm:pt modelId="{10D9D2A1-5ED0-4107-8B7F-86E52EEF5C74}" type="pres">
      <dgm:prSet presAssocID="{EB870733-90F3-4FEE-9A3C-FA755B925AD6}" presName="parTx" presStyleLbl="revTx" presStyleIdx="1" presStyleCnt="5">
        <dgm:presLayoutVars>
          <dgm:chMax val="0"/>
          <dgm:chPref val="0"/>
        </dgm:presLayoutVars>
      </dgm:prSet>
      <dgm:spPr/>
    </dgm:pt>
    <dgm:pt modelId="{02DC3611-CCF6-4234-B4F5-1759769833F7}" type="pres">
      <dgm:prSet presAssocID="{B31156D3-C562-4027-98AC-CF087CAE3FB5}" presName="sibTrans" presStyleCnt="0"/>
      <dgm:spPr/>
    </dgm:pt>
    <dgm:pt modelId="{134BE36D-3D5A-4771-A621-F65FCD0D92DC}" type="pres">
      <dgm:prSet presAssocID="{4041246E-90F3-44EC-A8CD-8353B6B78946}" presName="compNode" presStyleCnt="0"/>
      <dgm:spPr/>
    </dgm:pt>
    <dgm:pt modelId="{E4627608-04FB-4F67-B1C1-725CC5FCDBA6}" type="pres">
      <dgm:prSet presAssocID="{4041246E-90F3-44EC-A8CD-8353B6B78946}" presName="bgRect" presStyleLbl="bgShp" presStyleIdx="2" presStyleCnt="5"/>
      <dgm:spPr/>
    </dgm:pt>
    <dgm:pt modelId="{DD562B8D-94AB-4AB6-AEB1-33D5C37F65C0}" type="pres">
      <dgm:prSet presAssocID="{4041246E-90F3-44EC-A8CD-8353B6B7894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ity"/>
        </a:ext>
      </dgm:extLst>
    </dgm:pt>
    <dgm:pt modelId="{78E065B7-E7AD-4AA3-9189-70DF3C76AFB9}" type="pres">
      <dgm:prSet presAssocID="{4041246E-90F3-44EC-A8CD-8353B6B78946}" presName="spaceRect" presStyleCnt="0"/>
      <dgm:spPr/>
    </dgm:pt>
    <dgm:pt modelId="{810E0A06-ECA9-4CA1-BD22-F9AD9B271C2D}" type="pres">
      <dgm:prSet presAssocID="{4041246E-90F3-44EC-A8CD-8353B6B78946}" presName="parTx" presStyleLbl="revTx" presStyleIdx="2" presStyleCnt="5">
        <dgm:presLayoutVars>
          <dgm:chMax val="0"/>
          <dgm:chPref val="0"/>
        </dgm:presLayoutVars>
      </dgm:prSet>
      <dgm:spPr/>
    </dgm:pt>
    <dgm:pt modelId="{75B4FB88-04AF-4A27-AE89-332E06BE0126}" type="pres">
      <dgm:prSet presAssocID="{92687173-099D-4A2B-9CEF-A563A10F6F31}" presName="sibTrans" presStyleCnt="0"/>
      <dgm:spPr/>
    </dgm:pt>
    <dgm:pt modelId="{280B6AAA-150D-4185-90BB-6CC55412DB34}" type="pres">
      <dgm:prSet presAssocID="{E507DF13-BAC5-4A3E-A31F-3B4CD8D319CD}" presName="compNode" presStyleCnt="0"/>
      <dgm:spPr/>
    </dgm:pt>
    <dgm:pt modelId="{E328CF20-2439-467D-ADC5-D0078B065B04}" type="pres">
      <dgm:prSet presAssocID="{E507DF13-BAC5-4A3E-A31F-3B4CD8D319CD}" presName="bgRect" presStyleLbl="bgShp" presStyleIdx="3" presStyleCnt="5"/>
      <dgm:spPr/>
    </dgm:pt>
    <dgm:pt modelId="{422EA0BB-2D9F-4A16-A142-184D47A40C19}" type="pres">
      <dgm:prSet presAssocID="{E507DF13-BAC5-4A3E-A31F-3B4CD8D319C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encil"/>
        </a:ext>
      </dgm:extLst>
    </dgm:pt>
    <dgm:pt modelId="{28388D71-6AF9-46E4-9956-F6D5521A8F08}" type="pres">
      <dgm:prSet presAssocID="{E507DF13-BAC5-4A3E-A31F-3B4CD8D319CD}" presName="spaceRect" presStyleCnt="0"/>
      <dgm:spPr/>
    </dgm:pt>
    <dgm:pt modelId="{A01388CD-0D8D-4530-998D-DB83A9724E9B}" type="pres">
      <dgm:prSet presAssocID="{E507DF13-BAC5-4A3E-A31F-3B4CD8D319CD}" presName="parTx" presStyleLbl="revTx" presStyleIdx="3" presStyleCnt="5">
        <dgm:presLayoutVars>
          <dgm:chMax val="0"/>
          <dgm:chPref val="0"/>
        </dgm:presLayoutVars>
      </dgm:prSet>
      <dgm:spPr/>
    </dgm:pt>
    <dgm:pt modelId="{C0D93F59-85CA-442A-B9CF-8C936393AA1C}" type="pres">
      <dgm:prSet presAssocID="{4630CE17-AAEA-4342-B984-1D59D730BB9B}" presName="sibTrans" presStyleCnt="0"/>
      <dgm:spPr/>
    </dgm:pt>
    <dgm:pt modelId="{A36E750E-38AF-46AC-BE26-CC9D9238700D}" type="pres">
      <dgm:prSet presAssocID="{E1A8B8AB-8806-4134-AC3D-F4557952A2C8}" presName="compNode" presStyleCnt="0"/>
      <dgm:spPr/>
    </dgm:pt>
    <dgm:pt modelId="{2E607E16-3216-4A3D-BBD5-3329B32AEC06}" type="pres">
      <dgm:prSet presAssocID="{E1A8B8AB-8806-4134-AC3D-F4557952A2C8}" presName="bgRect" presStyleLbl="bgShp" presStyleIdx="4" presStyleCnt="5"/>
      <dgm:spPr/>
    </dgm:pt>
    <dgm:pt modelId="{13B9F285-0FB9-4B47-9289-6A4A7B4EA568}" type="pres">
      <dgm:prSet presAssocID="{E1A8B8AB-8806-4134-AC3D-F4557952A2C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Gears"/>
        </a:ext>
      </dgm:extLst>
    </dgm:pt>
    <dgm:pt modelId="{EE786C59-B9D7-42AC-A594-E0975A0C71B3}" type="pres">
      <dgm:prSet presAssocID="{E1A8B8AB-8806-4134-AC3D-F4557952A2C8}" presName="spaceRect" presStyleCnt="0"/>
      <dgm:spPr/>
    </dgm:pt>
    <dgm:pt modelId="{9613D6F4-270D-4839-B793-48FD018124B0}" type="pres">
      <dgm:prSet presAssocID="{E1A8B8AB-8806-4134-AC3D-F4557952A2C8}" presName="parTx" presStyleLbl="revTx" presStyleIdx="4" presStyleCnt="5">
        <dgm:presLayoutVars>
          <dgm:chMax val="0"/>
          <dgm:chPref val="0"/>
        </dgm:presLayoutVars>
      </dgm:prSet>
      <dgm:spPr/>
    </dgm:pt>
  </dgm:ptLst>
  <dgm:cxnLst>
    <dgm:cxn modelId="{C7AE0C30-43D7-4312-9735-BCF79B7EBF91}" type="presOf" srcId="{EB870733-90F3-4FEE-9A3C-FA755B925AD6}" destId="{10D9D2A1-5ED0-4107-8B7F-86E52EEF5C74}" srcOrd="0" destOrd="0" presId="urn:microsoft.com/office/officeart/2018/2/layout/IconVerticalSolidList"/>
    <dgm:cxn modelId="{27891240-7E22-49BC-9063-52C1B7073616}" srcId="{CD7D9036-9159-454B-BAA9-72B30B7E4690}" destId="{09B5467F-AC2C-4D2D-8C31-BEBC9541416B}" srcOrd="0" destOrd="0" parTransId="{9A096F8C-0C0C-4338-9BA5-669963283F6C}" sibTransId="{0E44C5D3-2F0C-436E-BA20-4A06E5AF4D80}"/>
    <dgm:cxn modelId="{C29FCB6F-8454-42E5-BD61-8732F6815CFF}" type="presOf" srcId="{E1A8B8AB-8806-4134-AC3D-F4557952A2C8}" destId="{9613D6F4-270D-4839-B793-48FD018124B0}" srcOrd="0" destOrd="0" presId="urn:microsoft.com/office/officeart/2018/2/layout/IconVerticalSolidList"/>
    <dgm:cxn modelId="{EE9E1C54-CE42-46F1-A076-010CA9B8640E}" type="presOf" srcId="{09B5467F-AC2C-4D2D-8C31-BEBC9541416B}" destId="{F33CD512-EC83-467E-BFA4-924089F74536}" srcOrd="0" destOrd="0" presId="urn:microsoft.com/office/officeart/2018/2/layout/IconVerticalSolidList"/>
    <dgm:cxn modelId="{78407A79-242E-42F8-A252-1E8C8F03D3A1}" srcId="{CD7D9036-9159-454B-BAA9-72B30B7E4690}" destId="{E507DF13-BAC5-4A3E-A31F-3B4CD8D319CD}" srcOrd="3" destOrd="0" parTransId="{9C1ABF91-FEBA-4095-B4AB-20C64DE1A1CD}" sibTransId="{4630CE17-AAEA-4342-B984-1D59D730BB9B}"/>
    <dgm:cxn modelId="{75AFFE7A-8ABE-41CF-965C-6B35C2390A98}" type="presOf" srcId="{E507DF13-BAC5-4A3E-A31F-3B4CD8D319CD}" destId="{A01388CD-0D8D-4530-998D-DB83A9724E9B}" srcOrd="0" destOrd="0" presId="urn:microsoft.com/office/officeart/2018/2/layout/IconVerticalSolidList"/>
    <dgm:cxn modelId="{401337A6-7CA7-4B87-9536-F6A2F6F099E1}" type="presOf" srcId="{CD7D9036-9159-454B-BAA9-72B30B7E4690}" destId="{5AAC95B6-BE4B-4CBF-9EEF-99AFC747C23F}" srcOrd="0" destOrd="0" presId="urn:microsoft.com/office/officeart/2018/2/layout/IconVerticalSolidList"/>
    <dgm:cxn modelId="{F46AE5B2-17CB-45D8-9741-938A19108676}" srcId="{CD7D9036-9159-454B-BAA9-72B30B7E4690}" destId="{E1A8B8AB-8806-4134-AC3D-F4557952A2C8}" srcOrd="4" destOrd="0" parTransId="{28F8BDC7-A3A9-491B-9A6B-1838511ED759}" sibTransId="{006EABDF-084C-45BE-94CD-C1BDDB313026}"/>
    <dgm:cxn modelId="{C43878BA-5B7E-4F0E-86A2-7EDD9A45889B}" srcId="{CD7D9036-9159-454B-BAA9-72B30B7E4690}" destId="{EB870733-90F3-4FEE-9A3C-FA755B925AD6}" srcOrd="1" destOrd="0" parTransId="{BCF1CFDF-4AD8-42EB-80DE-DEA3A06D03A8}" sibTransId="{B31156D3-C562-4027-98AC-CF087CAE3FB5}"/>
    <dgm:cxn modelId="{DEA89CDE-9676-45A7-B77C-438DBFA7F200}" type="presOf" srcId="{4041246E-90F3-44EC-A8CD-8353B6B78946}" destId="{810E0A06-ECA9-4CA1-BD22-F9AD9B271C2D}" srcOrd="0" destOrd="0" presId="urn:microsoft.com/office/officeart/2018/2/layout/IconVerticalSolidList"/>
    <dgm:cxn modelId="{A31F86F0-0DD6-4277-BCEC-4FAC9CECA26B}" srcId="{CD7D9036-9159-454B-BAA9-72B30B7E4690}" destId="{4041246E-90F3-44EC-A8CD-8353B6B78946}" srcOrd="2" destOrd="0" parTransId="{5ADD3C37-83D8-48C0-87DB-D0E224118885}" sibTransId="{92687173-099D-4A2B-9CEF-A563A10F6F31}"/>
    <dgm:cxn modelId="{F6FEE579-1F83-4149-8B25-C38ED51D5156}" type="presParOf" srcId="{5AAC95B6-BE4B-4CBF-9EEF-99AFC747C23F}" destId="{2FA6E08B-C708-43B1-9C57-EA3C9C232454}" srcOrd="0" destOrd="0" presId="urn:microsoft.com/office/officeart/2018/2/layout/IconVerticalSolidList"/>
    <dgm:cxn modelId="{47ED631E-EDAB-4D75-B82C-230176A19D15}" type="presParOf" srcId="{2FA6E08B-C708-43B1-9C57-EA3C9C232454}" destId="{41E0B1B6-70E1-425C-9BEC-66E109537ECC}" srcOrd="0" destOrd="0" presId="urn:microsoft.com/office/officeart/2018/2/layout/IconVerticalSolidList"/>
    <dgm:cxn modelId="{15BA71CB-F1E5-40B5-9578-AB6AC2FBD378}" type="presParOf" srcId="{2FA6E08B-C708-43B1-9C57-EA3C9C232454}" destId="{82707017-C2D1-4A28-B7D2-62686CAAEB53}" srcOrd="1" destOrd="0" presId="urn:microsoft.com/office/officeart/2018/2/layout/IconVerticalSolidList"/>
    <dgm:cxn modelId="{6FE4C62E-4AEF-456A-ACCC-5D7A7DCE6815}" type="presParOf" srcId="{2FA6E08B-C708-43B1-9C57-EA3C9C232454}" destId="{82E69EAF-0A79-4F15-B0F3-954B715EF6BD}" srcOrd="2" destOrd="0" presId="urn:microsoft.com/office/officeart/2018/2/layout/IconVerticalSolidList"/>
    <dgm:cxn modelId="{31111CC3-8B4A-4980-B345-79B2A7E20AD6}" type="presParOf" srcId="{2FA6E08B-C708-43B1-9C57-EA3C9C232454}" destId="{F33CD512-EC83-467E-BFA4-924089F74536}" srcOrd="3" destOrd="0" presId="urn:microsoft.com/office/officeart/2018/2/layout/IconVerticalSolidList"/>
    <dgm:cxn modelId="{1149ECE5-7CEE-4FA8-93BB-55F709ED104E}" type="presParOf" srcId="{5AAC95B6-BE4B-4CBF-9EEF-99AFC747C23F}" destId="{5388D724-2C5F-4C79-98B7-F0A09BA63781}" srcOrd="1" destOrd="0" presId="urn:microsoft.com/office/officeart/2018/2/layout/IconVerticalSolidList"/>
    <dgm:cxn modelId="{A813A9C5-7A9A-418D-A6A3-16BED7AC1C69}" type="presParOf" srcId="{5AAC95B6-BE4B-4CBF-9EEF-99AFC747C23F}" destId="{4623C296-96B5-45E3-8CE1-861E4580855F}" srcOrd="2" destOrd="0" presId="urn:microsoft.com/office/officeart/2018/2/layout/IconVerticalSolidList"/>
    <dgm:cxn modelId="{DED2C0E4-CFA4-4BDF-8AC1-46C455253175}" type="presParOf" srcId="{4623C296-96B5-45E3-8CE1-861E4580855F}" destId="{E4240DEA-399B-492E-BD79-3F662B606A14}" srcOrd="0" destOrd="0" presId="urn:microsoft.com/office/officeart/2018/2/layout/IconVerticalSolidList"/>
    <dgm:cxn modelId="{9A09E165-DBA5-4F5F-AB82-B15539BA9FFF}" type="presParOf" srcId="{4623C296-96B5-45E3-8CE1-861E4580855F}" destId="{DCC440F2-F637-4FC5-8307-D2129117BB5F}" srcOrd="1" destOrd="0" presId="urn:microsoft.com/office/officeart/2018/2/layout/IconVerticalSolidList"/>
    <dgm:cxn modelId="{1B995AF7-E40B-4493-B96F-6F8796B7B84D}" type="presParOf" srcId="{4623C296-96B5-45E3-8CE1-861E4580855F}" destId="{145D520A-D203-4F09-9C08-4EDC35089DAB}" srcOrd="2" destOrd="0" presId="urn:microsoft.com/office/officeart/2018/2/layout/IconVerticalSolidList"/>
    <dgm:cxn modelId="{DE6825A7-2D5D-4309-8EB3-0EABD43A7252}" type="presParOf" srcId="{4623C296-96B5-45E3-8CE1-861E4580855F}" destId="{10D9D2A1-5ED0-4107-8B7F-86E52EEF5C74}" srcOrd="3" destOrd="0" presId="urn:microsoft.com/office/officeart/2018/2/layout/IconVerticalSolidList"/>
    <dgm:cxn modelId="{C4525CE2-6606-4D5F-AA43-4B95B335FB06}" type="presParOf" srcId="{5AAC95B6-BE4B-4CBF-9EEF-99AFC747C23F}" destId="{02DC3611-CCF6-4234-B4F5-1759769833F7}" srcOrd="3" destOrd="0" presId="urn:microsoft.com/office/officeart/2018/2/layout/IconVerticalSolidList"/>
    <dgm:cxn modelId="{81A71573-3EC2-469A-B1D3-86130CD5F297}" type="presParOf" srcId="{5AAC95B6-BE4B-4CBF-9EEF-99AFC747C23F}" destId="{134BE36D-3D5A-4771-A621-F65FCD0D92DC}" srcOrd="4" destOrd="0" presId="urn:microsoft.com/office/officeart/2018/2/layout/IconVerticalSolidList"/>
    <dgm:cxn modelId="{7718D8B2-96C9-44ED-8192-53C916955482}" type="presParOf" srcId="{134BE36D-3D5A-4771-A621-F65FCD0D92DC}" destId="{E4627608-04FB-4F67-B1C1-725CC5FCDBA6}" srcOrd="0" destOrd="0" presId="urn:microsoft.com/office/officeart/2018/2/layout/IconVerticalSolidList"/>
    <dgm:cxn modelId="{5044F634-D68F-47EB-B87F-6BD391EA6EF9}" type="presParOf" srcId="{134BE36D-3D5A-4771-A621-F65FCD0D92DC}" destId="{DD562B8D-94AB-4AB6-AEB1-33D5C37F65C0}" srcOrd="1" destOrd="0" presId="urn:microsoft.com/office/officeart/2018/2/layout/IconVerticalSolidList"/>
    <dgm:cxn modelId="{B4EDB7C9-FF65-4A65-9B47-F4FA227265C1}" type="presParOf" srcId="{134BE36D-3D5A-4771-A621-F65FCD0D92DC}" destId="{78E065B7-E7AD-4AA3-9189-70DF3C76AFB9}" srcOrd="2" destOrd="0" presId="urn:microsoft.com/office/officeart/2018/2/layout/IconVerticalSolidList"/>
    <dgm:cxn modelId="{4CBA6412-4813-40DD-B516-9490FBA0B8E0}" type="presParOf" srcId="{134BE36D-3D5A-4771-A621-F65FCD0D92DC}" destId="{810E0A06-ECA9-4CA1-BD22-F9AD9B271C2D}" srcOrd="3" destOrd="0" presId="urn:microsoft.com/office/officeart/2018/2/layout/IconVerticalSolidList"/>
    <dgm:cxn modelId="{035DA541-27DB-4635-9CFC-1A45EBBD108A}" type="presParOf" srcId="{5AAC95B6-BE4B-4CBF-9EEF-99AFC747C23F}" destId="{75B4FB88-04AF-4A27-AE89-332E06BE0126}" srcOrd="5" destOrd="0" presId="urn:microsoft.com/office/officeart/2018/2/layout/IconVerticalSolidList"/>
    <dgm:cxn modelId="{B053B55D-AA7F-4A2C-A7FE-8F4D587D78EC}" type="presParOf" srcId="{5AAC95B6-BE4B-4CBF-9EEF-99AFC747C23F}" destId="{280B6AAA-150D-4185-90BB-6CC55412DB34}" srcOrd="6" destOrd="0" presId="urn:microsoft.com/office/officeart/2018/2/layout/IconVerticalSolidList"/>
    <dgm:cxn modelId="{C5944CEB-8D10-4AC4-AE24-C353D7F0A09F}" type="presParOf" srcId="{280B6AAA-150D-4185-90BB-6CC55412DB34}" destId="{E328CF20-2439-467D-ADC5-D0078B065B04}" srcOrd="0" destOrd="0" presId="urn:microsoft.com/office/officeart/2018/2/layout/IconVerticalSolidList"/>
    <dgm:cxn modelId="{DA743BDD-FAC1-4DA3-AB01-648879F9CD6F}" type="presParOf" srcId="{280B6AAA-150D-4185-90BB-6CC55412DB34}" destId="{422EA0BB-2D9F-4A16-A142-184D47A40C19}" srcOrd="1" destOrd="0" presId="urn:microsoft.com/office/officeart/2018/2/layout/IconVerticalSolidList"/>
    <dgm:cxn modelId="{E8FFA141-2E73-4AEF-AFCF-26CFBEC9DC8F}" type="presParOf" srcId="{280B6AAA-150D-4185-90BB-6CC55412DB34}" destId="{28388D71-6AF9-46E4-9956-F6D5521A8F08}" srcOrd="2" destOrd="0" presId="urn:microsoft.com/office/officeart/2018/2/layout/IconVerticalSolidList"/>
    <dgm:cxn modelId="{A4E05FBC-20F0-4120-ADE8-DA3F3D94066C}" type="presParOf" srcId="{280B6AAA-150D-4185-90BB-6CC55412DB34}" destId="{A01388CD-0D8D-4530-998D-DB83A9724E9B}" srcOrd="3" destOrd="0" presId="urn:microsoft.com/office/officeart/2018/2/layout/IconVerticalSolidList"/>
    <dgm:cxn modelId="{95C76B8A-7E78-4F9D-B662-1EB0027AFD89}" type="presParOf" srcId="{5AAC95B6-BE4B-4CBF-9EEF-99AFC747C23F}" destId="{C0D93F59-85CA-442A-B9CF-8C936393AA1C}" srcOrd="7" destOrd="0" presId="urn:microsoft.com/office/officeart/2018/2/layout/IconVerticalSolidList"/>
    <dgm:cxn modelId="{41D4CB2B-F573-4D90-9E40-DD8B5FEDEE4B}" type="presParOf" srcId="{5AAC95B6-BE4B-4CBF-9EEF-99AFC747C23F}" destId="{A36E750E-38AF-46AC-BE26-CC9D9238700D}" srcOrd="8" destOrd="0" presId="urn:microsoft.com/office/officeart/2018/2/layout/IconVerticalSolidList"/>
    <dgm:cxn modelId="{1AF80F75-40D3-4B12-AADF-922098EE3B67}" type="presParOf" srcId="{A36E750E-38AF-46AC-BE26-CC9D9238700D}" destId="{2E607E16-3216-4A3D-BBD5-3329B32AEC06}" srcOrd="0" destOrd="0" presId="urn:microsoft.com/office/officeart/2018/2/layout/IconVerticalSolidList"/>
    <dgm:cxn modelId="{18DC6F50-0E38-45BA-A234-69FC9C1BAF1F}" type="presParOf" srcId="{A36E750E-38AF-46AC-BE26-CC9D9238700D}" destId="{13B9F285-0FB9-4B47-9289-6A4A7B4EA568}" srcOrd="1" destOrd="0" presId="urn:microsoft.com/office/officeart/2018/2/layout/IconVerticalSolidList"/>
    <dgm:cxn modelId="{F6729234-D7AB-48CB-B574-D2210569D639}" type="presParOf" srcId="{A36E750E-38AF-46AC-BE26-CC9D9238700D}" destId="{EE786C59-B9D7-42AC-A594-E0975A0C71B3}" srcOrd="2" destOrd="0" presId="urn:microsoft.com/office/officeart/2018/2/layout/IconVerticalSolidList"/>
    <dgm:cxn modelId="{EB35781E-11F1-4D27-A0F6-A2F9EAD9EDFE}" type="presParOf" srcId="{A36E750E-38AF-46AC-BE26-CC9D9238700D}" destId="{9613D6F4-270D-4839-B793-48FD018124B0}"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E0B1B6-70E1-425C-9BEC-66E109537ECC}">
      <dsp:nvSpPr>
        <dsp:cNvPr id="0" name=""/>
        <dsp:cNvSpPr/>
      </dsp:nvSpPr>
      <dsp:spPr>
        <a:xfrm>
          <a:off x="0" y="3964"/>
          <a:ext cx="11887200" cy="84446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707017-C2D1-4A28-B7D2-62686CAAEB53}">
      <dsp:nvSpPr>
        <dsp:cNvPr id="0" name=""/>
        <dsp:cNvSpPr/>
      </dsp:nvSpPr>
      <dsp:spPr>
        <a:xfrm>
          <a:off x="255451" y="193970"/>
          <a:ext cx="464457" cy="4644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3CD512-EC83-467E-BFA4-924089F74536}">
      <dsp:nvSpPr>
        <dsp:cNvPr id="0" name=""/>
        <dsp:cNvSpPr/>
      </dsp:nvSpPr>
      <dsp:spPr>
        <a:xfrm>
          <a:off x="975361" y="3964"/>
          <a:ext cx="10911838" cy="844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373" tIns="89373" rIns="89373" bIns="89373" numCol="1" spcCol="1270" anchor="ctr" anchorCtr="0">
          <a:noAutofit/>
        </a:bodyPr>
        <a:lstStyle/>
        <a:p>
          <a:pPr marL="0" lvl="0" indent="0" algn="l" defTabSz="844550">
            <a:lnSpc>
              <a:spcPct val="100000"/>
            </a:lnSpc>
            <a:spcBef>
              <a:spcPct val="0"/>
            </a:spcBef>
            <a:spcAft>
              <a:spcPct val="35000"/>
            </a:spcAft>
            <a:buNone/>
          </a:pPr>
          <a:r>
            <a:rPr lang="en-US" sz="1900" kern="1200"/>
            <a:t>Learn about Creating New custom fields</a:t>
          </a:r>
        </a:p>
      </dsp:txBody>
      <dsp:txXfrm>
        <a:off x="975361" y="3964"/>
        <a:ext cx="10911838" cy="844468"/>
      </dsp:txXfrm>
    </dsp:sp>
    <dsp:sp modelId="{E4240DEA-399B-492E-BD79-3F662B606A14}">
      <dsp:nvSpPr>
        <dsp:cNvPr id="0" name=""/>
        <dsp:cNvSpPr/>
      </dsp:nvSpPr>
      <dsp:spPr>
        <a:xfrm>
          <a:off x="0" y="1059550"/>
          <a:ext cx="11887200" cy="84446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C440F2-F637-4FC5-8307-D2129117BB5F}">
      <dsp:nvSpPr>
        <dsp:cNvPr id="0" name=""/>
        <dsp:cNvSpPr/>
      </dsp:nvSpPr>
      <dsp:spPr>
        <a:xfrm>
          <a:off x="255451" y="1249555"/>
          <a:ext cx="464457" cy="4644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D9D2A1-5ED0-4107-8B7F-86E52EEF5C74}">
      <dsp:nvSpPr>
        <dsp:cNvPr id="0" name=""/>
        <dsp:cNvSpPr/>
      </dsp:nvSpPr>
      <dsp:spPr>
        <a:xfrm>
          <a:off x="975361" y="1059550"/>
          <a:ext cx="10911838" cy="844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373" tIns="89373" rIns="89373" bIns="89373" numCol="1" spcCol="1270" anchor="ctr" anchorCtr="0">
          <a:noAutofit/>
        </a:bodyPr>
        <a:lstStyle/>
        <a:p>
          <a:pPr marL="0" lvl="0" indent="0" algn="l" defTabSz="844550">
            <a:lnSpc>
              <a:spcPct val="100000"/>
            </a:lnSpc>
            <a:spcBef>
              <a:spcPct val="0"/>
            </a:spcBef>
            <a:spcAft>
              <a:spcPct val="35000"/>
            </a:spcAft>
            <a:buNone/>
          </a:pPr>
          <a:r>
            <a:rPr lang="en-US" sz="1900" kern="1200"/>
            <a:t>Learn about Deploying Code through cursor.</a:t>
          </a:r>
        </a:p>
      </dsp:txBody>
      <dsp:txXfrm>
        <a:off x="975361" y="1059550"/>
        <a:ext cx="10911838" cy="844468"/>
      </dsp:txXfrm>
    </dsp:sp>
    <dsp:sp modelId="{E4627608-04FB-4F67-B1C1-725CC5FCDBA6}">
      <dsp:nvSpPr>
        <dsp:cNvPr id="0" name=""/>
        <dsp:cNvSpPr/>
      </dsp:nvSpPr>
      <dsp:spPr>
        <a:xfrm>
          <a:off x="0" y="2115136"/>
          <a:ext cx="11887200" cy="84446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562B8D-94AB-4AB6-AEB1-33D5C37F65C0}">
      <dsp:nvSpPr>
        <dsp:cNvPr id="0" name=""/>
        <dsp:cNvSpPr/>
      </dsp:nvSpPr>
      <dsp:spPr>
        <a:xfrm>
          <a:off x="255451" y="2305141"/>
          <a:ext cx="464457" cy="4644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0E0A06-ECA9-4CA1-BD22-F9AD9B271C2D}">
      <dsp:nvSpPr>
        <dsp:cNvPr id="0" name=""/>
        <dsp:cNvSpPr/>
      </dsp:nvSpPr>
      <dsp:spPr>
        <a:xfrm>
          <a:off x="975361" y="2115136"/>
          <a:ext cx="10911838" cy="844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373" tIns="89373" rIns="89373" bIns="89373" numCol="1" spcCol="1270" anchor="ctr" anchorCtr="0">
          <a:noAutofit/>
        </a:bodyPr>
        <a:lstStyle/>
        <a:p>
          <a:pPr marL="0" lvl="0" indent="0" algn="l" defTabSz="844550">
            <a:lnSpc>
              <a:spcPct val="100000"/>
            </a:lnSpc>
            <a:spcBef>
              <a:spcPct val="0"/>
            </a:spcBef>
            <a:spcAft>
              <a:spcPct val="35000"/>
            </a:spcAft>
            <a:buNone/>
          </a:pPr>
          <a:r>
            <a:rPr lang="en-US" sz="1900" kern="1200"/>
            <a:t>Building Flows</a:t>
          </a:r>
        </a:p>
      </dsp:txBody>
      <dsp:txXfrm>
        <a:off x="975361" y="2115136"/>
        <a:ext cx="10911838" cy="844468"/>
      </dsp:txXfrm>
    </dsp:sp>
    <dsp:sp modelId="{E328CF20-2439-467D-ADC5-D0078B065B04}">
      <dsp:nvSpPr>
        <dsp:cNvPr id="0" name=""/>
        <dsp:cNvSpPr/>
      </dsp:nvSpPr>
      <dsp:spPr>
        <a:xfrm>
          <a:off x="0" y="3170721"/>
          <a:ext cx="11887200" cy="84446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2EA0BB-2D9F-4A16-A142-184D47A40C19}">
      <dsp:nvSpPr>
        <dsp:cNvPr id="0" name=""/>
        <dsp:cNvSpPr/>
      </dsp:nvSpPr>
      <dsp:spPr>
        <a:xfrm>
          <a:off x="255451" y="3360727"/>
          <a:ext cx="464457" cy="46445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1388CD-0D8D-4530-998D-DB83A9724E9B}">
      <dsp:nvSpPr>
        <dsp:cNvPr id="0" name=""/>
        <dsp:cNvSpPr/>
      </dsp:nvSpPr>
      <dsp:spPr>
        <a:xfrm>
          <a:off x="975361" y="3170721"/>
          <a:ext cx="10911838" cy="844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373" tIns="89373" rIns="89373" bIns="89373" numCol="1" spcCol="1270" anchor="ctr" anchorCtr="0">
          <a:noAutofit/>
        </a:bodyPr>
        <a:lstStyle/>
        <a:p>
          <a:pPr marL="0" lvl="0" indent="0" algn="l" defTabSz="844550">
            <a:lnSpc>
              <a:spcPct val="100000"/>
            </a:lnSpc>
            <a:spcBef>
              <a:spcPct val="0"/>
            </a:spcBef>
            <a:spcAft>
              <a:spcPct val="35000"/>
            </a:spcAft>
            <a:buNone/>
          </a:pPr>
          <a:r>
            <a:rPr lang="en-US" sz="1900" kern="1200"/>
            <a:t>Writing Trigger and test classes</a:t>
          </a:r>
        </a:p>
      </dsp:txBody>
      <dsp:txXfrm>
        <a:off x="975361" y="3170721"/>
        <a:ext cx="10911838" cy="844468"/>
      </dsp:txXfrm>
    </dsp:sp>
    <dsp:sp modelId="{2E607E16-3216-4A3D-BBD5-3329B32AEC06}">
      <dsp:nvSpPr>
        <dsp:cNvPr id="0" name=""/>
        <dsp:cNvSpPr/>
      </dsp:nvSpPr>
      <dsp:spPr>
        <a:xfrm>
          <a:off x="0" y="4226307"/>
          <a:ext cx="11887200" cy="84446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B9F285-0FB9-4B47-9289-6A4A7B4EA568}">
      <dsp:nvSpPr>
        <dsp:cNvPr id="0" name=""/>
        <dsp:cNvSpPr/>
      </dsp:nvSpPr>
      <dsp:spPr>
        <a:xfrm>
          <a:off x="255451" y="4416313"/>
          <a:ext cx="464457" cy="46445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13D6F4-270D-4839-B793-48FD018124B0}">
      <dsp:nvSpPr>
        <dsp:cNvPr id="0" name=""/>
        <dsp:cNvSpPr/>
      </dsp:nvSpPr>
      <dsp:spPr>
        <a:xfrm>
          <a:off x="975361" y="4226307"/>
          <a:ext cx="10911838" cy="844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373" tIns="89373" rIns="89373" bIns="89373" numCol="1" spcCol="1270" anchor="ctr" anchorCtr="0">
          <a:noAutofit/>
        </a:bodyPr>
        <a:lstStyle/>
        <a:p>
          <a:pPr marL="0" lvl="0" indent="0" algn="l" defTabSz="844550">
            <a:lnSpc>
              <a:spcPct val="100000"/>
            </a:lnSpc>
            <a:spcBef>
              <a:spcPct val="0"/>
            </a:spcBef>
            <a:spcAft>
              <a:spcPct val="35000"/>
            </a:spcAft>
            <a:buNone/>
          </a:pPr>
          <a:r>
            <a:rPr lang="en-US" sz="1900" kern="1200"/>
            <a:t>Create a LWC component. </a:t>
          </a:r>
        </a:p>
      </dsp:txBody>
      <dsp:txXfrm>
        <a:off x="975361" y="4226307"/>
        <a:ext cx="10911838" cy="84446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8F5AA4-948D-4C37-A7C5-A235EFB1DB8A}" type="datetimeFigureOut">
              <a:rPr lang="en-US" smtClean="0"/>
              <a:t>10/14/2025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F126C8-04F6-4D32-A625-553BF008DA04}" type="slidenum">
              <a:rPr lang="en-US" smtClean="0"/>
              <a:t>‹#›</a:t>
            </a:fld>
            <a:endParaRPr lang="en-US"/>
          </a:p>
        </p:txBody>
      </p:sp>
    </p:spTree>
    <p:extLst>
      <p:ext uri="{BB962C8B-B14F-4D97-AF65-F5344CB8AC3E}">
        <p14:creationId xmlns:p14="http://schemas.microsoft.com/office/powerpoint/2010/main" val="757170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F126C8-04F6-4D32-A625-553BF008DA04}" type="slidenum">
              <a:rPr lang="en-US" smtClean="0"/>
              <a:t>40</a:t>
            </a:fld>
            <a:endParaRPr lang="en-US"/>
          </a:p>
        </p:txBody>
      </p:sp>
    </p:spTree>
    <p:extLst>
      <p:ext uri="{BB962C8B-B14F-4D97-AF65-F5344CB8AC3E}">
        <p14:creationId xmlns:p14="http://schemas.microsoft.com/office/powerpoint/2010/main" val="224290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svg"/><Relationship Id="rId7" Type="http://schemas.openxmlformats.org/officeDocument/2006/relationships/diagramColors" Target="../diagrams/colors1.xm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4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4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33412" y="1648977"/>
            <a:ext cx="2163313" cy="1709017"/>
          </a:xfrm>
          <a:custGeom>
            <a:avLst/>
            <a:gdLst/>
            <a:ahLst/>
            <a:cxnLst/>
            <a:rect l="l" t="t" r="r" b="b"/>
            <a:pathLst>
              <a:path w="2163313" h="1709017">
                <a:moveTo>
                  <a:pt x="0" y="0"/>
                </a:moveTo>
                <a:lnTo>
                  <a:pt x="2163312" y="0"/>
                </a:lnTo>
                <a:lnTo>
                  <a:pt x="2163312" y="1709017"/>
                </a:lnTo>
                <a:lnTo>
                  <a:pt x="0" y="17090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9773742" y="0"/>
            <a:ext cx="7043103" cy="8913440"/>
            <a:chOff x="0" y="0"/>
            <a:chExt cx="6021070" cy="7620000"/>
          </a:xfrm>
        </p:grpSpPr>
        <p:sp>
          <p:nvSpPr>
            <p:cNvPr id="4" name="Freeform 4"/>
            <p:cNvSpPr/>
            <p:nvPr/>
          </p:nvSpPr>
          <p:spPr>
            <a:xfrm>
              <a:off x="0" y="0"/>
              <a:ext cx="6022340" cy="7620000"/>
            </a:xfrm>
            <a:custGeom>
              <a:avLst/>
              <a:gdLst/>
              <a:ahLst/>
              <a:cxnLst/>
              <a:rect l="l" t="t" r="r" b="b"/>
              <a:pathLst>
                <a:path w="6022340" h="7620000">
                  <a:moveTo>
                    <a:pt x="3011170" y="0"/>
                  </a:moveTo>
                  <a:cubicBezTo>
                    <a:pt x="1348147" y="0"/>
                    <a:pt x="0" y="1705795"/>
                    <a:pt x="0" y="3810000"/>
                  </a:cubicBezTo>
                  <a:cubicBezTo>
                    <a:pt x="0" y="5914205"/>
                    <a:pt x="1348147" y="7620000"/>
                    <a:pt x="3011170" y="7620000"/>
                  </a:cubicBezTo>
                  <a:cubicBezTo>
                    <a:pt x="4674193" y="7620000"/>
                    <a:pt x="6022340" y="5914205"/>
                    <a:pt x="6022340" y="3810000"/>
                  </a:cubicBezTo>
                  <a:cubicBezTo>
                    <a:pt x="6022340" y="1705795"/>
                    <a:pt x="4674193" y="0"/>
                    <a:pt x="3011170" y="0"/>
                  </a:cubicBezTo>
                  <a:close/>
                </a:path>
              </a:pathLst>
            </a:custGeom>
            <a:blipFill>
              <a:blip r:embed="rId4"/>
              <a:stretch>
                <a:fillRect b="-5377"/>
              </a:stretch>
            </a:blipFill>
          </p:spPr>
          <p:txBody>
            <a:bodyPr/>
            <a:lstStyle/>
            <a:p>
              <a:endParaRPr lang="en-US"/>
            </a:p>
          </p:txBody>
        </p:sp>
      </p:grpSp>
      <p:sp>
        <p:nvSpPr>
          <p:cNvPr id="5" name="Freeform 5"/>
          <p:cNvSpPr/>
          <p:nvPr/>
        </p:nvSpPr>
        <p:spPr>
          <a:xfrm>
            <a:off x="10657829" y="8589251"/>
            <a:ext cx="5274930" cy="1068173"/>
          </a:xfrm>
          <a:custGeom>
            <a:avLst/>
            <a:gdLst/>
            <a:ahLst/>
            <a:cxnLst/>
            <a:rect l="l" t="t" r="r" b="b"/>
            <a:pathLst>
              <a:path w="5274930" h="1068173">
                <a:moveTo>
                  <a:pt x="0" y="0"/>
                </a:moveTo>
                <a:lnTo>
                  <a:pt x="5274930" y="0"/>
                </a:lnTo>
                <a:lnTo>
                  <a:pt x="5274930" y="1068174"/>
                </a:lnTo>
                <a:lnTo>
                  <a:pt x="0" y="10681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TextBox 6"/>
          <p:cNvSpPr txBox="1"/>
          <p:nvPr/>
        </p:nvSpPr>
        <p:spPr>
          <a:xfrm>
            <a:off x="1028700" y="3148208"/>
            <a:ext cx="9459898" cy="4541075"/>
          </a:xfrm>
          <a:prstGeom prst="rect">
            <a:avLst/>
          </a:prstGeom>
        </p:spPr>
        <p:txBody>
          <a:bodyPr lIns="0" tIns="0" rIns="0" bIns="0" rtlCol="0" anchor="t">
            <a:spAutoFit/>
          </a:bodyPr>
          <a:lstStyle/>
          <a:p>
            <a:pPr algn="l">
              <a:lnSpc>
                <a:spcPts val="9008"/>
              </a:lnSpc>
            </a:pPr>
            <a:r>
              <a:rPr lang="en-US" sz="6434">
                <a:solidFill>
                  <a:srgbClr val="FFFFFF"/>
                </a:solidFill>
                <a:latin typeface="HK Modular"/>
                <a:ea typeface="HK Modular"/>
                <a:cs typeface="HK Modular"/>
                <a:sym typeface="HK Modular"/>
              </a:rPr>
              <a:t>Salesforce Development in Cursor using MCP</a:t>
            </a:r>
          </a:p>
        </p:txBody>
      </p:sp>
      <p:sp>
        <p:nvSpPr>
          <p:cNvPr id="7" name="TextBox 7"/>
          <p:cNvSpPr txBox="1"/>
          <p:nvPr/>
        </p:nvSpPr>
        <p:spPr>
          <a:xfrm>
            <a:off x="1233412" y="7837188"/>
            <a:ext cx="4326625" cy="1286150"/>
          </a:xfrm>
          <a:prstGeom prst="rect">
            <a:avLst/>
          </a:prstGeom>
        </p:spPr>
        <p:txBody>
          <a:bodyPr lIns="0" tIns="0" rIns="0" bIns="0" rtlCol="0" anchor="t">
            <a:spAutoFit/>
          </a:bodyPr>
          <a:lstStyle/>
          <a:p>
            <a:pPr algn="l">
              <a:lnSpc>
                <a:spcPts val="5186"/>
              </a:lnSpc>
            </a:pPr>
            <a:r>
              <a:rPr lang="en-US" sz="3704" spc="351">
                <a:solidFill>
                  <a:srgbClr val="FFFFFF"/>
                </a:solidFill>
                <a:latin typeface="Tomorrow"/>
                <a:ea typeface="Tomorrow"/>
                <a:cs typeface="Tomorrow"/>
                <a:sym typeface="Tomorrow"/>
              </a:rPr>
              <a:t>From Zero to Hero</a:t>
            </a:r>
          </a:p>
        </p:txBody>
      </p:sp>
      <p:sp>
        <p:nvSpPr>
          <p:cNvPr id="8" name="TextBox 8"/>
          <p:cNvSpPr txBox="1"/>
          <p:nvPr/>
        </p:nvSpPr>
        <p:spPr>
          <a:xfrm>
            <a:off x="9592673" y="8729003"/>
            <a:ext cx="7405241" cy="712470"/>
          </a:xfrm>
          <a:prstGeom prst="rect">
            <a:avLst/>
          </a:prstGeom>
        </p:spPr>
        <p:txBody>
          <a:bodyPr lIns="0" tIns="0" rIns="0" bIns="0" rtlCol="0" anchor="t">
            <a:spAutoFit/>
          </a:bodyPr>
          <a:lstStyle/>
          <a:p>
            <a:pPr algn="ctr">
              <a:lnSpc>
                <a:spcPts val="5880"/>
              </a:lnSpc>
            </a:pPr>
            <a:r>
              <a:rPr lang="en-US" sz="4200">
                <a:solidFill>
                  <a:srgbClr val="FFFFFF"/>
                </a:solidFill>
                <a:latin typeface="Gagalin"/>
                <a:ea typeface="Gagalin"/>
                <a:cs typeface="Gagalin"/>
                <a:sym typeface="Gagalin"/>
              </a:rPr>
              <a:t>Mytutorialrack.com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747870" y="30861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28700" y="747917"/>
            <a:ext cx="12048827" cy="955728"/>
          </a:xfrm>
          <a:prstGeom prst="rect">
            <a:avLst/>
          </a:prstGeom>
        </p:spPr>
        <p:txBody>
          <a:bodyPr lIns="0" tIns="0" rIns="0" bIns="0" rtlCol="0" anchor="t">
            <a:spAutoFit/>
          </a:bodyPr>
          <a:lstStyle/>
          <a:p>
            <a:pPr algn="l">
              <a:lnSpc>
                <a:spcPts val="7599"/>
              </a:lnSpc>
            </a:pPr>
            <a:r>
              <a:rPr lang="en-US" sz="6229">
                <a:solidFill>
                  <a:srgbClr val="FFFFFF"/>
                </a:solidFill>
                <a:latin typeface="HK Modular"/>
                <a:ea typeface="HK Modular"/>
                <a:cs typeface="HK Modular"/>
                <a:sym typeface="HK Modular"/>
              </a:rPr>
              <a:t>What is Cursor?</a:t>
            </a:r>
          </a:p>
        </p:txBody>
      </p:sp>
      <p:sp>
        <p:nvSpPr>
          <p:cNvPr id="4" name="TextBox 4"/>
          <p:cNvSpPr txBox="1"/>
          <p:nvPr/>
        </p:nvSpPr>
        <p:spPr>
          <a:xfrm>
            <a:off x="1028700" y="2460603"/>
            <a:ext cx="16580197" cy="6665595"/>
          </a:xfrm>
          <a:prstGeom prst="rect">
            <a:avLst/>
          </a:prstGeom>
        </p:spPr>
        <p:txBody>
          <a:bodyPr lIns="0" tIns="0" rIns="0" bIns="0" rtlCol="0" anchor="t">
            <a:spAutoFit/>
          </a:bodyPr>
          <a:lstStyle/>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Cursor is like Visual Studio Code with AI superpowers.</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Think of VS Code, but instead of just editing text, it can:</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Understand your code in context</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Help you write, edit, debug, and refactor seamlessly</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Act like an expert developer pairing with you</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The interface still looks and feels like VS Code.</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You can import all your old extensions and settings without hassle.</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The key difference: an AI layer built directly into your coding flow.</a:t>
            </a:r>
          </a:p>
          <a:p>
            <a:pPr algn="l">
              <a:lnSpc>
                <a:spcPts val="5880"/>
              </a:lnSpc>
            </a:pPr>
            <a:endParaRPr lang="en-US" sz="4200" b="1">
              <a:solidFill>
                <a:srgbClr val="000000"/>
              </a:solidFill>
              <a:latin typeface="Lato Bold"/>
              <a:ea typeface="Lato Bold"/>
              <a:cs typeface="Lato Bold"/>
              <a:sym typeface="Lato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747870" y="30861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28700" y="738392"/>
            <a:ext cx="12000371" cy="1927276"/>
          </a:xfrm>
          <a:prstGeom prst="rect">
            <a:avLst/>
          </a:prstGeom>
        </p:spPr>
        <p:txBody>
          <a:bodyPr lIns="0" tIns="0" rIns="0" bIns="0" rtlCol="0" anchor="t">
            <a:spAutoFit/>
          </a:bodyPr>
          <a:lstStyle/>
          <a:p>
            <a:pPr algn="l">
              <a:lnSpc>
                <a:spcPts val="7600"/>
              </a:lnSpc>
            </a:pPr>
            <a:r>
              <a:rPr lang="en-US" sz="6230">
                <a:solidFill>
                  <a:srgbClr val="FFFFFF"/>
                </a:solidFill>
                <a:latin typeface="HK Modular"/>
                <a:ea typeface="HK Modular"/>
                <a:cs typeface="HK Modular"/>
                <a:sym typeface="HK Modular"/>
              </a:rPr>
              <a:t>Benefits of Cursor</a:t>
            </a:r>
          </a:p>
          <a:p>
            <a:pPr algn="l">
              <a:lnSpc>
                <a:spcPts val="7600"/>
              </a:lnSpc>
            </a:pPr>
            <a:endParaRPr lang="en-US" sz="6230">
              <a:solidFill>
                <a:srgbClr val="FFFFFF"/>
              </a:solidFill>
              <a:latin typeface="HK Modular"/>
              <a:ea typeface="HK Modular"/>
              <a:cs typeface="HK Modular"/>
              <a:sym typeface="HK Modular"/>
            </a:endParaRPr>
          </a:p>
        </p:txBody>
      </p:sp>
      <p:sp>
        <p:nvSpPr>
          <p:cNvPr id="4" name="TextBox 4"/>
          <p:cNvSpPr txBox="1"/>
          <p:nvPr/>
        </p:nvSpPr>
        <p:spPr>
          <a:xfrm>
            <a:off x="1028700" y="2572271"/>
            <a:ext cx="17259300" cy="6665595"/>
          </a:xfrm>
          <a:prstGeom prst="rect">
            <a:avLst/>
          </a:prstGeom>
        </p:spPr>
        <p:txBody>
          <a:bodyPr lIns="0" tIns="0" rIns="0" bIns="0" rtlCol="0" anchor="t">
            <a:spAutoFit/>
          </a:bodyPr>
          <a:lstStyle/>
          <a:p>
            <a:pPr algn="l">
              <a:lnSpc>
                <a:spcPts val="5880"/>
              </a:lnSpc>
            </a:pPr>
            <a:r>
              <a:rPr lang="en-US" sz="4200" b="1" u="sng">
                <a:solidFill>
                  <a:srgbClr val="FFFFFF"/>
                </a:solidFill>
                <a:latin typeface="Lato Bold"/>
                <a:ea typeface="Lato Bold"/>
                <a:cs typeface="Lato Bold"/>
                <a:sym typeface="Lato Bold"/>
              </a:rPr>
              <a:t>Write Code Faster</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As you type, Cursor predicts full lines or even whole blocks of code (like Gmail’s autocomplete, but for Apex, SOQL, LWC, JavaScript, etc.).</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You hit Tab and it finishes your thought.</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 Example: Start typing trigger AccountTrigger and Cursor will draft the whole trigger structure with before insert, before update methods, saving you setup time.</a:t>
            </a:r>
          </a:p>
          <a:p>
            <a:pPr algn="l">
              <a:lnSpc>
                <a:spcPts val="5880"/>
              </a:lnSpc>
            </a:pPr>
            <a:endParaRPr lang="en-US" sz="4200" b="1">
              <a:solidFill>
                <a:srgbClr val="000000"/>
              </a:solidFill>
              <a:latin typeface="Lato Bold"/>
              <a:ea typeface="Lato Bold"/>
              <a:cs typeface="Lato Bold"/>
              <a:sym typeface="Lato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747870" y="30861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28700" y="738392"/>
            <a:ext cx="12000371" cy="1927276"/>
          </a:xfrm>
          <a:prstGeom prst="rect">
            <a:avLst/>
          </a:prstGeom>
        </p:spPr>
        <p:txBody>
          <a:bodyPr lIns="0" tIns="0" rIns="0" bIns="0" rtlCol="0" anchor="t">
            <a:spAutoFit/>
          </a:bodyPr>
          <a:lstStyle/>
          <a:p>
            <a:pPr algn="l">
              <a:lnSpc>
                <a:spcPts val="7600"/>
              </a:lnSpc>
            </a:pPr>
            <a:r>
              <a:rPr lang="en-US" sz="6230">
                <a:solidFill>
                  <a:srgbClr val="FFFFFF"/>
                </a:solidFill>
                <a:latin typeface="HK Modular"/>
                <a:ea typeface="HK Modular"/>
                <a:cs typeface="HK Modular"/>
                <a:sym typeface="HK Modular"/>
              </a:rPr>
              <a:t>Benefits of Cursor</a:t>
            </a:r>
          </a:p>
          <a:p>
            <a:pPr algn="l">
              <a:lnSpc>
                <a:spcPts val="7600"/>
              </a:lnSpc>
            </a:pPr>
            <a:endParaRPr lang="en-US" sz="6230">
              <a:solidFill>
                <a:srgbClr val="FFFFFF"/>
              </a:solidFill>
              <a:latin typeface="HK Modular"/>
              <a:ea typeface="HK Modular"/>
              <a:cs typeface="HK Modular"/>
              <a:sym typeface="HK Modular"/>
            </a:endParaRPr>
          </a:p>
        </p:txBody>
      </p:sp>
      <p:sp>
        <p:nvSpPr>
          <p:cNvPr id="4" name="TextBox 4"/>
          <p:cNvSpPr txBox="1"/>
          <p:nvPr/>
        </p:nvSpPr>
        <p:spPr>
          <a:xfrm>
            <a:off x="903248" y="2418786"/>
            <a:ext cx="16230600" cy="6665595"/>
          </a:xfrm>
          <a:prstGeom prst="rect">
            <a:avLst/>
          </a:prstGeom>
        </p:spPr>
        <p:txBody>
          <a:bodyPr lIns="0" tIns="0" rIns="0" bIns="0" rtlCol="0" anchor="t">
            <a:spAutoFit/>
          </a:bodyPr>
          <a:lstStyle/>
          <a:p>
            <a:pPr algn="l">
              <a:lnSpc>
                <a:spcPts val="5880"/>
              </a:lnSpc>
            </a:pPr>
            <a:r>
              <a:rPr lang="en-US" sz="4200" b="1" u="sng">
                <a:solidFill>
                  <a:srgbClr val="FFFFFF"/>
                </a:solidFill>
                <a:latin typeface="Lato Bold"/>
                <a:ea typeface="Lato Bold"/>
                <a:cs typeface="Lato Bold"/>
                <a:sym typeface="Lato Bold"/>
              </a:rPr>
              <a:t>Fix &amp; Refactor Instantly</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Highlight some code → hit Inline Edit (Ctrl+K) → type what you want changed (“make this trigger bulk-safe”). Cursor rewrites it for you.</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It doesn’t just suggest—it edits your file right there.</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 Example: You paste messy SOQL inside a loop. Cursor can refactor it into a clean, bulkified handler class.</a:t>
            </a:r>
          </a:p>
          <a:p>
            <a:pPr algn="l">
              <a:lnSpc>
                <a:spcPts val="5880"/>
              </a:lnSpc>
            </a:pPr>
            <a:endParaRPr lang="en-US" sz="4200" b="1">
              <a:solidFill>
                <a:srgbClr val="000000"/>
              </a:solidFill>
              <a:latin typeface="Lato Bold"/>
              <a:ea typeface="Lato Bold"/>
              <a:cs typeface="Lato Bold"/>
              <a:sym typeface="Lato Bold"/>
            </a:endParaRPr>
          </a:p>
          <a:p>
            <a:pPr algn="l">
              <a:lnSpc>
                <a:spcPts val="5880"/>
              </a:lnSpc>
            </a:pPr>
            <a:endParaRPr lang="en-US" sz="4200" b="1">
              <a:solidFill>
                <a:srgbClr val="000000"/>
              </a:solidFill>
              <a:latin typeface="Lato Bold"/>
              <a:ea typeface="Lato Bold"/>
              <a:cs typeface="Lato Bold"/>
              <a:sym typeface="Lato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747870" y="30861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28700" y="738392"/>
            <a:ext cx="12000371" cy="1927276"/>
          </a:xfrm>
          <a:prstGeom prst="rect">
            <a:avLst/>
          </a:prstGeom>
        </p:spPr>
        <p:txBody>
          <a:bodyPr lIns="0" tIns="0" rIns="0" bIns="0" rtlCol="0" anchor="t">
            <a:spAutoFit/>
          </a:bodyPr>
          <a:lstStyle/>
          <a:p>
            <a:pPr algn="l">
              <a:lnSpc>
                <a:spcPts val="7600"/>
              </a:lnSpc>
            </a:pPr>
            <a:r>
              <a:rPr lang="en-US" sz="6230">
                <a:solidFill>
                  <a:srgbClr val="FFFFFF"/>
                </a:solidFill>
                <a:latin typeface="HK Modular"/>
                <a:ea typeface="HK Modular"/>
                <a:cs typeface="HK Modular"/>
                <a:sym typeface="HK Modular"/>
              </a:rPr>
              <a:t>Benefits of Cursor</a:t>
            </a:r>
          </a:p>
          <a:p>
            <a:pPr algn="l">
              <a:lnSpc>
                <a:spcPts val="7600"/>
              </a:lnSpc>
            </a:pPr>
            <a:endParaRPr lang="en-US" sz="6230">
              <a:solidFill>
                <a:srgbClr val="FFFFFF"/>
              </a:solidFill>
              <a:latin typeface="HK Modular"/>
              <a:ea typeface="HK Modular"/>
              <a:cs typeface="HK Modular"/>
              <a:sym typeface="HK Modular"/>
            </a:endParaRPr>
          </a:p>
        </p:txBody>
      </p:sp>
      <p:sp>
        <p:nvSpPr>
          <p:cNvPr id="4" name="TextBox 4"/>
          <p:cNvSpPr txBox="1"/>
          <p:nvPr/>
        </p:nvSpPr>
        <p:spPr>
          <a:xfrm>
            <a:off x="903248" y="2418786"/>
            <a:ext cx="15660560" cy="7324693"/>
          </a:xfrm>
          <a:prstGeom prst="rect">
            <a:avLst/>
          </a:prstGeom>
        </p:spPr>
        <p:txBody>
          <a:bodyPr lIns="0" tIns="0" rIns="0" bIns="0" rtlCol="0" anchor="t">
            <a:spAutoFit/>
          </a:bodyPr>
          <a:lstStyle/>
          <a:p>
            <a:pPr algn="l">
              <a:lnSpc>
                <a:spcPts val="5880"/>
              </a:lnSpc>
            </a:pPr>
            <a:r>
              <a:rPr lang="en-US" sz="4200" b="1" u="sng">
                <a:solidFill>
                  <a:srgbClr val="FFFFFF"/>
                </a:solidFill>
                <a:latin typeface="Lato Bold"/>
                <a:ea typeface="Lato Bold"/>
                <a:cs typeface="Lato Bold"/>
                <a:sym typeface="Lato Bold"/>
              </a:rPr>
              <a:t>Agent for Bigger Tasks</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Press Ctrl+I (Agent Mode) and describe what you want across the whole project:</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“Add a new LWC that lets me search Contacts by Email and display them in a table with edit buttons.”</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Cursor plans, creates files, updates tests, and even suggests terminal commands for you to approve.</a:t>
            </a:r>
          </a:p>
          <a:p>
            <a:pPr algn="l">
              <a:lnSpc>
                <a:spcPts val="5673"/>
              </a:lnSpc>
            </a:pPr>
            <a:endParaRPr lang="en-US" sz="4200" b="1">
              <a:solidFill>
                <a:srgbClr val="000000"/>
              </a:solidFill>
              <a:latin typeface="Lato Bold"/>
              <a:ea typeface="Lato Bold"/>
              <a:cs typeface="Lato Bold"/>
              <a:sym typeface="Lato Bold"/>
            </a:endParaRPr>
          </a:p>
          <a:p>
            <a:pPr algn="l">
              <a:lnSpc>
                <a:spcPts val="5673"/>
              </a:lnSpc>
            </a:pPr>
            <a:endParaRPr lang="en-US" sz="4200" b="1">
              <a:solidFill>
                <a:srgbClr val="000000"/>
              </a:solidFill>
              <a:latin typeface="Lato Bold"/>
              <a:ea typeface="Lato Bold"/>
              <a:cs typeface="Lato Bold"/>
              <a:sym typeface="Lato Bold"/>
            </a:endParaRPr>
          </a:p>
          <a:p>
            <a:pPr algn="l">
              <a:lnSpc>
                <a:spcPts val="5673"/>
              </a:lnSpc>
            </a:pPr>
            <a:endParaRPr lang="en-US" sz="4200" b="1">
              <a:solidFill>
                <a:srgbClr val="000000"/>
              </a:solidFill>
              <a:latin typeface="Lato Bold"/>
              <a:ea typeface="Lato Bold"/>
              <a:cs typeface="Lato Bold"/>
              <a:sym typeface="Lato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747870" y="30861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28700" y="738392"/>
            <a:ext cx="12000371" cy="1927276"/>
          </a:xfrm>
          <a:prstGeom prst="rect">
            <a:avLst/>
          </a:prstGeom>
        </p:spPr>
        <p:txBody>
          <a:bodyPr lIns="0" tIns="0" rIns="0" bIns="0" rtlCol="0" anchor="t">
            <a:spAutoFit/>
          </a:bodyPr>
          <a:lstStyle/>
          <a:p>
            <a:pPr algn="l">
              <a:lnSpc>
                <a:spcPts val="7600"/>
              </a:lnSpc>
            </a:pPr>
            <a:r>
              <a:rPr lang="en-US" sz="6230">
                <a:solidFill>
                  <a:srgbClr val="FFFFFF"/>
                </a:solidFill>
                <a:latin typeface="HK Modular"/>
                <a:ea typeface="HK Modular"/>
                <a:cs typeface="HK Modular"/>
                <a:sym typeface="HK Modular"/>
              </a:rPr>
              <a:t>Benefits of Cursor</a:t>
            </a:r>
          </a:p>
          <a:p>
            <a:pPr algn="l">
              <a:lnSpc>
                <a:spcPts val="7600"/>
              </a:lnSpc>
            </a:pPr>
            <a:endParaRPr lang="en-US" sz="6230">
              <a:solidFill>
                <a:srgbClr val="FFFFFF"/>
              </a:solidFill>
              <a:latin typeface="HK Modular"/>
              <a:ea typeface="HK Modular"/>
              <a:cs typeface="HK Modular"/>
              <a:sym typeface="HK Modular"/>
            </a:endParaRPr>
          </a:p>
        </p:txBody>
      </p:sp>
      <p:sp>
        <p:nvSpPr>
          <p:cNvPr id="4" name="TextBox 4"/>
          <p:cNvSpPr txBox="1"/>
          <p:nvPr/>
        </p:nvSpPr>
        <p:spPr>
          <a:xfrm>
            <a:off x="903248" y="2418786"/>
            <a:ext cx="15660560" cy="7408545"/>
          </a:xfrm>
          <a:prstGeom prst="rect">
            <a:avLst/>
          </a:prstGeom>
        </p:spPr>
        <p:txBody>
          <a:bodyPr lIns="0" tIns="0" rIns="0" bIns="0" rtlCol="0" anchor="t">
            <a:spAutoFit/>
          </a:bodyPr>
          <a:lstStyle/>
          <a:p>
            <a:pPr algn="l">
              <a:lnSpc>
                <a:spcPts val="5880"/>
              </a:lnSpc>
            </a:pPr>
            <a:r>
              <a:rPr lang="en-US" sz="4200" b="1" u="sng">
                <a:solidFill>
                  <a:srgbClr val="FFFFFF"/>
                </a:solidFill>
                <a:latin typeface="Lato Bold"/>
                <a:ea typeface="Lato Bold"/>
                <a:cs typeface="Lato Bold"/>
                <a:sym typeface="Lato Bold"/>
              </a:rPr>
              <a:t>Learn While You Code</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You can literally ask Cursor:</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“Explain what this Apex trigger is doing.”</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“Show me why this validation rule is failing.”</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Great for Salesforce Admins who are not deep developers but want to understand and learn.</a:t>
            </a:r>
          </a:p>
          <a:p>
            <a:pPr algn="l">
              <a:lnSpc>
                <a:spcPts val="5880"/>
              </a:lnSpc>
            </a:pPr>
            <a:endParaRPr lang="en-US" sz="4200" b="1">
              <a:solidFill>
                <a:srgbClr val="000000"/>
              </a:solidFill>
              <a:latin typeface="Lato Bold"/>
              <a:ea typeface="Lato Bold"/>
              <a:cs typeface="Lato Bold"/>
              <a:sym typeface="Lato Bold"/>
            </a:endParaRPr>
          </a:p>
          <a:p>
            <a:pPr algn="l">
              <a:lnSpc>
                <a:spcPts val="5880"/>
              </a:lnSpc>
            </a:pPr>
            <a:endParaRPr lang="en-US" sz="4200" b="1">
              <a:solidFill>
                <a:srgbClr val="000000"/>
              </a:solidFill>
              <a:latin typeface="Lato Bold"/>
              <a:ea typeface="Lato Bold"/>
              <a:cs typeface="Lato Bold"/>
              <a:sym typeface="Lato Bold"/>
            </a:endParaRPr>
          </a:p>
          <a:p>
            <a:pPr algn="l">
              <a:lnSpc>
                <a:spcPts val="5880"/>
              </a:lnSpc>
            </a:pPr>
            <a:endParaRPr lang="en-US" sz="4200" b="1">
              <a:solidFill>
                <a:srgbClr val="000000"/>
              </a:solidFill>
              <a:latin typeface="Lato Bold"/>
              <a:ea typeface="Lato Bold"/>
              <a:cs typeface="Lato Bold"/>
              <a:sym typeface="Lato Bold"/>
            </a:endParaRPr>
          </a:p>
          <a:p>
            <a:pPr algn="l">
              <a:lnSpc>
                <a:spcPts val="5880"/>
              </a:lnSpc>
            </a:pPr>
            <a:endParaRPr lang="en-US" sz="4200" b="1">
              <a:solidFill>
                <a:srgbClr val="000000"/>
              </a:solidFill>
              <a:latin typeface="Lato Bold"/>
              <a:ea typeface="Lato Bold"/>
              <a:cs typeface="Lato Bold"/>
              <a:sym typeface="Lato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747870" y="30861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28700" y="738392"/>
            <a:ext cx="12000371" cy="1927276"/>
          </a:xfrm>
          <a:prstGeom prst="rect">
            <a:avLst/>
          </a:prstGeom>
        </p:spPr>
        <p:txBody>
          <a:bodyPr lIns="0" tIns="0" rIns="0" bIns="0" rtlCol="0" anchor="t">
            <a:spAutoFit/>
          </a:bodyPr>
          <a:lstStyle/>
          <a:p>
            <a:pPr algn="l">
              <a:lnSpc>
                <a:spcPts val="7600"/>
              </a:lnSpc>
            </a:pPr>
            <a:r>
              <a:rPr lang="en-US" sz="6230">
                <a:solidFill>
                  <a:srgbClr val="FFFFFF"/>
                </a:solidFill>
                <a:latin typeface="HK Modular"/>
                <a:ea typeface="HK Modular"/>
                <a:cs typeface="HK Modular"/>
                <a:sym typeface="HK Modular"/>
              </a:rPr>
              <a:t>Benefits of Cursor</a:t>
            </a:r>
          </a:p>
          <a:p>
            <a:pPr algn="l">
              <a:lnSpc>
                <a:spcPts val="7600"/>
              </a:lnSpc>
            </a:pPr>
            <a:endParaRPr lang="en-US" sz="6230">
              <a:solidFill>
                <a:srgbClr val="FFFFFF"/>
              </a:solidFill>
              <a:latin typeface="HK Modular"/>
              <a:ea typeface="HK Modular"/>
              <a:cs typeface="HK Modular"/>
              <a:sym typeface="HK Modular"/>
            </a:endParaRPr>
          </a:p>
        </p:txBody>
      </p:sp>
      <p:sp>
        <p:nvSpPr>
          <p:cNvPr id="4" name="TextBox 4"/>
          <p:cNvSpPr txBox="1"/>
          <p:nvPr/>
        </p:nvSpPr>
        <p:spPr>
          <a:xfrm>
            <a:off x="903248" y="2418786"/>
            <a:ext cx="15660560" cy="8010493"/>
          </a:xfrm>
          <a:prstGeom prst="rect">
            <a:avLst/>
          </a:prstGeom>
        </p:spPr>
        <p:txBody>
          <a:bodyPr lIns="0" tIns="0" rIns="0" bIns="0" rtlCol="0" anchor="t">
            <a:spAutoFit/>
          </a:bodyPr>
          <a:lstStyle/>
          <a:p>
            <a:pPr algn="l">
              <a:lnSpc>
                <a:spcPts val="5880"/>
              </a:lnSpc>
            </a:pPr>
            <a:r>
              <a:rPr lang="en-US" sz="4200" b="1" u="sng">
                <a:solidFill>
                  <a:srgbClr val="FFFFFF"/>
                </a:solidFill>
                <a:latin typeface="Lato Bold"/>
                <a:ea typeface="Lato Bold"/>
                <a:cs typeface="Lato Bold"/>
                <a:sym typeface="Lato Bold"/>
              </a:rPr>
              <a:t>Integrates with Salesforce DX (and MCP)</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Cursor works with Salesforce CLI and MCP (Model Context Protocol), so you can run org commands right from chat.</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Example prompts:</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“Deploy everything in this project to my sandbox.”</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“Run Apex tests and show me coverage %.”</a:t>
            </a:r>
          </a:p>
          <a:p>
            <a:pPr algn="l">
              <a:lnSpc>
                <a:spcPts val="5673"/>
              </a:lnSpc>
            </a:pPr>
            <a:endParaRPr lang="en-US" sz="4200" b="1">
              <a:solidFill>
                <a:srgbClr val="000000"/>
              </a:solidFill>
              <a:latin typeface="Lato Bold"/>
              <a:ea typeface="Lato Bold"/>
              <a:cs typeface="Lato Bold"/>
              <a:sym typeface="Lato Bold"/>
            </a:endParaRPr>
          </a:p>
          <a:p>
            <a:pPr algn="l">
              <a:lnSpc>
                <a:spcPts val="5673"/>
              </a:lnSpc>
            </a:pPr>
            <a:endParaRPr lang="en-US" sz="4200" b="1">
              <a:solidFill>
                <a:srgbClr val="000000"/>
              </a:solidFill>
              <a:latin typeface="Lato Bold"/>
              <a:ea typeface="Lato Bold"/>
              <a:cs typeface="Lato Bold"/>
              <a:sym typeface="Lato Bold"/>
            </a:endParaRPr>
          </a:p>
          <a:p>
            <a:pPr algn="l">
              <a:lnSpc>
                <a:spcPts val="5673"/>
              </a:lnSpc>
            </a:pPr>
            <a:endParaRPr lang="en-US" sz="4200" b="1">
              <a:solidFill>
                <a:srgbClr val="000000"/>
              </a:solidFill>
              <a:latin typeface="Lato Bold"/>
              <a:ea typeface="Lato Bold"/>
              <a:cs typeface="Lato Bold"/>
              <a:sym typeface="Lato Bold"/>
            </a:endParaRPr>
          </a:p>
          <a:p>
            <a:pPr algn="l">
              <a:lnSpc>
                <a:spcPts val="5673"/>
              </a:lnSpc>
            </a:pPr>
            <a:endParaRPr lang="en-US" sz="4200" b="1">
              <a:solidFill>
                <a:srgbClr val="000000"/>
              </a:solidFill>
              <a:latin typeface="Lato Bold"/>
              <a:ea typeface="Lato Bold"/>
              <a:cs typeface="Lato Bold"/>
              <a:sym typeface="Lato Bold"/>
            </a:endParaRPr>
          </a:p>
          <a:p>
            <a:pPr algn="l">
              <a:lnSpc>
                <a:spcPts val="5673"/>
              </a:lnSpc>
            </a:pPr>
            <a:endParaRPr lang="en-US" sz="4200" b="1">
              <a:solidFill>
                <a:srgbClr val="000000"/>
              </a:solidFill>
              <a:latin typeface="Lato Bold"/>
              <a:ea typeface="Lato Bold"/>
              <a:cs typeface="Lato Bold"/>
              <a:sym typeface="Lato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747870" y="30861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28700" y="738392"/>
            <a:ext cx="12000371" cy="1927276"/>
          </a:xfrm>
          <a:prstGeom prst="rect">
            <a:avLst/>
          </a:prstGeom>
        </p:spPr>
        <p:txBody>
          <a:bodyPr lIns="0" tIns="0" rIns="0" bIns="0" rtlCol="0" anchor="t">
            <a:spAutoFit/>
          </a:bodyPr>
          <a:lstStyle/>
          <a:p>
            <a:pPr algn="l">
              <a:lnSpc>
                <a:spcPts val="7600"/>
              </a:lnSpc>
            </a:pPr>
            <a:r>
              <a:rPr lang="en-US" sz="6230">
                <a:solidFill>
                  <a:srgbClr val="FFFFFF"/>
                </a:solidFill>
                <a:latin typeface="HK Modular"/>
                <a:ea typeface="HK Modular"/>
                <a:cs typeface="HK Modular"/>
                <a:sym typeface="HK Modular"/>
              </a:rPr>
              <a:t>Benefits of Cursor</a:t>
            </a:r>
          </a:p>
          <a:p>
            <a:pPr algn="l">
              <a:lnSpc>
                <a:spcPts val="7600"/>
              </a:lnSpc>
            </a:pPr>
            <a:endParaRPr lang="en-US" sz="6230">
              <a:solidFill>
                <a:srgbClr val="FFFFFF"/>
              </a:solidFill>
              <a:latin typeface="HK Modular"/>
              <a:ea typeface="HK Modular"/>
              <a:cs typeface="HK Modular"/>
              <a:sym typeface="HK Modular"/>
            </a:endParaRPr>
          </a:p>
        </p:txBody>
      </p:sp>
      <p:sp>
        <p:nvSpPr>
          <p:cNvPr id="4" name="TextBox 4"/>
          <p:cNvSpPr txBox="1"/>
          <p:nvPr/>
        </p:nvSpPr>
        <p:spPr>
          <a:xfrm>
            <a:off x="1257652" y="2579943"/>
            <a:ext cx="15678581" cy="9637395"/>
          </a:xfrm>
          <a:prstGeom prst="rect">
            <a:avLst/>
          </a:prstGeom>
        </p:spPr>
        <p:txBody>
          <a:bodyPr lIns="0" tIns="0" rIns="0" bIns="0" rtlCol="0" anchor="t">
            <a:spAutoFit/>
          </a:bodyPr>
          <a:lstStyle/>
          <a:p>
            <a:pPr algn="l">
              <a:lnSpc>
                <a:spcPts val="5880"/>
              </a:lnSpc>
            </a:pPr>
            <a:r>
              <a:rPr lang="en-US" sz="4200" b="1" u="sng">
                <a:solidFill>
                  <a:srgbClr val="FFFFFF"/>
                </a:solidFill>
                <a:latin typeface="Lato Bold"/>
                <a:ea typeface="Lato Bold"/>
                <a:cs typeface="Lato Bold"/>
                <a:sym typeface="Lato Bold"/>
              </a:rPr>
              <a:t>Never Start From Scratch</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Need a new formula field? Cursor writes the formula and explains it.</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Need a Flow, an Apex invocable, or a Jest test for your LWC? Cursor scaffolds it.</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It’s like having a coding coach that gives you both the “answer” and the “why.”</a:t>
            </a:r>
          </a:p>
          <a:p>
            <a:pPr algn="l">
              <a:lnSpc>
                <a:spcPts val="5880"/>
              </a:lnSpc>
            </a:pPr>
            <a:endParaRPr lang="en-US" sz="4200" b="1">
              <a:solidFill>
                <a:srgbClr val="000000"/>
              </a:solidFill>
              <a:latin typeface="Lato Bold"/>
              <a:ea typeface="Lato Bold"/>
              <a:cs typeface="Lato Bold"/>
              <a:sym typeface="Lato Bold"/>
            </a:endParaRPr>
          </a:p>
          <a:p>
            <a:pPr algn="l">
              <a:lnSpc>
                <a:spcPts val="5880"/>
              </a:lnSpc>
            </a:pPr>
            <a:endParaRPr lang="en-US" sz="4200" b="1">
              <a:solidFill>
                <a:srgbClr val="000000"/>
              </a:solidFill>
              <a:latin typeface="Lato Bold"/>
              <a:ea typeface="Lato Bold"/>
              <a:cs typeface="Lato Bold"/>
              <a:sym typeface="Lato Bold"/>
            </a:endParaRPr>
          </a:p>
          <a:p>
            <a:pPr algn="l">
              <a:lnSpc>
                <a:spcPts val="5880"/>
              </a:lnSpc>
            </a:pPr>
            <a:endParaRPr lang="en-US" sz="4200" b="1">
              <a:solidFill>
                <a:srgbClr val="000000"/>
              </a:solidFill>
              <a:latin typeface="Lato Bold"/>
              <a:ea typeface="Lato Bold"/>
              <a:cs typeface="Lato Bold"/>
              <a:sym typeface="Lato Bold"/>
            </a:endParaRPr>
          </a:p>
          <a:p>
            <a:pPr algn="l">
              <a:lnSpc>
                <a:spcPts val="5880"/>
              </a:lnSpc>
            </a:pPr>
            <a:endParaRPr lang="en-US" sz="4200" b="1">
              <a:solidFill>
                <a:srgbClr val="000000"/>
              </a:solidFill>
              <a:latin typeface="Lato Bold"/>
              <a:ea typeface="Lato Bold"/>
              <a:cs typeface="Lato Bold"/>
              <a:sym typeface="Lato Bold"/>
            </a:endParaRPr>
          </a:p>
          <a:p>
            <a:pPr algn="l">
              <a:lnSpc>
                <a:spcPts val="5880"/>
              </a:lnSpc>
            </a:pPr>
            <a:endParaRPr lang="en-US" sz="4200" b="1">
              <a:solidFill>
                <a:srgbClr val="000000"/>
              </a:solidFill>
              <a:latin typeface="Lato Bold"/>
              <a:ea typeface="Lato Bold"/>
              <a:cs typeface="Lato Bold"/>
              <a:sym typeface="Lato Bold"/>
            </a:endParaRPr>
          </a:p>
          <a:p>
            <a:pPr algn="l">
              <a:lnSpc>
                <a:spcPts val="5880"/>
              </a:lnSpc>
            </a:pPr>
            <a:endParaRPr lang="en-US" sz="4200" b="1">
              <a:solidFill>
                <a:srgbClr val="000000"/>
              </a:solidFill>
              <a:latin typeface="Lato Bold"/>
              <a:ea typeface="Lato Bold"/>
              <a:cs typeface="Lato Bold"/>
              <a:sym typeface="Lato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477790" y="4150850"/>
            <a:ext cx="1133761" cy="11337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solidFill>
              <a:prstDash val="solid"/>
              <a:miter/>
            </a:ln>
          </p:spPr>
          <p:txBody>
            <a:bodyPr/>
            <a:lstStyle/>
            <a:p>
              <a:endParaRPr lang="en-US"/>
            </a:p>
          </p:txBody>
        </p:sp>
        <p:sp>
          <p:nvSpPr>
            <p:cNvPr id="4" name="TextBox 4"/>
            <p:cNvSpPr txBox="1"/>
            <p:nvPr/>
          </p:nvSpPr>
          <p:spPr>
            <a:xfrm>
              <a:off x="76200" y="-142875"/>
              <a:ext cx="660400" cy="879475"/>
            </a:xfrm>
            <a:prstGeom prst="rect">
              <a:avLst/>
            </a:prstGeom>
          </p:spPr>
          <p:txBody>
            <a:bodyPr lIns="50800" tIns="50800" rIns="50800" bIns="50800" rtlCol="0" anchor="ctr"/>
            <a:lstStyle/>
            <a:p>
              <a:pPr algn="ctr">
                <a:lnSpc>
                  <a:spcPts val="4346"/>
                </a:lnSpc>
              </a:pPr>
              <a:endParaRPr/>
            </a:p>
          </p:txBody>
        </p:sp>
      </p:grpSp>
      <p:grpSp>
        <p:nvGrpSpPr>
          <p:cNvPr id="5" name="Group 5"/>
          <p:cNvGrpSpPr/>
          <p:nvPr/>
        </p:nvGrpSpPr>
        <p:grpSpPr>
          <a:xfrm>
            <a:off x="6921983" y="7300636"/>
            <a:ext cx="966495" cy="96649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solidFill>
              <a:prstDash val="solid"/>
              <a:miter/>
            </a:ln>
          </p:spPr>
          <p:txBody>
            <a:bodyPr/>
            <a:lstStyle/>
            <a:p>
              <a:endParaRPr lang="en-US"/>
            </a:p>
          </p:txBody>
        </p:sp>
        <p:sp>
          <p:nvSpPr>
            <p:cNvPr id="7" name="TextBox 7"/>
            <p:cNvSpPr txBox="1"/>
            <p:nvPr/>
          </p:nvSpPr>
          <p:spPr>
            <a:xfrm>
              <a:off x="76200" y="-142875"/>
              <a:ext cx="660400" cy="879475"/>
            </a:xfrm>
            <a:prstGeom prst="rect">
              <a:avLst/>
            </a:prstGeom>
          </p:spPr>
          <p:txBody>
            <a:bodyPr lIns="50800" tIns="50800" rIns="50800" bIns="50800" rtlCol="0" anchor="ctr"/>
            <a:lstStyle/>
            <a:p>
              <a:pPr algn="ctr">
                <a:lnSpc>
                  <a:spcPts val="4346"/>
                </a:lnSpc>
              </a:pPr>
              <a:endParaRPr/>
            </a:p>
          </p:txBody>
        </p:sp>
      </p:grpSp>
      <p:grpSp>
        <p:nvGrpSpPr>
          <p:cNvPr id="8" name="Group 8"/>
          <p:cNvGrpSpPr/>
          <p:nvPr/>
        </p:nvGrpSpPr>
        <p:grpSpPr>
          <a:xfrm>
            <a:off x="10604446" y="4345386"/>
            <a:ext cx="966495" cy="96649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FFFFFF"/>
              </a:solidFill>
              <a:prstDash val="solid"/>
              <a:miter/>
            </a:ln>
          </p:spPr>
          <p:txBody>
            <a:bodyPr/>
            <a:lstStyle/>
            <a:p>
              <a:endParaRPr lang="en-US"/>
            </a:p>
          </p:txBody>
        </p:sp>
        <p:sp>
          <p:nvSpPr>
            <p:cNvPr id="10" name="TextBox 10"/>
            <p:cNvSpPr txBox="1"/>
            <p:nvPr/>
          </p:nvSpPr>
          <p:spPr>
            <a:xfrm>
              <a:off x="76200" y="-142875"/>
              <a:ext cx="660400" cy="879475"/>
            </a:xfrm>
            <a:prstGeom prst="rect">
              <a:avLst/>
            </a:prstGeom>
          </p:spPr>
          <p:txBody>
            <a:bodyPr lIns="50800" tIns="50800" rIns="50800" bIns="50800" rtlCol="0" anchor="ctr"/>
            <a:lstStyle/>
            <a:p>
              <a:pPr algn="ctr">
                <a:lnSpc>
                  <a:spcPts val="4346"/>
                </a:lnSpc>
              </a:pPr>
              <a:endParaRPr/>
            </a:p>
          </p:txBody>
        </p:sp>
      </p:grpSp>
      <p:sp>
        <p:nvSpPr>
          <p:cNvPr id="11" name="Freeform 11"/>
          <p:cNvSpPr/>
          <p:nvPr/>
        </p:nvSpPr>
        <p:spPr>
          <a:xfrm rot="-8790015">
            <a:off x="13183187" y="1502103"/>
            <a:ext cx="4850718" cy="3832067"/>
          </a:xfrm>
          <a:custGeom>
            <a:avLst/>
            <a:gdLst/>
            <a:ahLst/>
            <a:cxnLst/>
            <a:rect l="l" t="t" r="r" b="b"/>
            <a:pathLst>
              <a:path w="4850718" h="3832067">
                <a:moveTo>
                  <a:pt x="0" y="0"/>
                </a:moveTo>
                <a:lnTo>
                  <a:pt x="4850718" y="0"/>
                </a:lnTo>
                <a:lnTo>
                  <a:pt x="4850718" y="3832067"/>
                </a:lnTo>
                <a:lnTo>
                  <a:pt x="0" y="38320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rot="-9030832">
            <a:off x="-659981" y="7991322"/>
            <a:ext cx="2923794" cy="2533955"/>
          </a:xfrm>
          <a:custGeom>
            <a:avLst/>
            <a:gdLst/>
            <a:ahLst/>
            <a:cxnLst/>
            <a:rect l="l" t="t" r="r" b="b"/>
            <a:pathLst>
              <a:path w="2923794" h="2533955">
                <a:moveTo>
                  <a:pt x="0" y="0"/>
                </a:moveTo>
                <a:lnTo>
                  <a:pt x="2923794" y="0"/>
                </a:lnTo>
                <a:lnTo>
                  <a:pt x="2923794" y="2533956"/>
                </a:lnTo>
                <a:lnTo>
                  <a:pt x="0" y="2533956"/>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13" name="TextBox 13"/>
          <p:cNvSpPr txBox="1"/>
          <p:nvPr/>
        </p:nvSpPr>
        <p:spPr>
          <a:xfrm>
            <a:off x="1618146" y="626143"/>
            <a:ext cx="10888386" cy="3219907"/>
          </a:xfrm>
          <a:prstGeom prst="rect">
            <a:avLst/>
          </a:prstGeom>
        </p:spPr>
        <p:txBody>
          <a:bodyPr lIns="0" tIns="0" rIns="0" bIns="0" rtlCol="0" anchor="t">
            <a:spAutoFit/>
          </a:bodyPr>
          <a:lstStyle/>
          <a:p>
            <a:pPr algn="l">
              <a:lnSpc>
                <a:spcPts val="8597"/>
              </a:lnSpc>
            </a:pPr>
            <a:r>
              <a:rPr lang="en-US" sz="6230" spc="348">
                <a:solidFill>
                  <a:srgbClr val="FFFFFF"/>
                </a:solidFill>
                <a:latin typeface="HK Modular"/>
                <a:ea typeface="HK Modular"/>
                <a:cs typeface="HK Modular"/>
                <a:sym typeface="HK Modular"/>
              </a:rPr>
              <a:t>How Cursor Helps Day-to-Day</a:t>
            </a:r>
          </a:p>
          <a:p>
            <a:pPr algn="l">
              <a:lnSpc>
                <a:spcPts val="8597"/>
              </a:lnSpc>
            </a:pPr>
            <a:endParaRPr lang="en-US" sz="6230" spc="348">
              <a:solidFill>
                <a:srgbClr val="FFFFFF"/>
              </a:solidFill>
              <a:latin typeface="HK Modular"/>
              <a:ea typeface="HK Modular"/>
              <a:cs typeface="HK Modular"/>
              <a:sym typeface="HK Modular"/>
            </a:endParaRPr>
          </a:p>
        </p:txBody>
      </p:sp>
      <p:sp>
        <p:nvSpPr>
          <p:cNvPr id="14" name="TextBox 14"/>
          <p:cNvSpPr txBox="1"/>
          <p:nvPr/>
        </p:nvSpPr>
        <p:spPr>
          <a:xfrm>
            <a:off x="2936875" y="4234724"/>
            <a:ext cx="5620055" cy="945261"/>
          </a:xfrm>
          <a:prstGeom prst="rect">
            <a:avLst/>
          </a:prstGeom>
        </p:spPr>
        <p:txBody>
          <a:bodyPr lIns="0" tIns="0" rIns="0" bIns="0" rtlCol="0" anchor="t">
            <a:spAutoFit/>
          </a:bodyPr>
          <a:lstStyle/>
          <a:p>
            <a:pPr algn="l">
              <a:lnSpc>
                <a:spcPts val="3732"/>
              </a:lnSpc>
            </a:pPr>
            <a:r>
              <a:rPr lang="en-US" sz="3000" spc="401">
                <a:solidFill>
                  <a:srgbClr val="000000"/>
                </a:solidFill>
                <a:latin typeface="HK Modular"/>
                <a:ea typeface="HK Modular"/>
                <a:cs typeface="HK Modular"/>
                <a:sym typeface="HK Modular"/>
              </a:rPr>
              <a:t>Salesforce Admins</a:t>
            </a:r>
          </a:p>
        </p:txBody>
      </p:sp>
      <p:sp>
        <p:nvSpPr>
          <p:cNvPr id="15" name="TextBox 15"/>
          <p:cNvSpPr txBox="1"/>
          <p:nvPr/>
        </p:nvSpPr>
        <p:spPr>
          <a:xfrm>
            <a:off x="8001491" y="7330464"/>
            <a:ext cx="4230501" cy="1280201"/>
          </a:xfrm>
          <a:prstGeom prst="rect">
            <a:avLst/>
          </a:prstGeom>
        </p:spPr>
        <p:txBody>
          <a:bodyPr lIns="0" tIns="0" rIns="0" bIns="0" rtlCol="0" anchor="t">
            <a:spAutoFit/>
          </a:bodyPr>
          <a:lstStyle/>
          <a:p>
            <a:pPr algn="l">
              <a:lnSpc>
                <a:spcPts val="3383"/>
              </a:lnSpc>
            </a:pPr>
            <a:r>
              <a:rPr lang="en-US" sz="2720" spc="364">
                <a:solidFill>
                  <a:srgbClr val="000000"/>
                </a:solidFill>
                <a:latin typeface="HK Modular"/>
                <a:ea typeface="HK Modular"/>
                <a:cs typeface="HK Modular"/>
                <a:sym typeface="HK Modular"/>
              </a:rPr>
              <a:t>Developers</a:t>
            </a:r>
          </a:p>
          <a:p>
            <a:pPr algn="l">
              <a:lnSpc>
                <a:spcPts val="3383"/>
              </a:lnSpc>
            </a:pPr>
            <a:r>
              <a:rPr lang="en-US" sz="2720" spc="364">
                <a:solidFill>
                  <a:srgbClr val="000000"/>
                </a:solidFill>
                <a:latin typeface="HK Modular"/>
                <a:ea typeface="HK Modular"/>
                <a:cs typeface="HK Modular"/>
                <a:sym typeface="HK Modular"/>
              </a:rPr>
              <a:t>Teams</a:t>
            </a:r>
          </a:p>
          <a:p>
            <a:pPr algn="l">
              <a:lnSpc>
                <a:spcPts val="3383"/>
              </a:lnSpc>
            </a:pPr>
            <a:endParaRPr lang="en-US" sz="2720" spc="364">
              <a:solidFill>
                <a:srgbClr val="000000"/>
              </a:solidFill>
              <a:latin typeface="HK Modular"/>
              <a:ea typeface="HK Modular"/>
              <a:cs typeface="HK Modular"/>
              <a:sym typeface="HK Modular"/>
            </a:endParaRPr>
          </a:p>
        </p:txBody>
      </p:sp>
      <p:sp>
        <p:nvSpPr>
          <p:cNvPr id="16" name="TextBox 16"/>
          <p:cNvSpPr txBox="1"/>
          <p:nvPr/>
        </p:nvSpPr>
        <p:spPr>
          <a:xfrm>
            <a:off x="11697929" y="4316811"/>
            <a:ext cx="4227615" cy="945261"/>
          </a:xfrm>
          <a:prstGeom prst="rect">
            <a:avLst/>
          </a:prstGeom>
        </p:spPr>
        <p:txBody>
          <a:bodyPr lIns="0" tIns="0" rIns="0" bIns="0" rtlCol="0" anchor="t">
            <a:spAutoFit/>
          </a:bodyPr>
          <a:lstStyle/>
          <a:p>
            <a:pPr algn="l">
              <a:lnSpc>
                <a:spcPts val="3732"/>
              </a:lnSpc>
            </a:pPr>
            <a:r>
              <a:rPr lang="en-US" sz="3000" spc="401">
                <a:solidFill>
                  <a:srgbClr val="000000"/>
                </a:solidFill>
                <a:latin typeface="HK Modular"/>
                <a:ea typeface="HK Modular"/>
                <a:cs typeface="HK Modular"/>
                <a:sym typeface="HK Modular"/>
              </a:rPr>
              <a:t>Salesforce Developers</a:t>
            </a:r>
          </a:p>
        </p:txBody>
      </p:sp>
      <p:sp>
        <p:nvSpPr>
          <p:cNvPr id="17" name="TextBox 17"/>
          <p:cNvSpPr txBox="1"/>
          <p:nvPr/>
        </p:nvSpPr>
        <p:spPr>
          <a:xfrm>
            <a:off x="1618146" y="4225534"/>
            <a:ext cx="911658" cy="478536"/>
          </a:xfrm>
          <a:prstGeom prst="rect">
            <a:avLst/>
          </a:prstGeom>
        </p:spPr>
        <p:txBody>
          <a:bodyPr lIns="0" tIns="0" rIns="0" bIns="0" rtlCol="0" anchor="t">
            <a:spAutoFit/>
          </a:bodyPr>
          <a:lstStyle/>
          <a:p>
            <a:pPr algn="ctr">
              <a:lnSpc>
                <a:spcPts val="3732"/>
              </a:lnSpc>
            </a:pPr>
            <a:r>
              <a:rPr lang="en-US" sz="3000" b="1">
                <a:solidFill>
                  <a:srgbClr val="FFFFFF"/>
                </a:solidFill>
                <a:latin typeface="HK Modular"/>
                <a:ea typeface="HK Modular"/>
                <a:cs typeface="HK Modular"/>
                <a:sym typeface="HK Modular"/>
              </a:rPr>
              <a:t>1</a:t>
            </a:r>
          </a:p>
        </p:txBody>
      </p:sp>
      <p:sp>
        <p:nvSpPr>
          <p:cNvPr id="18" name="TextBox 18"/>
          <p:cNvSpPr txBox="1"/>
          <p:nvPr/>
        </p:nvSpPr>
        <p:spPr>
          <a:xfrm>
            <a:off x="7062339" y="7536082"/>
            <a:ext cx="685783" cy="478223"/>
          </a:xfrm>
          <a:prstGeom prst="rect">
            <a:avLst/>
          </a:prstGeom>
        </p:spPr>
        <p:txBody>
          <a:bodyPr lIns="0" tIns="0" rIns="0" bIns="0" rtlCol="0" anchor="t">
            <a:spAutoFit/>
          </a:bodyPr>
          <a:lstStyle/>
          <a:p>
            <a:pPr algn="ctr">
              <a:lnSpc>
                <a:spcPts val="3801"/>
              </a:lnSpc>
            </a:pPr>
            <a:r>
              <a:rPr lang="en-US" sz="3055" b="1">
                <a:solidFill>
                  <a:srgbClr val="FFFFFF"/>
                </a:solidFill>
                <a:latin typeface="HK Modular"/>
                <a:ea typeface="HK Modular"/>
                <a:cs typeface="HK Modular"/>
                <a:sym typeface="HK Modular"/>
              </a:rPr>
              <a:t>3</a:t>
            </a:r>
          </a:p>
        </p:txBody>
      </p:sp>
      <p:sp>
        <p:nvSpPr>
          <p:cNvPr id="19" name="TextBox 19"/>
          <p:cNvSpPr txBox="1"/>
          <p:nvPr/>
        </p:nvSpPr>
        <p:spPr>
          <a:xfrm>
            <a:off x="10685460" y="4540264"/>
            <a:ext cx="804467" cy="557690"/>
          </a:xfrm>
          <a:prstGeom prst="rect">
            <a:avLst/>
          </a:prstGeom>
        </p:spPr>
        <p:txBody>
          <a:bodyPr lIns="0" tIns="0" rIns="0" bIns="0" rtlCol="0" anchor="t">
            <a:spAutoFit/>
          </a:bodyPr>
          <a:lstStyle/>
          <a:p>
            <a:pPr algn="ctr">
              <a:lnSpc>
                <a:spcPts val="4459"/>
              </a:lnSpc>
            </a:pPr>
            <a:r>
              <a:rPr lang="en-US" sz="3584" b="1">
                <a:solidFill>
                  <a:srgbClr val="FFFFFF"/>
                </a:solidFill>
                <a:latin typeface="HK Modular"/>
                <a:ea typeface="HK Modular"/>
                <a:cs typeface="HK Modular"/>
                <a:sym typeface="HK Modular"/>
              </a:rPr>
              <a:t>2</a:t>
            </a:r>
          </a:p>
        </p:txBody>
      </p:sp>
      <p:sp>
        <p:nvSpPr>
          <p:cNvPr id="20" name="TextBox 20"/>
          <p:cNvSpPr txBox="1"/>
          <p:nvPr/>
        </p:nvSpPr>
        <p:spPr>
          <a:xfrm>
            <a:off x="2909273" y="5346138"/>
            <a:ext cx="5784974" cy="2345436"/>
          </a:xfrm>
          <a:prstGeom prst="rect">
            <a:avLst/>
          </a:prstGeom>
        </p:spPr>
        <p:txBody>
          <a:bodyPr lIns="0" tIns="0" rIns="0" bIns="0" rtlCol="0" anchor="t">
            <a:spAutoFit/>
          </a:bodyPr>
          <a:lstStyle/>
          <a:p>
            <a:pPr algn="l">
              <a:lnSpc>
                <a:spcPts val="3732"/>
              </a:lnSpc>
            </a:pPr>
            <a:r>
              <a:rPr lang="en-US" sz="3000">
                <a:solidFill>
                  <a:srgbClr val="FFFFFF"/>
                </a:solidFill>
                <a:latin typeface="Ovo"/>
                <a:ea typeface="Ovo"/>
                <a:cs typeface="Ovo"/>
                <a:sym typeface="Ovo"/>
              </a:rPr>
              <a:t>Generate formulas, validation rules, Flow actions, SOQL queries. Understand existing code without begging a developer.</a:t>
            </a:r>
          </a:p>
          <a:p>
            <a:pPr algn="l">
              <a:lnSpc>
                <a:spcPts val="3732"/>
              </a:lnSpc>
            </a:pPr>
            <a:endParaRPr lang="en-US" sz="3000">
              <a:solidFill>
                <a:srgbClr val="FFFFFF"/>
              </a:solidFill>
              <a:latin typeface="Ovo"/>
              <a:ea typeface="Ovo"/>
              <a:cs typeface="Ovo"/>
              <a:sym typeface="Ovo"/>
            </a:endParaRPr>
          </a:p>
        </p:txBody>
      </p:sp>
      <p:sp>
        <p:nvSpPr>
          <p:cNvPr id="21" name="TextBox 21"/>
          <p:cNvSpPr txBox="1"/>
          <p:nvPr/>
        </p:nvSpPr>
        <p:spPr>
          <a:xfrm>
            <a:off x="7888478" y="8305315"/>
            <a:ext cx="6425904" cy="1878711"/>
          </a:xfrm>
          <a:prstGeom prst="rect">
            <a:avLst/>
          </a:prstGeom>
        </p:spPr>
        <p:txBody>
          <a:bodyPr lIns="0" tIns="0" rIns="0" bIns="0" rtlCol="0" anchor="t">
            <a:spAutoFit/>
          </a:bodyPr>
          <a:lstStyle/>
          <a:p>
            <a:pPr algn="l">
              <a:lnSpc>
                <a:spcPts val="3732"/>
              </a:lnSpc>
            </a:pPr>
            <a:r>
              <a:rPr lang="en-US" sz="3000">
                <a:solidFill>
                  <a:srgbClr val="FFFFFF"/>
                </a:solidFill>
                <a:latin typeface="Ovo"/>
                <a:ea typeface="Ovo"/>
                <a:cs typeface="Ovo"/>
                <a:sym typeface="Ovo"/>
              </a:rPr>
              <a:t>Define coding rules once, and Cursor enforces them in every suggestion (naming conventions, bulkification, security best practices).</a:t>
            </a:r>
          </a:p>
        </p:txBody>
      </p:sp>
      <p:sp>
        <p:nvSpPr>
          <p:cNvPr id="22" name="TextBox 22"/>
          <p:cNvSpPr txBox="1"/>
          <p:nvPr/>
        </p:nvSpPr>
        <p:spPr>
          <a:xfrm>
            <a:off x="12118978" y="5265561"/>
            <a:ext cx="4876612" cy="1863126"/>
          </a:xfrm>
          <a:prstGeom prst="rect">
            <a:avLst/>
          </a:prstGeom>
        </p:spPr>
        <p:txBody>
          <a:bodyPr lIns="0" tIns="0" rIns="0" bIns="0" rtlCol="0" anchor="t">
            <a:spAutoFit/>
          </a:bodyPr>
          <a:lstStyle/>
          <a:p>
            <a:pPr algn="l">
              <a:lnSpc>
                <a:spcPts val="2960"/>
              </a:lnSpc>
            </a:pPr>
            <a:r>
              <a:rPr lang="en-US" sz="2379">
                <a:solidFill>
                  <a:srgbClr val="FFFFFF"/>
                </a:solidFill>
                <a:latin typeface="Ovo"/>
                <a:ea typeface="Ovo"/>
                <a:cs typeface="Ovo"/>
                <a:sym typeface="Ovo"/>
              </a:rPr>
              <a:t>Build Apex classes, LWCs, triggers, and tests in a fraction of the time. Stay focused on logic, let Cursor handle boilerplate.</a:t>
            </a:r>
          </a:p>
          <a:p>
            <a:pPr algn="l">
              <a:lnSpc>
                <a:spcPts val="2960"/>
              </a:lnSpc>
            </a:pPr>
            <a:endParaRPr lang="en-US" sz="2379">
              <a:solidFill>
                <a:srgbClr val="FFFFFF"/>
              </a:solidFill>
              <a:latin typeface="Ovo"/>
              <a:ea typeface="Ovo"/>
              <a:cs typeface="Ovo"/>
              <a:sym typeface="Ov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747870" y="30861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28700" y="738392"/>
            <a:ext cx="12000371" cy="965251"/>
          </a:xfrm>
          <a:prstGeom prst="rect">
            <a:avLst/>
          </a:prstGeom>
        </p:spPr>
        <p:txBody>
          <a:bodyPr lIns="0" tIns="0" rIns="0" bIns="0" rtlCol="0" anchor="t">
            <a:spAutoFit/>
          </a:bodyPr>
          <a:lstStyle/>
          <a:p>
            <a:pPr algn="l">
              <a:lnSpc>
                <a:spcPts val="7600"/>
              </a:lnSpc>
            </a:pPr>
            <a:r>
              <a:rPr lang="en-US" sz="6230">
                <a:solidFill>
                  <a:srgbClr val="FFFFFF"/>
                </a:solidFill>
                <a:latin typeface="HK Modular"/>
                <a:ea typeface="HK Modular"/>
                <a:cs typeface="HK Modular"/>
                <a:sym typeface="HK Modular"/>
              </a:rPr>
              <a:t>Power of Cursor</a:t>
            </a:r>
          </a:p>
        </p:txBody>
      </p:sp>
      <p:sp>
        <p:nvSpPr>
          <p:cNvPr id="4" name="TextBox 4"/>
          <p:cNvSpPr txBox="1"/>
          <p:nvPr/>
        </p:nvSpPr>
        <p:spPr>
          <a:xfrm>
            <a:off x="1215834" y="2189899"/>
            <a:ext cx="15856331" cy="5209650"/>
          </a:xfrm>
          <a:prstGeom prst="rect">
            <a:avLst/>
          </a:prstGeom>
        </p:spPr>
        <p:txBody>
          <a:bodyPr lIns="0" tIns="0" rIns="0" bIns="0" rtlCol="0" anchor="t">
            <a:spAutoFit/>
          </a:bodyPr>
          <a:lstStyle/>
          <a:p>
            <a:pPr algn="l">
              <a:lnSpc>
                <a:spcPts val="4753"/>
              </a:lnSpc>
            </a:pPr>
            <a:endParaRPr/>
          </a:p>
          <a:p>
            <a:pPr algn="l">
              <a:lnSpc>
                <a:spcPts val="5873"/>
              </a:lnSpc>
            </a:pPr>
            <a:r>
              <a:rPr lang="en-US" sz="4195" b="1">
                <a:solidFill>
                  <a:srgbClr val="000000"/>
                </a:solidFill>
                <a:latin typeface="Lato Bold"/>
                <a:ea typeface="Lato Bold"/>
                <a:cs typeface="Lato Bold"/>
                <a:sym typeface="Lato Bold"/>
              </a:rPr>
              <a:t>Cursor makes coding feel less like staring at a blank page and more like having a helpful senior dev sitting next to you—speeding up your work, reducing errors, and teaching you along the way.</a:t>
            </a:r>
          </a:p>
          <a:p>
            <a:pPr algn="l">
              <a:lnSpc>
                <a:spcPts val="4753"/>
              </a:lnSpc>
            </a:pPr>
            <a:endParaRPr lang="en-US" sz="4195" b="1">
              <a:solidFill>
                <a:srgbClr val="000000"/>
              </a:solidFill>
              <a:latin typeface="Lato Bold"/>
              <a:ea typeface="Lato Bold"/>
              <a:cs typeface="Lato Bold"/>
              <a:sym typeface="Lato Bold"/>
            </a:endParaRPr>
          </a:p>
          <a:p>
            <a:pPr algn="l">
              <a:lnSpc>
                <a:spcPts val="4753"/>
              </a:lnSpc>
            </a:pPr>
            <a:endParaRPr lang="en-US" sz="4195" b="1">
              <a:solidFill>
                <a:srgbClr val="000000"/>
              </a:solidFill>
              <a:latin typeface="Lato Bold"/>
              <a:ea typeface="Lato Bold"/>
              <a:cs typeface="Lato Bold"/>
              <a:sym typeface="Lato Bold"/>
            </a:endParaRPr>
          </a:p>
          <a:p>
            <a:pPr algn="l">
              <a:lnSpc>
                <a:spcPts val="4753"/>
              </a:lnSpc>
            </a:pPr>
            <a:endParaRPr lang="en-US" sz="4195" b="1">
              <a:solidFill>
                <a:srgbClr val="000000"/>
              </a:solidFill>
              <a:latin typeface="Lato Bold"/>
              <a:ea typeface="Lato Bold"/>
              <a:cs typeface="Lato Bold"/>
              <a:sym typeface="Lato Bold"/>
            </a:endParaRPr>
          </a:p>
          <a:p>
            <a:pPr algn="l">
              <a:lnSpc>
                <a:spcPts val="4753"/>
              </a:lnSpc>
            </a:pPr>
            <a:endParaRPr lang="en-US" sz="4195" b="1">
              <a:solidFill>
                <a:srgbClr val="000000"/>
              </a:solidFill>
              <a:latin typeface="Lato Bold"/>
              <a:ea typeface="Lato Bold"/>
              <a:cs typeface="Lato Bold"/>
              <a:sym typeface="Lato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5355232" y="-148839"/>
            <a:ext cx="3242180" cy="3217863"/>
          </a:xfrm>
          <a:custGeom>
            <a:avLst/>
            <a:gdLst/>
            <a:ahLst/>
            <a:cxnLst/>
            <a:rect l="l" t="t" r="r" b="b"/>
            <a:pathLst>
              <a:path w="3242180" h="3217863">
                <a:moveTo>
                  <a:pt x="0" y="0"/>
                </a:moveTo>
                <a:lnTo>
                  <a:pt x="3242180" y="0"/>
                </a:lnTo>
                <a:lnTo>
                  <a:pt x="3242180" y="3217864"/>
                </a:lnTo>
                <a:lnTo>
                  <a:pt x="0" y="3217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861431" y="1450568"/>
            <a:ext cx="11554479" cy="1917753"/>
          </a:xfrm>
          <a:prstGeom prst="rect">
            <a:avLst/>
          </a:prstGeom>
        </p:spPr>
        <p:txBody>
          <a:bodyPr lIns="0" tIns="0" rIns="0" bIns="0" rtlCol="0" anchor="t">
            <a:spAutoFit/>
          </a:bodyPr>
          <a:lstStyle/>
          <a:p>
            <a:pPr algn="l">
              <a:lnSpc>
                <a:spcPts val="7599"/>
              </a:lnSpc>
            </a:pPr>
            <a:r>
              <a:rPr lang="en-US" sz="6229">
                <a:solidFill>
                  <a:srgbClr val="FFFFFF"/>
                </a:solidFill>
                <a:latin typeface="HK Modular"/>
                <a:ea typeface="HK Modular"/>
                <a:cs typeface="HK Modular"/>
                <a:sym typeface="HK Modular"/>
              </a:rPr>
              <a:t>What you will install</a:t>
            </a:r>
          </a:p>
        </p:txBody>
      </p:sp>
      <p:sp>
        <p:nvSpPr>
          <p:cNvPr id="4" name="TextBox 4"/>
          <p:cNvSpPr txBox="1"/>
          <p:nvPr/>
        </p:nvSpPr>
        <p:spPr>
          <a:xfrm>
            <a:off x="1269434" y="3958307"/>
            <a:ext cx="4388904" cy="721995"/>
          </a:xfrm>
          <a:prstGeom prst="rect">
            <a:avLst/>
          </a:prstGeom>
        </p:spPr>
        <p:txBody>
          <a:bodyPr lIns="0" tIns="0" rIns="0" bIns="0" rtlCol="0" anchor="t">
            <a:spAutoFit/>
          </a:bodyPr>
          <a:lstStyle/>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Cursor</a:t>
            </a:r>
          </a:p>
        </p:txBody>
      </p:sp>
      <p:sp>
        <p:nvSpPr>
          <p:cNvPr id="5" name="TextBox 5"/>
          <p:cNvSpPr txBox="1"/>
          <p:nvPr/>
        </p:nvSpPr>
        <p:spPr>
          <a:xfrm>
            <a:off x="1269434" y="4895514"/>
            <a:ext cx="8027000" cy="721995"/>
          </a:xfrm>
          <a:prstGeom prst="rect">
            <a:avLst/>
          </a:prstGeom>
        </p:spPr>
        <p:txBody>
          <a:bodyPr lIns="0" tIns="0" rIns="0" bIns="0" rtlCol="0" anchor="t">
            <a:spAutoFit/>
          </a:bodyPr>
          <a:lstStyle/>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Visual Studio Code</a:t>
            </a:r>
          </a:p>
        </p:txBody>
      </p:sp>
      <p:sp>
        <p:nvSpPr>
          <p:cNvPr id="6" name="TextBox 6"/>
          <p:cNvSpPr txBox="1"/>
          <p:nvPr/>
        </p:nvSpPr>
        <p:spPr>
          <a:xfrm>
            <a:off x="1269434" y="5744910"/>
            <a:ext cx="4388904" cy="721995"/>
          </a:xfrm>
          <a:prstGeom prst="rect">
            <a:avLst/>
          </a:prstGeom>
        </p:spPr>
        <p:txBody>
          <a:bodyPr lIns="0" tIns="0" rIns="0" bIns="0" rtlCol="0" anchor="t">
            <a:spAutoFit/>
          </a:bodyPr>
          <a:lstStyle/>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Salesforce CLI</a:t>
            </a:r>
          </a:p>
        </p:txBody>
      </p:sp>
      <p:sp>
        <p:nvSpPr>
          <p:cNvPr id="7" name="TextBox 7"/>
          <p:cNvSpPr txBox="1"/>
          <p:nvPr/>
        </p:nvSpPr>
        <p:spPr>
          <a:xfrm>
            <a:off x="1269434" y="6680959"/>
            <a:ext cx="4388904" cy="721995"/>
          </a:xfrm>
          <a:prstGeom prst="rect">
            <a:avLst/>
          </a:prstGeom>
        </p:spPr>
        <p:txBody>
          <a:bodyPr lIns="0" tIns="0" rIns="0" bIns="0" rtlCol="0" anchor="t">
            <a:spAutoFit/>
          </a:bodyPr>
          <a:lstStyle/>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Node.js</a:t>
            </a:r>
          </a:p>
        </p:txBody>
      </p:sp>
      <p:sp>
        <p:nvSpPr>
          <p:cNvPr id="8" name="TextBox 8"/>
          <p:cNvSpPr txBox="1"/>
          <p:nvPr/>
        </p:nvSpPr>
        <p:spPr>
          <a:xfrm>
            <a:off x="1269434" y="7529838"/>
            <a:ext cx="4388904" cy="721995"/>
          </a:xfrm>
          <a:prstGeom prst="rect">
            <a:avLst/>
          </a:prstGeom>
        </p:spPr>
        <p:txBody>
          <a:bodyPr lIns="0" tIns="0" rIns="0" bIns="0" rtlCol="0" anchor="t">
            <a:spAutoFit/>
          </a:bodyPr>
          <a:lstStyle/>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Java JDK</a:t>
            </a:r>
          </a:p>
        </p:txBody>
      </p:sp>
      <p:sp>
        <p:nvSpPr>
          <p:cNvPr id="9" name="TextBox 9"/>
          <p:cNvSpPr txBox="1"/>
          <p:nvPr/>
        </p:nvSpPr>
        <p:spPr>
          <a:xfrm>
            <a:off x="1269434" y="8378717"/>
            <a:ext cx="4388904" cy="721995"/>
          </a:xfrm>
          <a:prstGeom prst="rect">
            <a:avLst/>
          </a:prstGeom>
        </p:spPr>
        <p:txBody>
          <a:bodyPr lIns="0" tIns="0" rIns="0" bIns="0" rtlCol="0" anchor="t">
            <a:spAutoFit/>
          </a:bodyPr>
          <a:lstStyle/>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Git</a:t>
            </a:r>
          </a:p>
        </p:txBody>
      </p:sp>
      <p:sp>
        <p:nvSpPr>
          <p:cNvPr id="10" name="TextBox 10"/>
          <p:cNvSpPr txBox="1"/>
          <p:nvPr/>
        </p:nvSpPr>
        <p:spPr>
          <a:xfrm>
            <a:off x="1269434" y="9227596"/>
            <a:ext cx="5591655" cy="721995"/>
          </a:xfrm>
          <a:prstGeom prst="rect">
            <a:avLst/>
          </a:prstGeom>
        </p:spPr>
        <p:txBody>
          <a:bodyPr lIns="0" tIns="0" rIns="0" bIns="0" rtlCol="0" anchor="t">
            <a:spAutoFit/>
          </a:bodyPr>
          <a:lstStyle/>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VS code Extensions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5355232" y="-148839"/>
            <a:ext cx="3242180" cy="3217863"/>
          </a:xfrm>
          <a:custGeom>
            <a:avLst/>
            <a:gdLst/>
            <a:ahLst/>
            <a:cxnLst/>
            <a:rect l="l" t="t" r="r" b="b"/>
            <a:pathLst>
              <a:path w="3242180" h="3217863">
                <a:moveTo>
                  <a:pt x="0" y="0"/>
                </a:moveTo>
                <a:lnTo>
                  <a:pt x="3242180" y="0"/>
                </a:lnTo>
                <a:lnTo>
                  <a:pt x="3242180" y="3217864"/>
                </a:lnTo>
                <a:lnTo>
                  <a:pt x="0" y="3217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861431" y="1450568"/>
            <a:ext cx="11554479" cy="1917753"/>
          </a:xfrm>
          <a:prstGeom prst="rect">
            <a:avLst/>
          </a:prstGeom>
        </p:spPr>
        <p:txBody>
          <a:bodyPr lIns="0" tIns="0" rIns="0" bIns="0" rtlCol="0" anchor="t">
            <a:spAutoFit/>
          </a:bodyPr>
          <a:lstStyle/>
          <a:p>
            <a:pPr algn="l">
              <a:lnSpc>
                <a:spcPts val="7599"/>
              </a:lnSpc>
            </a:pPr>
            <a:r>
              <a:rPr lang="en-US" sz="6229">
                <a:solidFill>
                  <a:srgbClr val="FFFFFF"/>
                </a:solidFill>
                <a:latin typeface="HK Modular"/>
                <a:ea typeface="HK Modular"/>
                <a:cs typeface="HK Modular"/>
                <a:sym typeface="HK Modular"/>
              </a:rPr>
              <a:t>How to Verify Installations</a:t>
            </a:r>
          </a:p>
        </p:txBody>
      </p:sp>
      <p:sp>
        <p:nvSpPr>
          <p:cNvPr id="4" name="TextBox 4"/>
          <p:cNvSpPr txBox="1"/>
          <p:nvPr/>
        </p:nvSpPr>
        <p:spPr>
          <a:xfrm>
            <a:off x="1584877" y="4334821"/>
            <a:ext cx="11248286" cy="3291230"/>
          </a:xfrm>
          <a:prstGeom prst="rect">
            <a:avLst/>
          </a:prstGeom>
        </p:spPr>
        <p:txBody>
          <a:bodyPr lIns="0" tIns="0" rIns="0" bIns="0" rtlCol="0" anchor="t">
            <a:spAutoFit/>
          </a:bodyPr>
          <a:lstStyle/>
          <a:p>
            <a:pPr algn="l">
              <a:lnSpc>
                <a:spcPts val="5224"/>
              </a:lnSpc>
              <a:spcBef>
                <a:spcPct val="0"/>
              </a:spcBef>
            </a:pPr>
            <a:r>
              <a:rPr lang="en-US" sz="4200" b="1">
                <a:solidFill>
                  <a:srgbClr val="000000"/>
                </a:solidFill>
                <a:latin typeface="Lato Bold"/>
                <a:ea typeface="Lato Bold"/>
                <a:cs typeface="Lato Bold"/>
                <a:sym typeface="Lato Bold"/>
              </a:rPr>
              <a:t>sf --version</a:t>
            </a:r>
          </a:p>
          <a:p>
            <a:pPr algn="l">
              <a:lnSpc>
                <a:spcPts val="5224"/>
              </a:lnSpc>
              <a:spcBef>
                <a:spcPct val="0"/>
              </a:spcBef>
            </a:pPr>
            <a:r>
              <a:rPr lang="en-US" sz="4200" b="1">
                <a:solidFill>
                  <a:srgbClr val="000000"/>
                </a:solidFill>
                <a:latin typeface="Lato Bold"/>
                <a:ea typeface="Lato Bold"/>
                <a:cs typeface="Lato Bold"/>
                <a:sym typeface="Lato Bold"/>
              </a:rPr>
              <a:t>node -v &amp;&amp; npm -v</a:t>
            </a:r>
          </a:p>
          <a:p>
            <a:pPr algn="l">
              <a:lnSpc>
                <a:spcPts val="5224"/>
              </a:lnSpc>
              <a:spcBef>
                <a:spcPct val="0"/>
              </a:spcBef>
            </a:pPr>
            <a:r>
              <a:rPr lang="en-US" sz="4200" b="1">
                <a:solidFill>
                  <a:srgbClr val="000000"/>
                </a:solidFill>
                <a:latin typeface="Lato Bold"/>
                <a:ea typeface="Lato Bold"/>
                <a:cs typeface="Lato Bold"/>
                <a:sym typeface="Lato Bold"/>
              </a:rPr>
              <a:t>java -version</a:t>
            </a:r>
          </a:p>
          <a:p>
            <a:pPr algn="l">
              <a:lnSpc>
                <a:spcPts val="5224"/>
              </a:lnSpc>
              <a:spcBef>
                <a:spcPct val="0"/>
              </a:spcBef>
            </a:pPr>
            <a:r>
              <a:rPr lang="en-US" sz="4200" b="1">
                <a:solidFill>
                  <a:srgbClr val="000000"/>
                </a:solidFill>
                <a:latin typeface="Lato Bold"/>
                <a:ea typeface="Lato Bold"/>
                <a:cs typeface="Lato Bold"/>
                <a:sym typeface="Lato Bold"/>
              </a:rPr>
              <a:t>git --version</a:t>
            </a:r>
          </a:p>
          <a:p>
            <a:pPr algn="l">
              <a:lnSpc>
                <a:spcPts val="5224"/>
              </a:lnSpc>
              <a:spcBef>
                <a:spcPct val="0"/>
              </a:spcBef>
            </a:pPr>
            <a:r>
              <a:rPr lang="en-US" sz="4200" b="1">
                <a:solidFill>
                  <a:srgbClr val="000000"/>
                </a:solidFill>
                <a:latin typeface="Lato Bold"/>
                <a:ea typeface="Lato Bold"/>
                <a:cs typeface="Lato Bold"/>
                <a:sym typeface="Lato Bold"/>
              </a:rPr>
              <a:t>code –version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747870" y="30861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28700" y="738392"/>
            <a:ext cx="16043466" cy="2889301"/>
          </a:xfrm>
          <a:prstGeom prst="rect">
            <a:avLst/>
          </a:prstGeom>
        </p:spPr>
        <p:txBody>
          <a:bodyPr lIns="0" tIns="0" rIns="0" bIns="0" rtlCol="0" anchor="t">
            <a:spAutoFit/>
          </a:bodyPr>
          <a:lstStyle/>
          <a:p>
            <a:pPr algn="l">
              <a:lnSpc>
                <a:spcPts val="7600"/>
              </a:lnSpc>
            </a:pPr>
            <a:r>
              <a:rPr lang="en-US" sz="6230" dirty="0">
                <a:solidFill>
                  <a:srgbClr val="FFFFFF"/>
                </a:solidFill>
                <a:latin typeface="HK Modular"/>
                <a:ea typeface="HK Modular"/>
                <a:cs typeface="HK Modular"/>
                <a:sym typeface="HK Modular"/>
              </a:rPr>
              <a:t>What is MCP Model Context Protocol?</a:t>
            </a:r>
          </a:p>
          <a:p>
            <a:pPr algn="l">
              <a:lnSpc>
                <a:spcPts val="7600"/>
              </a:lnSpc>
            </a:pPr>
            <a:endParaRPr lang="en-US" sz="6230" dirty="0">
              <a:solidFill>
                <a:srgbClr val="FFFFFF"/>
              </a:solidFill>
              <a:latin typeface="HK Modular"/>
              <a:ea typeface="HK Modular"/>
              <a:cs typeface="HK Modular"/>
              <a:sym typeface="HK Modular"/>
            </a:endParaRPr>
          </a:p>
        </p:txBody>
      </p:sp>
      <p:sp>
        <p:nvSpPr>
          <p:cNvPr id="4" name="TextBox 4"/>
          <p:cNvSpPr txBox="1"/>
          <p:nvPr/>
        </p:nvSpPr>
        <p:spPr>
          <a:xfrm>
            <a:off x="1028700" y="2651747"/>
            <a:ext cx="15856331" cy="7408545"/>
          </a:xfrm>
          <a:prstGeom prst="rect">
            <a:avLst/>
          </a:prstGeom>
        </p:spPr>
        <p:txBody>
          <a:bodyPr lIns="0" tIns="0" rIns="0" bIns="0" rtlCol="0" anchor="t">
            <a:spAutoFit/>
          </a:bodyPr>
          <a:lstStyle/>
          <a:p>
            <a:pPr algn="l">
              <a:lnSpc>
                <a:spcPts val="5880"/>
              </a:lnSpc>
            </a:pPr>
            <a:endParaRPr/>
          </a:p>
          <a:p>
            <a:pPr algn="l">
              <a:lnSpc>
                <a:spcPts val="5880"/>
              </a:lnSpc>
            </a:pPr>
            <a:r>
              <a:rPr lang="en-US" sz="4200" b="1">
                <a:solidFill>
                  <a:srgbClr val="FFFFFF"/>
                </a:solidFill>
                <a:latin typeface="Lato Bold"/>
                <a:ea typeface="Lato Bold"/>
                <a:cs typeface="Lato Bold"/>
                <a:sym typeface="Lato Bold"/>
              </a:rPr>
              <a:t>Imagine you’re the boss of a big Lego city 🏙️</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You (the boss) tell your assistant (Cursor) what you want: “Build me a hospital” or “Clean up the park.”</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But Cursor can’t do everything by itself—it needs helpers who know how to use the right Lego sets.</a:t>
            </a:r>
          </a:p>
          <a:p>
            <a:pPr algn="l">
              <a:lnSpc>
                <a:spcPts val="5880"/>
              </a:lnSpc>
            </a:pPr>
            <a:endParaRPr lang="en-US" sz="4200" b="1">
              <a:solidFill>
                <a:srgbClr val="000000"/>
              </a:solidFill>
              <a:latin typeface="Lato Bold"/>
              <a:ea typeface="Lato Bold"/>
              <a:cs typeface="Lato Bold"/>
              <a:sym typeface="Lato Bold"/>
            </a:endParaRPr>
          </a:p>
          <a:p>
            <a:pPr algn="l">
              <a:lnSpc>
                <a:spcPts val="5880"/>
              </a:lnSpc>
            </a:pPr>
            <a:endParaRPr lang="en-US" sz="4200" b="1">
              <a:solidFill>
                <a:srgbClr val="000000"/>
              </a:solidFill>
              <a:latin typeface="Lato Bold"/>
              <a:ea typeface="Lato Bold"/>
              <a:cs typeface="Lato Bold"/>
              <a:sym typeface="Lato Bold"/>
            </a:endParaRPr>
          </a:p>
          <a:p>
            <a:pPr algn="l">
              <a:lnSpc>
                <a:spcPts val="5880"/>
              </a:lnSpc>
            </a:pPr>
            <a:endParaRPr lang="en-US" sz="4200" b="1">
              <a:solidFill>
                <a:srgbClr val="000000"/>
              </a:solidFill>
              <a:latin typeface="Lato Bold"/>
              <a:ea typeface="Lato Bold"/>
              <a:cs typeface="Lato Bold"/>
              <a:sym typeface="Lato Bold"/>
            </a:endParaRPr>
          </a:p>
          <a:p>
            <a:pPr algn="l">
              <a:lnSpc>
                <a:spcPts val="5880"/>
              </a:lnSpc>
            </a:pPr>
            <a:endParaRPr lang="en-US" sz="4200" b="1">
              <a:solidFill>
                <a:srgbClr val="000000"/>
              </a:solidFill>
              <a:latin typeface="Lato Bold"/>
              <a:ea typeface="Lato Bold"/>
              <a:cs typeface="Lato Bold"/>
              <a:sym typeface="Lato 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747870" y="30861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28700" y="738392"/>
            <a:ext cx="16043466" cy="2889301"/>
          </a:xfrm>
          <a:prstGeom prst="rect">
            <a:avLst/>
          </a:prstGeom>
        </p:spPr>
        <p:txBody>
          <a:bodyPr lIns="0" tIns="0" rIns="0" bIns="0" rtlCol="0" anchor="t">
            <a:spAutoFit/>
          </a:bodyPr>
          <a:lstStyle/>
          <a:p>
            <a:pPr algn="l">
              <a:lnSpc>
                <a:spcPts val="7600"/>
              </a:lnSpc>
            </a:pPr>
            <a:r>
              <a:rPr lang="en-US" sz="6230" dirty="0">
                <a:solidFill>
                  <a:srgbClr val="FFFFFF"/>
                </a:solidFill>
                <a:latin typeface="HK Modular"/>
                <a:ea typeface="HK Modular"/>
                <a:cs typeface="HK Modular"/>
                <a:sym typeface="HK Modular"/>
              </a:rPr>
              <a:t>What is MCP Model Context Protocol?</a:t>
            </a:r>
          </a:p>
          <a:p>
            <a:pPr algn="l">
              <a:lnSpc>
                <a:spcPts val="7600"/>
              </a:lnSpc>
            </a:pPr>
            <a:endParaRPr lang="en-US" sz="6230" dirty="0">
              <a:solidFill>
                <a:srgbClr val="FFFFFF"/>
              </a:solidFill>
              <a:latin typeface="HK Modular"/>
              <a:ea typeface="HK Modular"/>
              <a:cs typeface="HK Modular"/>
              <a:sym typeface="HK Modular"/>
            </a:endParaRPr>
          </a:p>
        </p:txBody>
      </p:sp>
      <p:sp>
        <p:nvSpPr>
          <p:cNvPr id="4" name="TextBox 4"/>
          <p:cNvSpPr txBox="1"/>
          <p:nvPr/>
        </p:nvSpPr>
        <p:spPr>
          <a:xfrm>
            <a:off x="1028700" y="3258096"/>
            <a:ext cx="15856331" cy="5922645"/>
          </a:xfrm>
          <a:prstGeom prst="rect">
            <a:avLst/>
          </a:prstGeom>
        </p:spPr>
        <p:txBody>
          <a:bodyPr lIns="0" tIns="0" rIns="0" bIns="0" rtlCol="0" anchor="t">
            <a:spAutoFit/>
          </a:bodyPr>
          <a:lstStyle/>
          <a:p>
            <a:pPr algn="l">
              <a:lnSpc>
                <a:spcPts val="5880"/>
              </a:lnSpc>
            </a:pPr>
            <a:r>
              <a:rPr lang="en-US" sz="4200" b="1">
                <a:solidFill>
                  <a:srgbClr val="FFFFFF"/>
                </a:solidFill>
                <a:latin typeface="Lato Bold"/>
                <a:ea typeface="Lato Bold"/>
                <a:cs typeface="Lato Bold"/>
                <a:sym typeface="Lato Bold"/>
              </a:rPr>
              <a:t>MCP is like a walkie-talkie system 📡</a:t>
            </a:r>
          </a:p>
          <a:p>
            <a:pPr algn="l">
              <a:lnSpc>
                <a:spcPts val="5880"/>
              </a:lnSpc>
            </a:pPr>
            <a:r>
              <a:rPr lang="en-US" sz="4200" b="1">
                <a:solidFill>
                  <a:srgbClr val="000000"/>
                </a:solidFill>
                <a:latin typeface="Lato Bold"/>
                <a:ea typeface="Lato Bold"/>
                <a:cs typeface="Lato Bold"/>
                <a:sym typeface="Lato Bold"/>
              </a:rPr>
              <a:t>It lets Cursor talk to all these helpers in the city.</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One helper knows how to use Salesforce tools (like Salesforce DX).</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Another helper knows how to use GitHub (to fetch code).</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Another helper knows Figma (to look at design files).</a:t>
            </a:r>
          </a:p>
          <a:p>
            <a:pPr marL="906780" lvl="1" indent="-453390" algn="l">
              <a:lnSpc>
                <a:spcPts val="5880"/>
              </a:lnSpc>
              <a:buFont typeface="Arial"/>
              <a:buChar char="•"/>
            </a:pPr>
            <a:r>
              <a:rPr lang="en-US" sz="4200" b="1">
                <a:solidFill>
                  <a:srgbClr val="000000"/>
                </a:solidFill>
                <a:latin typeface="Lato Bold"/>
                <a:ea typeface="Lato Bold"/>
                <a:cs typeface="Lato Bold"/>
                <a:sym typeface="Lato Bold"/>
              </a:rPr>
              <a:t>And more helpers can join in.</a:t>
            </a:r>
          </a:p>
          <a:p>
            <a:pPr algn="l">
              <a:lnSpc>
                <a:spcPts val="5880"/>
              </a:lnSpc>
            </a:pPr>
            <a:endParaRPr lang="en-US" sz="4200" b="1">
              <a:solidFill>
                <a:srgbClr val="000000"/>
              </a:solidFill>
              <a:latin typeface="Lato Bold"/>
              <a:ea typeface="Lato Bold"/>
              <a:cs typeface="Lato Bold"/>
              <a:sym typeface="Lato Bo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747870" y="30861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28700" y="738392"/>
            <a:ext cx="16043466" cy="965251"/>
          </a:xfrm>
          <a:prstGeom prst="rect">
            <a:avLst/>
          </a:prstGeom>
        </p:spPr>
        <p:txBody>
          <a:bodyPr lIns="0" tIns="0" rIns="0" bIns="0" rtlCol="0" anchor="t">
            <a:spAutoFit/>
          </a:bodyPr>
          <a:lstStyle/>
          <a:p>
            <a:pPr algn="l">
              <a:lnSpc>
                <a:spcPts val="7600"/>
              </a:lnSpc>
            </a:pPr>
            <a:r>
              <a:rPr lang="en-US" sz="6230">
                <a:solidFill>
                  <a:srgbClr val="FFFFFF"/>
                </a:solidFill>
                <a:latin typeface="HK Modular"/>
                <a:ea typeface="HK Modular"/>
                <a:cs typeface="HK Modular"/>
                <a:sym typeface="HK Modular"/>
              </a:rPr>
              <a:t>Why you need MCP ?</a:t>
            </a:r>
          </a:p>
        </p:txBody>
      </p:sp>
      <p:sp>
        <p:nvSpPr>
          <p:cNvPr id="4" name="TextBox 4"/>
          <p:cNvSpPr txBox="1"/>
          <p:nvPr/>
        </p:nvSpPr>
        <p:spPr>
          <a:xfrm>
            <a:off x="1233607" y="2482552"/>
            <a:ext cx="11367254" cy="2599182"/>
          </a:xfrm>
          <a:prstGeom prst="rect">
            <a:avLst/>
          </a:prstGeom>
        </p:spPr>
        <p:txBody>
          <a:bodyPr lIns="0" tIns="0" rIns="0" bIns="0" rtlCol="0" anchor="t">
            <a:spAutoFit/>
          </a:bodyPr>
          <a:lstStyle/>
          <a:p>
            <a:pPr algn="l">
              <a:lnSpc>
                <a:spcPts val="5124"/>
              </a:lnSpc>
              <a:spcBef>
                <a:spcPct val="0"/>
              </a:spcBef>
            </a:pPr>
            <a:r>
              <a:rPr lang="en-US" sz="4200" b="1">
                <a:solidFill>
                  <a:srgbClr val="000000"/>
                </a:solidFill>
                <a:latin typeface="Lato Bold"/>
                <a:ea typeface="Lato Bold"/>
                <a:cs typeface="Lato Bold"/>
                <a:sym typeface="Lato Bold"/>
              </a:rPr>
              <a:t>MCP is like giving Cursor a walkie-talkie so it can talk to different experts (GitHub, Salesforce, Figma, etc.) and help you get things done faster.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36496-EF3C-ED18-195E-837F4695F7C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AF37573-623E-C905-4D46-5E3F3FFED48A}"/>
              </a:ext>
            </a:extLst>
          </p:cNvPr>
          <p:cNvSpPr/>
          <p:nvPr/>
        </p:nvSpPr>
        <p:spPr>
          <a:xfrm>
            <a:off x="12592613" y="476215"/>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a:extLst>
              <a:ext uri="{FF2B5EF4-FFF2-40B4-BE49-F238E27FC236}">
                <a16:creationId xmlns:a16="http://schemas.microsoft.com/office/drawing/2014/main" id="{8D23748C-9BE6-D4DD-6A73-C500D4CA0787}"/>
              </a:ext>
            </a:extLst>
          </p:cNvPr>
          <p:cNvSpPr txBox="1"/>
          <p:nvPr/>
        </p:nvSpPr>
        <p:spPr>
          <a:xfrm>
            <a:off x="1028700" y="738392"/>
            <a:ext cx="16043466" cy="965251"/>
          </a:xfrm>
          <a:prstGeom prst="rect">
            <a:avLst/>
          </a:prstGeom>
        </p:spPr>
        <p:txBody>
          <a:bodyPr lIns="0" tIns="0" rIns="0" bIns="0" rtlCol="0" anchor="t">
            <a:spAutoFit/>
          </a:bodyPr>
          <a:lstStyle/>
          <a:p>
            <a:pPr algn="l">
              <a:lnSpc>
                <a:spcPts val="7600"/>
              </a:lnSpc>
            </a:pPr>
            <a:r>
              <a:rPr lang="en-US" sz="6230">
                <a:solidFill>
                  <a:srgbClr val="FFFFFF"/>
                </a:solidFill>
                <a:latin typeface="HK Modular"/>
                <a:ea typeface="HK Modular"/>
                <a:cs typeface="HK Modular"/>
                <a:sym typeface="HK Modular"/>
              </a:rPr>
              <a:t>Why you need MCP ?</a:t>
            </a:r>
          </a:p>
        </p:txBody>
      </p:sp>
      <p:sp>
        <p:nvSpPr>
          <p:cNvPr id="4" name="TextBox 4">
            <a:extLst>
              <a:ext uri="{FF2B5EF4-FFF2-40B4-BE49-F238E27FC236}">
                <a16:creationId xmlns:a16="http://schemas.microsoft.com/office/drawing/2014/main" id="{8FED4C53-037B-DB83-D3C5-C97AA5ED7703}"/>
              </a:ext>
            </a:extLst>
          </p:cNvPr>
          <p:cNvSpPr txBox="1"/>
          <p:nvPr/>
        </p:nvSpPr>
        <p:spPr>
          <a:xfrm>
            <a:off x="1215834" y="719342"/>
            <a:ext cx="11367254" cy="1354217"/>
          </a:xfrm>
          <a:prstGeom prst="rect">
            <a:avLst/>
          </a:prstGeom>
        </p:spPr>
        <p:txBody>
          <a:bodyPr lIns="0" tIns="0" rIns="0" bIns="0" rtlCol="0" anchor="t">
            <a:spAutoFit/>
          </a:bodyPr>
          <a:lstStyle/>
          <a:p>
            <a:r>
              <a:rPr lang="en-US" sz="4400" b="1" dirty="0"/>
              <a:t>🖥️ Shell Commands (Traditional Way) vs TypeScript</a:t>
            </a:r>
          </a:p>
        </p:txBody>
      </p:sp>
      <p:pic>
        <p:nvPicPr>
          <p:cNvPr id="9" name="Picture 8">
            <a:extLst>
              <a:ext uri="{FF2B5EF4-FFF2-40B4-BE49-F238E27FC236}">
                <a16:creationId xmlns:a16="http://schemas.microsoft.com/office/drawing/2014/main" id="{7A90B788-332F-5FCF-4C1F-1AFAEB354E4C}"/>
              </a:ext>
            </a:extLst>
          </p:cNvPr>
          <p:cNvPicPr>
            <a:picLocks noChangeAspect="1"/>
          </p:cNvPicPr>
          <p:nvPr/>
        </p:nvPicPr>
        <p:blipFill>
          <a:blip r:embed="rId4"/>
          <a:stretch>
            <a:fillRect/>
          </a:stretch>
        </p:blipFill>
        <p:spPr>
          <a:xfrm>
            <a:off x="685800" y="2543140"/>
            <a:ext cx="7829607" cy="3790978"/>
          </a:xfrm>
          <a:prstGeom prst="rect">
            <a:avLst/>
          </a:prstGeom>
          <a:ln w="228600" cap="sq" cmpd="thickThin">
            <a:solidFill>
              <a:srgbClr val="000000"/>
            </a:solidFill>
            <a:prstDash val="solid"/>
            <a:miter lim="800000"/>
          </a:ln>
          <a:effectLst>
            <a:innerShdw blurRad="76200">
              <a:srgbClr val="000000"/>
            </a:innerShdw>
          </a:effectLst>
        </p:spPr>
      </p:pic>
      <p:pic>
        <p:nvPicPr>
          <p:cNvPr id="11" name="Picture 10">
            <a:extLst>
              <a:ext uri="{FF2B5EF4-FFF2-40B4-BE49-F238E27FC236}">
                <a16:creationId xmlns:a16="http://schemas.microsoft.com/office/drawing/2014/main" id="{62B0EECC-5E89-36A1-44BD-7BC57C584DDF}"/>
              </a:ext>
            </a:extLst>
          </p:cNvPr>
          <p:cNvPicPr>
            <a:picLocks noChangeAspect="1"/>
          </p:cNvPicPr>
          <p:nvPr/>
        </p:nvPicPr>
        <p:blipFill>
          <a:blip r:embed="rId5"/>
          <a:stretch>
            <a:fillRect/>
          </a:stretch>
        </p:blipFill>
        <p:spPr>
          <a:xfrm>
            <a:off x="9280659" y="5067300"/>
            <a:ext cx="7791507" cy="4733960"/>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928557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747870" y="30861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28700" y="738392"/>
            <a:ext cx="15082046" cy="2889301"/>
          </a:xfrm>
          <a:prstGeom prst="rect">
            <a:avLst/>
          </a:prstGeom>
        </p:spPr>
        <p:txBody>
          <a:bodyPr lIns="0" tIns="0" rIns="0" bIns="0" rtlCol="0" anchor="t">
            <a:spAutoFit/>
          </a:bodyPr>
          <a:lstStyle/>
          <a:p>
            <a:pPr algn="l">
              <a:lnSpc>
                <a:spcPts val="7600"/>
              </a:lnSpc>
            </a:pPr>
            <a:r>
              <a:rPr lang="en-US" sz="6230">
                <a:solidFill>
                  <a:srgbClr val="FFFFFF"/>
                </a:solidFill>
                <a:latin typeface="HK Modular"/>
                <a:ea typeface="HK Modular"/>
                <a:cs typeface="HK Modular"/>
                <a:sym typeface="HK Modular"/>
              </a:rPr>
              <a:t>Why do we need MCP in Cursor?</a:t>
            </a:r>
          </a:p>
          <a:p>
            <a:pPr algn="l">
              <a:lnSpc>
                <a:spcPts val="7600"/>
              </a:lnSpc>
            </a:pPr>
            <a:endParaRPr lang="en-US" sz="6230">
              <a:solidFill>
                <a:srgbClr val="FFFFFF"/>
              </a:solidFill>
              <a:latin typeface="HK Modular"/>
              <a:ea typeface="HK Modular"/>
              <a:cs typeface="HK Modular"/>
              <a:sym typeface="HK Modular"/>
            </a:endParaRPr>
          </a:p>
        </p:txBody>
      </p:sp>
      <p:sp>
        <p:nvSpPr>
          <p:cNvPr id="4" name="TextBox 4"/>
          <p:cNvSpPr txBox="1"/>
          <p:nvPr/>
        </p:nvSpPr>
        <p:spPr>
          <a:xfrm>
            <a:off x="1028700" y="3199716"/>
            <a:ext cx="15718241" cy="5416868"/>
          </a:xfrm>
          <a:prstGeom prst="rect">
            <a:avLst/>
          </a:prstGeom>
        </p:spPr>
        <p:txBody>
          <a:bodyPr lIns="0" tIns="0" rIns="0" bIns="0" rtlCol="0" anchor="t">
            <a:spAutoFit/>
          </a:bodyPr>
          <a:lstStyle/>
          <a:p>
            <a:r>
              <a:rPr lang="en-US" sz="4400" dirty="0"/>
              <a:t>The </a:t>
            </a:r>
            <a:r>
              <a:rPr lang="en-US" sz="4400" b="1" dirty="0"/>
              <a:t>Salesforce DX MCP Server</a:t>
            </a:r>
            <a:r>
              <a:rPr lang="en-US" sz="4400" dirty="0"/>
              <a:t> is like a “bridge” that lets </a:t>
            </a:r>
            <a:r>
              <a:rPr lang="en-US" sz="4400" b="1" dirty="0"/>
              <a:t>AI tools (like Cursor)</a:t>
            </a:r>
            <a:r>
              <a:rPr lang="en-US" sz="4400" dirty="0"/>
              <a:t> safely talk to Salesforce orgs.</a:t>
            </a:r>
          </a:p>
          <a:p>
            <a:r>
              <a:rPr lang="en-US" sz="4400" dirty="0"/>
              <a:t>Normally, Cursor would just run Salesforce CLI (</a:t>
            </a:r>
            <a:r>
              <a:rPr lang="en-US" dirty="0"/>
              <a:t>sf</a:t>
            </a:r>
            <a:r>
              <a:rPr lang="en-US" sz="4400" dirty="0"/>
              <a:t>) commands in your terminal. But this MCP server is a </a:t>
            </a:r>
            <a:r>
              <a:rPr lang="en-US" sz="4400" b="1" dirty="0"/>
              <a:t>special Salesforce-built version</a:t>
            </a:r>
            <a:r>
              <a:rPr lang="en-US" sz="4400" dirty="0"/>
              <a:t> that:</a:t>
            </a:r>
          </a:p>
          <a:p>
            <a:r>
              <a:rPr lang="en-US" sz="4400" dirty="0"/>
              <a:t>Talks directly to Salesforce using TypeScript libraries (not shell commands).</a:t>
            </a:r>
          </a:p>
          <a:p>
            <a:r>
              <a:rPr lang="en-US" sz="4400" dirty="0"/>
              <a:t>Gives you safer, more controlled access to your orgs.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0EE24BC0-A152-13CD-C7C1-0FC5370902A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25E0C63-C84B-89E6-571B-2120181A91B4}"/>
              </a:ext>
            </a:extLst>
          </p:cNvPr>
          <p:cNvSpPr/>
          <p:nvPr/>
        </p:nvSpPr>
        <p:spPr>
          <a:xfrm>
            <a:off x="12747870" y="30861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a:extLst>
              <a:ext uri="{FF2B5EF4-FFF2-40B4-BE49-F238E27FC236}">
                <a16:creationId xmlns:a16="http://schemas.microsoft.com/office/drawing/2014/main" id="{8778A548-FA19-5179-9E9A-DD42D5A0F0D9}"/>
              </a:ext>
            </a:extLst>
          </p:cNvPr>
          <p:cNvSpPr txBox="1"/>
          <p:nvPr/>
        </p:nvSpPr>
        <p:spPr>
          <a:xfrm>
            <a:off x="1028700" y="738392"/>
            <a:ext cx="15082046" cy="1865382"/>
          </a:xfrm>
          <a:prstGeom prst="rect">
            <a:avLst/>
          </a:prstGeom>
        </p:spPr>
        <p:txBody>
          <a:bodyPr lIns="0" tIns="0" rIns="0" bIns="0" rtlCol="0" anchor="t">
            <a:spAutoFit/>
          </a:bodyPr>
          <a:lstStyle/>
          <a:p>
            <a:pPr algn="l">
              <a:lnSpc>
                <a:spcPts val="7600"/>
              </a:lnSpc>
            </a:pPr>
            <a:r>
              <a:rPr lang="en-US" sz="6230" dirty="0">
                <a:solidFill>
                  <a:srgbClr val="FFFFFF"/>
                </a:solidFill>
                <a:latin typeface="HK Modular"/>
                <a:ea typeface="HK Modular"/>
                <a:cs typeface="HK Modular"/>
                <a:sym typeface="HK Modular"/>
              </a:rPr>
              <a:t>Key Features of MCP</a:t>
            </a:r>
          </a:p>
          <a:p>
            <a:pPr algn="l">
              <a:lnSpc>
                <a:spcPts val="7600"/>
              </a:lnSpc>
            </a:pPr>
            <a:endParaRPr lang="en-US" sz="6230" dirty="0">
              <a:solidFill>
                <a:srgbClr val="FFFFFF"/>
              </a:solidFill>
              <a:latin typeface="HK Modular"/>
              <a:ea typeface="HK Modular"/>
              <a:cs typeface="HK Modular"/>
              <a:sym typeface="HK Modular"/>
            </a:endParaRPr>
          </a:p>
        </p:txBody>
      </p:sp>
      <p:sp>
        <p:nvSpPr>
          <p:cNvPr id="4" name="TextBox 4">
            <a:extLst>
              <a:ext uri="{FF2B5EF4-FFF2-40B4-BE49-F238E27FC236}">
                <a16:creationId xmlns:a16="http://schemas.microsoft.com/office/drawing/2014/main" id="{F5D6F2EB-4312-A8AB-239C-4D0612B80DA6}"/>
              </a:ext>
            </a:extLst>
          </p:cNvPr>
          <p:cNvSpPr txBox="1"/>
          <p:nvPr/>
        </p:nvSpPr>
        <p:spPr>
          <a:xfrm>
            <a:off x="1143000" y="2705100"/>
            <a:ext cx="15718241" cy="6924973"/>
          </a:xfrm>
          <a:prstGeom prst="rect">
            <a:avLst/>
          </a:prstGeom>
        </p:spPr>
        <p:txBody>
          <a:bodyPr lIns="0" tIns="0" rIns="0" bIns="0" rtlCol="0" anchor="t">
            <a:spAutoFit/>
          </a:bodyPr>
          <a:lstStyle/>
          <a:p>
            <a:pPr marL="571500" indent="-571500">
              <a:buFont typeface="Wingdings" panose="05000000000000000000" pitchFamily="2" charset="2"/>
              <a:buChar char="§"/>
            </a:pPr>
            <a:r>
              <a:rPr lang="en-US" sz="5400" b="1" u="sng" dirty="0">
                <a:solidFill>
                  <a:schemeClr val="bg1"/>
                </a:solidFill>
              </a:rPr>
              <a:t>Direct Interaction</a:t>
            </a:r>
          </a:p>
          <a:p>
            <a:r>
              <a:rPr lang="en-US" sz="3600" dirty="0"/>
              <a:t>→ The AI doesn’t just suggest code — it can actually run Salesforce actions like deploy, run tests, query records, etc.</a:t>
            </a:r>
          </a:p>
          <a:p>
            <a:pPr marL="571500" indent="-571500">
              <a:buFont typeface="Wingdings" panose="05000000000000000000" pitchFamily="2" charset="2"/>
              <a:buChar char="§"/>
            </a:pPr>
            <a:endParaRPr lang="en-US" sz="3600" dirty="0"/>
          </a:p>
          <a:p>
            <a:pPr marL="571500" indent="-571500">
              <a:buFont typeface="Wingdings" panose="05000000000000000000" pitchFamily="2" charset="2"/>
              <a:buChar char="§"/>
            </a:pPr>
            <a:r>
              <a:rPr lang="en-US" sz="5400" b="1" u="sng" dirty="0">
                <a:solidFill>
                  <a:schemeClr val="bg1"/>
                </a:solidFill>
              </a:rPr>
              <a:t>Secure (No plain text secrets)</a:t>
            </a:r>
          </a:p>
          <a:p>
            <a:r>
              <a:rPr lang="en-US" sz="3600" dirty="0"/>
              <a:t>→ Instead of making you paste tokens into config files, it uses your already-authenticated Salesforce CLI login (encrypted).</a:t>
            </a:r>
          </a:p>
          <a:p>
            <a:pPr marL="571500" indent="-571500">
              <a:buFont typeface="Wingdings" panose="05000000000000000000" pitchFamily="2" charset="2"/>
              <a:buChar char="§"/>
            </a:pPr>
            <a:endParaRPr lang="en-US" sz="3600" dirty="0"/>
          </a:p>
          <a:p>
            <a:pPr marL="571500" indent="-571500">
              <a:buFont typeface="Wingdings" panose="05000000000000000000" pitchFamily="2" charset="2"/>
              <a:buChar char="§"/>
            </a:pPr>
            <a:r>
              <a:rPr lang="en-US" sz="5400" b="1" u="sng" dirty="0">
                <a:solidFill>
                  <a:schemeClr val="bg1"/>
                </a:solidFill>
              </a:rPr>
              <a:t>Granular Access Control</a:t>
            </a:r>
          </a:p>
          <a:p>
            <a:r>
              <a:rPr lang="en-US" sz="3600" dirty="0"/>
              <a:t>→ You choose exactly which orgs the MCP server can touch (via allowlisting).</a:t>
            </a:r>
          </a:p>
          <a:p>
            <a:r>
              <a:rPr lang="en-US" sz="3600" dirty="0"/>
              <a:t>→ For example, you could allow </a:t>
            </a:r>
            <a:r>
              <a:rPr lang="en-US" sz="3600" dirty="0" err="1"/>
              <a:t>DevSandbox</a:t>
            </a:r>
            <a:r>
              <a:rPr lang="en-US" sz="3600" dirty="0"/>
              <a:t> but block Production.</a:t>
            </a:r>
          </a:p>
        </p:txBody>
      </p:sp>
    </p:spTree>
    <p:extLst>
      <p:ext uri="{BB962C8B-B14F-4D97-AF65-F5344CB8AC3E}">
        <p14:creationId xmlns:p14="http://schemas.microsoft.com/office/powerpoint/2010/main" val="800535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8BF11D89-BE81-9134-4EAC-07FACEDA5C2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6637194-984B-AD96-17E9-54EA4D7DB697}"/>
              </a:ext>
            </a:extLst>
          </p:cNvPr>
          <p:cNvSpPr/>
          <p:nvPr/>
        </p:nvSpPr>
        <p:spPr>
          <a:xfrm>
            <a:off x="12747870" y="30861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a:extLst>
              <a:ext uri="{FF2B5EF4-FFF2-40B4-BE49-F238E27FC236}">
                <a16:creationId xmlns:a16="http://schemas.microsoft.com/office/drawing/2014/main" id="{073432C9-7551-9F89-A0E5-83416DB5328C}"/>
              </a:ext>
            </a:extLst>
          </p:cNvPr>
          <p:cNvSpPr txBox="1"/>
          <p:nvPr/>
        </p:nvSpPr>
        <p:spPr>
          <a:xfrm>
            <a:off x="1028700" y="738392"/>
            <a:ext cx="15082046" cy="1865382"/>
          </a:xfrm>
          <a:prstGeom prst="rect">
            <a:avLst/>
          </a:prstGeom>
        </p:spPr>
        <p:txBody>
          <a:bodyPr lIns="0" tIns="0" rIns="0" bIns="0" rtlCol="0" anchor="t">
            <a:spAutoFit/>
          </a:bodyPr>
          <a:lstStyle/>
          <a:p>
            <a:pPr algn="l">
              <a:lnSpc>
                <a:spcPts val="7600"/>
              </a:lnSpc>
            </a:pPr>
            <a:r>
              <a:rPr lang="en-US" sz="6230" dirty="0">
                <a:solidFill>
                  <a:srgbClr val="FFFFFF"/>
                </a:solidFill>
                <a:latin typeface="HK Modular"/>
                <a:ea typeface="HK Modular"/>
                <a:cs typeface="HK Modular"/>
                <a:sym typeface="HK Modular"/>
              </a:rPr>
              <a:t>Security Features</a:t>
            </a:r>
          </a:p>
          <a:p>
            <a:pPr algn="l">
              <a:lnSpc>
                <a:spcPts val="7600"/>
              </a:lnSpc>
            </a:pPr>
            <a:endParaRPr lang="en-US" sz="6230" dirty="0">
              <a:solidFill>
                <a:srgbClr val="FFFFFF"/>
              </a:solidFill>
              <a:latin typeface="HK Modular"/>
              <a:ea typeface="HK Modular"/>
              <a:cs typeface="HK Modular"/>
              <a:sym typeface="HK Modular"/>
            </a:endParaRPr>
          </a:p>
        </p:txBody>
      </p:sp>
      <p:sp>
        <p:nvSpPr>
          <p:cNvPr id="7" name="TextBox 6">
            <a:extLst>
              <a:ext uri="{FF2B5EF4-FFF2-40B4-BE49-F238E27FC236}">
                <a16:creationId xmlns:a16="http://schemas.microsoft.com/office/drawing/2014/main" id="{6F05405E-9BFD-E210-0A3E-B1B510D5AFF9}"/>
              </a:ext>
            </a:extLst>
          </p:cNvPr>
          <p:cNvSpPr txBox="1"/>
          <p:nvPr/>
        </p:nvSpPr>
        <p:spPr>
          <a:xfrm>
            <a:off x="457200" y="1790700"/>
            <a:ext cx="17221200" cy="8217634"/>
          </a:xfrm>
          <a:prstGeom prst="rect">
            <a:avLst/>
          </a:prstGeom>
          <a:noFill/>
        </p:spPr>
        <p:txBody>
          <a:bodyPr wrap="square">
            <a:spAutoFit/>
          </a:bodyPr>
          <a:lstStyle/>
          <a:p>
            <a:r>
              <a:rPr lang="en-US" sz="3600" b="1" u="sng" dirty="0">
                <a:solidFill>
                  <a:schemeClr val="bg1"/>
                </a:solidFill>
              </a:rPr>
              <a:t>No Shell Commands</a:t>
            </a:r>
          </a:p>
          <a:p>
            <a:r>
              <a:rPr lang="en-US" sz="3200" dirty="0"/>
              <a:t>→ It doesn’t just run sf CLI commands in your terminal.</a:t>
            </a:r>
          </a:p>
          <a:p>
            <a:r>
              <a:rPr lang="en-US" sz="3200" dirty="0"/>
              <a:t>→ Instead, it calls Salesforce APIs directly using TypeScript libraries.</a:t>
            </a:r>
          </a:p>
          <a:p>
            <a:r>
              <a:rPr lang="en-US" sz="3200" dirty="0"/>
              <a:t>→ This makes it faster and much safer (less chance of hacking or running unwanted code).</a:t>
            </a:r>
          </a:p>
          <a:p>
            <a:endParaRPr lang="en-US" sz="3200" dirty="0"/>
          </a:p>
          <a:p>
            <a:r>
              <a:rPr lang="en-US" sz="3600" b="1" u="sng" dirty="0">
                <a:solidFill>
                  <a:schemeClr val="bg1"/>
                </a:solidFill>
              </a:rPr>
              <a:t>No Secrets in Config Files</a:t>
            </a:r>
          </a:p>
          <a:p>
            <a:r>
              <a:rPr lang="en-US" sz="3200" dirty="0"/>
              <a:t>→ You don’t need to paste usernames, passwords, or tokens into </a:t>
            </a:r>
            <a:r>
              <a:rPr lang="en-US" sz="3200" dirty="0" err="1"/>
              <a:t>mcp.json</a:t>
            </a:r>
            <a:r>
              <a:rPr lang="en-US" sz="3200" dirty="0"/>
              <a:t>.</a:t>
            </a:r>
          </a:p>
          <a:p>
            <a:r>
              <a:rPr lang="en-US" sz="3200" dirty="0"/>
              <a:t>→ It reuses the encrypted login sessions you already have from Salesforce CLI.</a:t>
            </a:r>
          </a:p>
          <a:p>
            <a:endParaRPr lang="en-US" sz="3200" dirty="0"/>
          </a:p>
          <a:p>
            <a:r>
              <a:rPr lang="en-US" sz="3600" b="1" u="sng" dirty="0">
                <a:solidFill>
                  <a:schemeClr val="bg1"/>
                </a:solidFill>
              </a:rPr>
              <a:t>Tokens Stay Hidden</a:t>
            </a:r>
          </a:p>
          <a:p>
            <a:r>
              <a:rPr lang="en-US" sz="3200" dirty="0"/>
              <a:t>→ MCP tools never pass around your real access tokens.</a:t>
            </a:r>
          </a:p>
          <a:p>
            <a:r>
              <a:rPr lang="en-US" sz="3200" dirty="0"/>
              <a:t>→ They just use usernames/aliases (like </a:t>
            </a:r>
            <a:r>
              <a:rPr lang="en-US" sz="3200" dirty="0" err="1"/>
              <a:t>myDev</a:t>
            </a:r>
            <a:r>
              <a:rPr lang="en-US" sz="3200" dirty="0"/>
              <a:t>) to know which org to talk to.</a:t>
            </a:r>
          </a:p>
          <a:p>
            <a:endParaRPr lang="en-US" sz="3200" dirty="0"/>
          </a:p>
          <a:p>
            <a:r>
              <a:rPr lang="en-US" sz="3600" b="1" u="sng" dirty="0">
                <a:solidFill>
                  <a:schemeClr val="bg1"/>
                </a:solidFill>
              </a:rPr>
              <a:t>Org Allowlisting</a:t>
            </a:r>
          </a:p>
          <a:p>
            <a:r>
              <a:rPr lang="en-US" sz="3200" dirty="0"/>
              <a:t>→ You explicitly pick which orgs can be accessed by MCP.</a:t>
            </a:r>
          </a:p>
          <a:p>
            <a:r>
              <a:rPr lang="en-US" sz="3200" dirty="0"/>
              <a:t>→ Even if you’re logged into 5 orgs, MCP might only be allowed to touch 1 or 2.</a:t>
            </a:r>
          </a:p>
        </p:txBody>
      </p:sp>
    </p:spTree>
    <p:extLst>
      <p:ext uri="{BB962C8B-B14F-4D97-AF65-F5344CB8AC3E}">
        <p14:creationId xmlns:p14="http://schemas.microsoft.com/office/powerpoint/2010/main" val="2844156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3776570" y="4953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28700" y="738392"/>
            <a:ext cx="15082046" cy="2889301"/>
          </a:xfrm>
          <a:prstGeom prst="rect">
            <a:avLst/>
          </a:prstGeom>
        </p:spPr>
        <p:txBody>
          <a:bodyPr lIns="0" tIns="0" rIns="0" bIns="0" rtlCol="0" anchor="t">
            <a:spAutoFit/>
          </a:bodyPr>
          <a:lstStyle/>
          <a:p>
            <a:pPr algn="l">
              <a:lnSpc>
                <a:spcPts val="7600"/>
              </a:lnSpc>
            </a:pPr>
            <a:r>
              <a:rPr lang="en-US" sz="6230">
                <a:solidFill>
                  <a:srgbClr val="FFFFFF"/>
                </a:solidFill>
                <a:latin typeface="HK Modular"/>
                <a:ea typeface="HK Modular"/>
                <a:cs typeface="HK Modular"/>
                <a:sym typeface="HK Modular"/>
              </a:rPr>
              <a:t>Why do we need MCP in Cursor?</a:t>
            </a:r>
          </a:p>
          <a:p>
            <a:pPr algn="l">
              <a:lnSpc>
                <a:spcPts val="7600"/>
              </a:lnSpc>
            </a:pPr>
            <a:endParaRPr lang="en-US" sz="6230">
              <a:solidFill>
                <a:srgbClr val="FFFFFF"/>
              </a:solidFill>
              <a:latin typeface="HK Modular"/>
              <a:ea typeface="HK Modular"/>
              <a:cs typeface="HK Modular"/>
              <a:sym typeface="HK Modular"/>
            </a:endParaRPr>
          </a:p>
        </p:txBody>
      </p:sp>
      <p:sp>
        <p:nvSpPr>
          <p:cNvPr id="4" name="TextBox 4"/>
          <p:cNvSpPr txBox="1"/>
          <p:nvPr/>
        </p:nvSpPr>
        <p:spPr>
          <a:xfrm>
            <a:off x="1009650" y="3656268"/>
            <a:ext cx="15718241" cy="5837432"/>
          </a:xfrm>
          <a:prstGeom prst="rect">
            <a:avLst/>
          </a:prstGeom>
        </p:spPr>
        <p:txBody>
          <a:bodyPr lIns="0" tIns="0" rIns="0" bIns="0" rtlCol="0" anchor="t">
            <a:spAutoFit/>
          </a:bodyPr>
          <a:lstStyle/>
          <a:p>
            <a:pPr algn="l">
              <a:lnSpc>
                <a:spcPts val="5124"/>
              </a:lnSpc>
            </a:pPr>
            <a:r>
              <a:rPr lang="en-US" sz="4200" u="sng" dirty="0">
                <a:solidFill>
                  <a:srgbClr val="FFFFFF"/>
                </a:solidFill>
                <a:latin typeface="Lato Bold"/>
                <a:ea typeface="Lato Bold"/>
                <a:cs typeface="Lato Bold"/>
                <a:sym typeface="Lato Bold"/>
              </a:rPr>
              <a:t>Safe &amp; Controlled</a:t>
            </a:r>
          </a:p>
          <a:p>
            <a:pPr algn="l">
              <a:lnSpc>
                <a:spcPts val="5124"/>
              </a:lnSpc>
            </a:pPr>
            <a:endParaRPr lang="en-US" sz="4200" u="sng" dirty="0">
              <a:solidFill>
                <a:srgbClr val="FFFFFF"/>
              </a:solidFill>
              <a:latin typeface="Lato Bold"/>
              <a:ea typeface="Lato Bold"/>
              <a:cs typeface="Lato Bold"/>
              <a:sym typeface="Lato Bold"/>
            </a:endParaRPr>
          </a:p>
          <a:p>
            <a:pPr marL="1813560" lvl="2" indent="-604520" algn="just">
              <a:lnSpc>
                <a:spcPts val="5124"/>
              </a:lnSpc>
              <a:buFont typeface="Arial"/>
              <a:buChar char="⚬"/>
            </a:pPr>
            <a:r>
              <a:rPr lang="en-US" sz="4200" dirty="0">
                <a:solidFill>
                  <a:srgbClr val="000000"/>
                </a:solidFill>
                <a:latin typeface="Lato Bold"/>
                <a:ea typeface="Lato Bold"/>
                <a:cs typeface="Lato Bold"/>
                <a:sym typeface="Lato Bold"/>
              </a:rPr>
              <a:t>The Salesforce DX MCP Server is a safer, smarter, and more controlled way for AI tools like Cursor to interact with Salesforce orgs.</a:t>
            </a:r>
          </a:p>
          <a:p>
            <a:pPr marL="1813560" lvl="2" indent="-604520" algn="just">
              <a:lnSpc>
                <a:spcPts val="5124"/>
              </a:lnSpc>
              <a:buFont typeface="Arial"/>
              <a:buChar char="⚬"/>
            </a:pPr>
            <a:r>
              <a:rPr lang="en-US" sz="4200" dirty="0">
                <a:solidFill>
                  <a:srgbClr val="000000"/>
                </a:solidFill>
                <a:latin typeface="Lato Bold"/>
                <a:ea typeface="Lato Bold"/>
                <a:cs typeface="Lato Bold"/>
                <a:sym typeface="Lato Bold"/>
              </a:rPr>
              <a:t>Instead of running shell commands, it uses direct libraries.</a:t>
            </a:r>
          </a:p>
          <a:p>
            <a:pPr marL="1813560" lvl="2" indent="-604520" algn="just">
              <a:lnSpc>
                <a:spcPts val="5124"/>
              </a:lnSpc>
              <a:buFont typeface="Arial"/>
              <a:buChar char="⚬"/>
            </a:pPr>
            <a:r>
              <a:rPr lang="en-US" sz="4200" dirty="0">
                <a:solidFill>
                  <a:srgbClr val="000000"/>
                </a:solidFill>
                <a:latin typeface="Lato Bold"/>
                <a:ea typeface="Lato Bold"/>
                <a:cs typeface="Lato Bold"/>
                <a:sym typeface="Lato Bold"/>
              </a:rPr>
              <a:t>Instead of exposing secrets, it uses your existing encrypted auth.</a:t>
            </a:r>
          </a:p>
          <a:p>
            <a:pPr marL="1813560" lvl="2" indent="-604520" algn="just">
              <a:lnSpc>
                <a:spcPts val="5124"/>
              </a:lnSpc>
              <a:buFont typeface="Arial"/>
              <a:buChar char="⚬"/>
            </a:pPr>
            <a:r>
              <a:rPr lang="en-US" sz="4200" dirty="0">
                <a:solidFill>
                  <a:srgbClr val="000000"/>
                </a:solidFill>
                <a:latin typeface="Lato Bold"/>
                <a:ea typeface="Lato Bold"/>
                <a:cs typeface="Lato Bold"/>
                <a:sym typeface="Lato Bold"/>
              </a:rPr>
              <a:t>Instead of having unlimited access, it uses org allowlisting.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9BA424AE-8B99-39D6-0ABC-847F1DD7597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9B52EF4-6A07-4756-3FDE-A57D7E7FB262}"/>
              </a:ext>
            </a:extLst>
          </p:cNvPr>
          <p:cNvSpPr/>
          <p:nvPr/>
        </p:nvSpPr>
        <p:spPr>
          <a:xfrm>
            <a:off x="13776570" y="4953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a:extLst>
              <a:ext uri="{FF2B5EF4-FFF2-40B4-BE49-F238E27FC236}">
                <a16:creationId xmlns:a16="http://schemas.microsoft.com/office/drawing/2014/main" id="{BE3863A3-9542-2CD2-4BF5-29130DA924AA}"/>
              </a:ext>
            </a:extLst>
          </p:cNvPr>
          <p:cNvSpPr txBox="1"/>
          <p:nvPr/>
        </p:nvSpPr>
        <p:spPr>
          <a:xfrm>
            <a:off x="1028700" y="738392"/>
            <a:ext cx="15082046" cy="2889301"/>
          </a:xfrm>
          <a:prstGeom prst="rect">
            <a:avLst/>
          </a:prstGeom>
        </p:spPr>
        <p:txBody>
          <a:bodyPr lIns="0" tIns="0" rIns="0" bIns="0" rtlCol="0" anchor="t">
            <a:spAutoFit/>
          </a:bodyPr>
          <a:lstStyle/>
          <a:p>
            <a:pPr algn="l">
              <a:lnSpc>
                <a:spcPts val="7600"/>
              </a:lnSpc>
            </a:pPr>
            <a:r>
              <a:rPr lang="en-US" sz="6230">
                <a:solidFill>
                  <a:srgbClr val="FFFFFF"/>
                </a:solidFill>
                <a:latin typeface="HK Modular"/>
                <a:ea typeface="HK Modular"/>
                <a:cs typeface="HK Modular"/>
                <a:sym typeface="HK Modular"/>
              </a:rPr>
              <a:t>Why do we need MCP in Cursor?</a:t>
            </a:r>
          </a:p>
          <a:p>
            <a:pPr algn="l">
              <a:lnSpc>
                <a:spcPts val="7600"/>
              </a:lnSpc>
            </a:pPr>
            <a:endParaRPr lang="en-US" sz="6230">
              <a:solidFill>
                <a:srgbClr val="FFFFFF"/>
              </a:solidFill>
              <a:latin typeface="HK Modular"/>
              <a:ea typeface="HK Modular"/>
              <a:cs typeface="HK Modular"/>
              <a:sym typeface="HK Modular"/>
            </a:endParaRPr>
          </a:p>
        </p:txBody>
      </p:sp>
      <p:pic>
        <p:nvPicPr>
          <p:cNvPr id="6" name="Picture 5" descr="A diagram of a software program&#10;&#10;AI-generated content may be incorrect.">
            <a:extLst>
              <a:ext uri="{FF2B5EF4-FFF2-40B4-BE49-F238E27FC236}">
                <a16:creationId xmlns:a16="http://schemas.microsoft.com/office/drawing/2014/main" id="{5E3192DE-6876-2E2C-5D95-B7EC4F6070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1000" y="3314700"/>
            <a:ext cx="9048006" cy="5394971"/>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587605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E2A44-BB97-5D1A-BEF2-2FA89C6DCBD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49F2FF0-9C29-1DD6-5061-68432E5F4A7D}"/>
              </a:ext>
            </a:extLst>
          </p:cNvPr>
          <p:cNvSpPr/>
          <p:nvPr/>
        </p:nvSpPr>
        <p:spPr>
          <a:xfrm>
            <a:off x="13776570" y="4953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a:extLst>
              <a:ext uri="{FF2B5EF4-FFF2-40B4-BE49-F238E27FC236}">
                <a16:creationId xmlns:a16="http://schemas.microsoft.com/office/drawing/2014/main" id="{90988A35-7EF0-3ED5-1521-37282D863143}"/>
              </a:ext>
            </a:extLst>
          </p:cNvPr>
          <p:cNvSpPr txBox="1"/>
          <p:nvPr/>
        </p:nvSpPr>
        <p:spPr>
          <a:xfrm>
            <a:off x="1028700" y="276225"/>
            <a:ext cx="15082046" cy="2840008"/>
          </a:xfrm>
          <a:prstGeom prst="rect">
            <a:avLst/>
          </a:prstGeom>
        </p:spPr>
        <p:txBody>
          <a:bodyPr lIns="0" tIns="0" rIns="0" bIns="0" rtlCol="0" anchor="t">
            <a:spAutoFit/>
          </a:bodyPr>
          <a:lstStyle/>
          <a:p>
            <a:pPr algn="l">
              <a:lnSpc>
                <a:spcPts val="7600"/>
              </a:lnSpc>
            </a:pPr>
            <a:r>
              <a:rPr lang="en-US" sz="6230" dirty="0" err="1">
                <a:latin typeface="HK Modular"/>
                <a:ea typeface="HK Modular"/>
                <a:cs typeface="HK Modular"/>
                <a:sym typeface="HK Modular"/>
              </a:rPr>
              <a:t>MCP.json</a:t>
            </a:r>
            <a:r>
              <a:rPr lang="en-US" sz="6230" dirty="0">
                <a:latin typeface="HK Modular"/>
                <a:ea typeface="HK Modular"/>
                <a:cs typeface="HK Modular"/>
                <a:sym typeface="HK Modular"/>
              </a:rPr>
              <a:t> FILE</a:t>
            </a:r>
            <a:r>
              <a:rPr lang="en-US" sz="6230" dirty="0">
                <a:solidFill>
                  <a:srgbClr val="FFFFFF"/>
                </a:solidFill>
                <a:latin typeface="HK Modular"/>
                <a:ea typeface="HK Modular"/>
                <a:cs typeface="HK Modular"/>
                <a:sym typeface="HK Modular"/>
              </a:rPr>
              <a:t> we need MCP in Cursor?</a:t>
            </a:r>
          </a:p>
          <a:p>
            <a:pPr algn="l">
              <a:lnSpc>
                <a:spcPts val="7600"/>
              </a:lnSpc>
            </a:pPr>
            <a:endParaRPr lang="en-US" sz="6230" dirty="0">
              <a:solidFill>
                <a:srgbClr val="FFFFFF"/>
              </a:solidFill>
              <a:latin typeface="HK Modular"/>
              <a:ea typeface="HK Modular"/>
              <a:cs typeface="HK Modular"/>
              <a:sym typeface="HK Modular"/>
            </a:endParaRPr>
          </a:p>
        </p:txBody>
      </p:sp>
      <p:pic>
        <p:nvPicPr>
          <p:cNvPr id="6" name="Picture 5">
            <a:extLst>
              <a:ext uri="{FF2B5EF4-FFF2-40B4-BE49-F238E27FC236}">
                <a16:creationId xmlns:a16="http://schemas.microsoft.com/office/drawing/2014/main" id="{4702848B-D96B-89BC-B51B-10018AB1ED50}"/>
              </a:ext>
            </a:extLst>
          </p:cNvPr>
          <p:cNvPicPr>
            <a:picLocks noChangeAspect="1"/>
          </p:cNvPicPr>
          <p:nvPr/>
        </p:nvPicPr>
        <p:blipFill>
          <a:blip r:embed="rId4"/>
          <a:stretch>
            <a:fillRect/>
          </a:stretch>
        </p:blipFill>
        <p:spPr>
          <a:xfrm>
            <a:off x="2177254" y="1733901"/>
            <a:ext cx="11873462" cy="8286399"/>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207430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C271C-9794-EFA1-08CE-C527E536EB1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2AD8760-90D9-0D16-1300-6019EB4C2211}"/>
              </a:ext>
            </a:extLst>
          </p:cNvPr>
          <p:cNvSpPr/>
          <p:nvPr/>
        </p:nvSpPr>
        <p:spPr>
          <a:xfrm>
            <a:off x="13776570" y="4953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a:extLst>
              <a:ext uri="{FF2B5EF4-FFF2-40B4-BE49-F238E27FC236}">
                <a16:creationId xmlns:a16="http://schemas.microsoft.com/office/drawing/2014/main" id="{CEA19AEF-D6DC-541B-E858-254AA6B6DF45}"/>
              </a:ext>
            </a:extLst>
          </p:cNvPr>
          <p:cNvSpPr txBox="1"/>
          <p:nvPr/>
        </p:nvSpPr>
        <p:spPr>
          <a:xfrm>
            <a:off x="1028700" y="738392"/>
            <a:ext cx="15082046" cy="2840008"/>
          </a:xfrm>
          <a:prstGeom prst="rect">
            <a:avLst/>
          </a:prstGeom>
        </p:spPr>
        <p:txBody>
          <a:bodyPr lIns="0" tIns="0" rIns="0" bIns="0" rtlCol="0" anchor="t">
            <a:spAutoFit/>
          </a:bodyPr>
          <a:lstStyle/>
          <a:p>
            <a:pPr algn="l">
              <a:lnSpc>
                <a:spcPts val="7600"/>
              </a:lnSpc>
            </a:pPr>
            <a:r>
              <a:rPr lang="en-US" sz="6230" dirty="0" err="1">
                <a:latin typeface="HK Modular"/>
                <a:ea typeface="HK Modular"/>
                <a:cs typeface="HK Modular"/>
                <a:sym typeface="HK Modular"/>
              </a:rPr>
              <a:t>MCP.json</a:t>
            </a:r>
            <a:r>
              <a:rPr lang="en-US" sz="6230" dirty="0">
                <a:latin typeface="HK Modular"/>
                <a:ea typeface="HK Modular"/>
                <a:cs typeface="HK Modular"/>
                <a:sym typeface="HK Modular"/>
              </a:rPr>
              <a:t> FILE</a:t>
            </a:r>
            <a:r>
              <a:rPr lang="en-US" sz="6230" dirty="0">
                <a:solidFill>
                  <a:srgbClr val="FFFFFF"/>
                </a:solidFill>
                <a:latin typeface="HK Modular"/>
                <a:ea typeface="HK Modular"/>
                <a:cs typeface="HK Modular"/>
                <a:sym typeface="HK Modular"/>
              </a:rPr>
              <a:t> we need MCP in Cursor?</a:t>
            </a:r>
          </a:p>
          <a:p>
            <a:pPr algn="l">
              <a:lnSpc>
                <a:spcPts val="7600"/>
              </a:lnSpc>
            </a:pPr>
            <a:endParaRPr lang="en-US" sz="6230" dirty="0">
              <a:solidFill>
                <a:srgbClr val="FFFFFF"/>
              </a:solidFill>
              <a:latin typeface="HK Modular"/>
              <a:ea typeface="HK Modular"/>
              <a:cs typeface="HK Modular"/>
              <a:sym typeface="HK Modular"/>
            </a:endParaRPr>
          </a:p>
        </p:txBody>
      </p:sp>
      <p:graphicFrame>
        <p:nvGraphicFramePr>
          <p:cNvPr id="5" name="Table 4">
            <a:extLst>
              <a:ext uri="{FF2B5EF4-FFF2-40B4-BE49-F238E27FC236}">
                <a16:creationId xmlns:a16="http://schemas.microsoft.com/office/drawing/2014/main" id="{985BDEED-50D5-339F-753E-E9CB4DEDABCA}"/>
              </a:ext>
            </a:extLst>
          </p:cNvPr>
          <p:cNvGraphicFramePr>
            <a:graphicFrameLocks noGrp="1"/>
          </p:cNvGraphicFramePr>
          <p:nvPr>
            <p:extLst>
              <p:ext uri="{D42A27DB-BD31-4B8C-83A1-F6EECF244321}">
                <p14:modId xmlns:p14="http://schemas.microsoft.com/office/powerpoint/2010/main" val="752666693"/>
              </p:ext>
            </p:extLst>
          </p:nvPr>
        </p:nvGraphicFramePr>
        <p:xfrm>
          <a:off x="2667000" y="1790700"/>
          <a:ext cx="12725400" cy="7809117"/>
        </p:xfrm>
        <a:graphic>
          <a:graphicData uri="http://schemas.openxmlformats.org/drawingml/2006/table">
            <a:tbl>
              <a:tblPr firstRow="1" bandRow="1">
                <a:tableStyleId>{5C22544A-7EE6-4342-B048-85BDC9FD1C3A}</a:tableStyleId>
              </a:tblPr>
              <a:tblGrid>
                <a:gridCol w="4241800">
                  <a:extLst>
                    <a:ext uri="{9D8B030D-6E8A-4147-A177-3AD203B41FA5}">
                      <a16:colId xmlns:a16="http://schemas.microsoft.com/office/drawing/2014/main" val="2123796863"/>
                    </a:ext>
                  </a:extLst>
                </a:gridCol>
                <a:gridCol w="4241800">
                  <a:extLst>
                    <a:ext uri="{9D8B030D-6E8A-4147-A177-3AD203B41FA5}">
                      <a16:colId xmlns:a16="http://schemas.microsoft.com/office/drawing/2014/main" val="4201361157"/>
                    </a:ext>
                  </a:extLst>
                </a:gridCol>
                <a:gridCol w="4241800">
                  <a:extLst>
                    <a:ext uri="{9D8B030D-6E8A-4147-A177-3AD203B41FA5}">
                      <a16:colId xmlns:a16="http://schemas.microsoft.com/office/drawing/2014/main" val="1635272447"/>
                    </a:ext>
                  </a:extLst>
                </a:gridCol>
              </a:tblGrid>
              <a:tr h="411683">
                <a:tc>
                  <a:txBody>
                    <a:bodyPr/>
                    <a:lstStyle/>
                    <a:p>
                      <a:r>
                        <a:rPr lang="en-US" dirty="0"/>
                        <a:t>Flag Name</a:t>
                      </a:r>
                    </a:p>
                  </a:txBody>
                  <a:tcPr/>
                </a:tc>
                <a:tc>
                  <a:txBody>
                    <a:bodyPr/>
                    <a:lstStyle/>
                    <a:p>
                      <a:r>
                        <a:rPr lang="en-US" dirty="0"/>
                        <a:t>Description</a:t>
                      </a:r>
                    </a:p>
                  </a:txBody>
                  <a:tcPr/>
                </a:tc>
                <a:tc>
                  <a:txBody>
                    <a:bodyPr/>
                    <a:lstStyle/>
                    <a:p>
                      <a:r>
                        <a:rPr lang="en-US" dirty="0"/>
                        <a:t>Required</a:t>
                      </a:r>
                    </a:p>
                  </a:txBody>
                  <a:tcPr/>
                </a:tc>
                <a:extLst>
                  <a:ext uri="{0D108BD9-81ED-4DB2-BD59-A6C34878D82A}">
                    <a16:rowId xmlns:a16="http://schemas.microsoft.com/office/drawing/2014/main" val="3386350299"/>
                  </a:ext>
                </a:extLst>
              </a:tr>
              <a:tr h="720446">
                <a:tc>
                  <a:txBody>
                    <a:bodyPr/>
                    <a:lstStyle/>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--orgs</a:t>
                      </a:r>
                      <a:endParaRPr lang="en-US"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One or more orgs that you've locally authorized.</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1601294738"/>
                  </a:ext>
                </a:extLst>
              </a:tr>
              <a:tr h="720446">
                <a:tc>
                  <a:txBody>
                    <a:bodyPr/>
                    <a:lstStyle/>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--toolsets</a:t>
                      </a:r>
                      <a:endParaRPr lang="en-US"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Sets of tools, based on functionality, that you want to enable.</a:t>
                      </a:r>
                      <a:endParaRPr lang="en-US"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No</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16028665"/>
                  </a:ext>
                </a:extLst>
              </a:tr>
              <a:tr h="1337971">
                <a:tc>
                  <a:txBody>
                    <a:bodyPr/>
                    <a:lstStyle/>
                    <a:p>
                      <a:pPr>
                        <a:buNone/>
                      </a:pPr>
                      <a:r>
                        <a:rPr lang="en-US" dirty="0">
                          <a:effectLst/>
                          <a:latin typeface="Times New Roman" panose="02020603050405020304" pitchFamily="18" charset="0"/>
                          <a:cs typeface="Times New Roman" panose="02020603050405020304" pitchFamily="18" charset="0"/>
                        </a:rPr>
                        <a:t>--tools</a:t>
                      </a:r>
                    </a:p>
                  </a:txBody>
                  <a:tcPr marL="61913" marR="61913" marT="28575" marB="28575" anchor="ctr"/>
                </a:tc>
                <a:tc>
                  <a:txBody>
                    <a:bodyPr/>
                    <a:lstStyle/>
                    <a:p>
                      <a:pPr>
                        <a:buNone/>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Individual tool names that you want to enable.</a:t>
                      </a:r>
                      <a:endParaRPr lang="en-US" dirty="0">
                        <a:effectLst/>
                        <a:latin typeface="Times New Roman" panose="02020603050405020304" pitchFamily="18" charset="0"/>
                        <a:cs typeface="Times New Roman" panose="02020603050405020304" pitchFamily="18" charset="0"/>
                      </a:endParaRPr>
                    </a:p>
                  </a:txBody>
                  <a:tcPr marL="61913" marR="61913" marT="28575" marB="28575" anchor="ctr"/>
                </a:tc>
                <a:tc>
                  <a:txBody>
                    <a:bodyPr/>
                    <a:lstStyle/>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No. You can use this flag in combination with the --toolsets flag. For example, you can enable all tools in one toolset, and just one tool in a different toolset.</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03145047"/>
                  </a:ext>
                </a:extLst>
              </a:tr>
              <a:tr h="1029208">
                <a:tc>
                  <a:txBody>
                    <a:bodyPr/>
                    <a:lstStyle/>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--no-telemetry</a:t>
                      </a:r>
                      <a:endParaRPr lang="en-US"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Boolean flag to disable telemetry, the automatic collection of data for monitoring and analysis.</a:t>
                      </a:r>
                      <a:endParaRPr lang="en-US"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No</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34127609"/>
                  </a:ext>
                </a:extLst>
              </a:tr>
              <a:tr h="681850">
                <a:tc>
                  <a:txBody>
                    <a:bodyPr/>
                    <a:lstStyle/>
                    <a:p>
                      <a:pPr>
                        <a:buNone/>
                      </a:pPr>
                      <a:r>
                        <a:rPr lang="en-US" dirty="0">
                          <a:effectLst/>
                          <a:latin typeface="Times New Roman" panose="02020603050405020304" pitchFamily="18" charset="0"/>
                          <a:cs typeface="Times New Roman" panose="02020603050405020304" pitchFamily="18" charset="0"/>
                        </a:rPr>
                        <a:t>--debug</a:t>
                      </a:r>
                    </a:p>
                  </a:txBody>
                  <a:tcPr marL="61913" marR="61913" marT="28575" marB="28575" anchor="ctr"/>
                </a:tc>
                <a:tc>
                  <a:txBody>
                    <a:bodyPr/>
                    <a:lstStyle/>
                    <a:p>
                      <a:pPr>
                        <a:buNone/>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Boolean flag that requests that the DX MCP Server print debug logs</a:t>
                      </a:r>
                      <a:endParaRPr lang="en-US" dirty="0">
                        <a:effectLst/>
                        <a:latin typeface="Times New Roman" panose="02020603050405020304" pitchFamily="18" charset="0"/>
                        <a:cs typeface="Times New Roman" panose="02020603050405020304" pitchFamily="18" charset="0"/>
                      </a:endParaRPr>
                    </a:p>
                  </a:txBody>
                  <a:tcPr marL="61913" marR="61913" marT="28575" marB="28575" anchor="ctr"/>
                </a:tc>
                <a:tc>
                  <a:txBody>
                    <a:bodyPr/>
                    <a:lstStyle/>
                    <a:p>
                      <a:pPr>
                        <a:buNone/>
                      </a:pPr>
                      <a:br>
                        <a:rPr lang="en-US" dirty="0">
                          <a:effectLst/>
                          <a:latin typeface="Times New Roman" panose="02020603050405020304" pitchFamily="18" charset="0"/>
                          <a:cs typeface="Times New Roman" panose="02020603050405020304" pitchFamily="18" charset="0"/>
                        </a:rPr>
                      </a:br>
                      <a:r>
                        <a:rPr lang="en-US" dirty="0">
                          <a:effectLst/>
                          <a:latin typeface="Times New Roman" panose="02020603050405020304" pitchFamily="18" charset="0"/>
                          <a:cs typeface="Times New Roman" panose="02020603050405020304" pitchFamily="18" charset="0"/>
                        </a:rPr>
                        <a:t>No</a:t>
                      </a:r>
                    </a:p>
                  </a:txBody>
                  <a:tcPr marL="61913" marR="61913" marT="28575" marB="28575" anchor="ctr"/>
                </a:tc>
                <a:extLst>
                  <a:ext uri="{0D108BD9-81ED-4DB2-BD59-A6C34878D82A}">
                    <a16:rowId xmlns:a16="http://schemas.microsoft.com/office/drawing/2014/main" val="3095931681"/>
                  </a:ext>
                </a:extLst>
              </a:tr>
              <a:tr h="1299375">
                <a:tc>
                  <a:txBody>
                    <a:bodyPr/>
                    <a:lstStyle/>
                    <a:p>
                      <a:pPr>
                        <a:buNone/>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--allow-non-ga-tools</a:t>
                      </a:r>
                      <a:endParaRPr lang="en-US" dirty="0">
                        <a:effectLst/>
                        <a:latin typeface="Times New Roman" panose="02020603050405020304" pitchFamily="18" charset="0"/>
                        <a:cs typeface="Times New Roman" panose="02020603050405020304" pitchFamily="18" charset="0"/>
                      </a:endParaRPr>
                    </a:p>
                  </a:txBody>
                  <a:tcPr marL="61913" marR="61913" marT="28575" marB="28575" anchor="ctr"/>
                </a:tc>
                <a:tc>
                  <a:txBody>
                    <a:bodyPr/>
                    <a:lstStyle/>
                    <a:p>
                      <a:pPr>
                        <a:buNone/>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Boolean flag to allow the DX MCP Server to use both the generally available (GA) and NON-GA tools that are in the toolsets or tools you specify.</a:t>
                      </a:r>
                      <a:endParaRPr lang="en-US" dirty="0">
                        <a:effectLst/>
                        <a:latin typeface="Times New Roman" panose="02020603050405020304" pitchFamily="18" charset="0"/>
                        <a:cs typeface="Times New Roman" panose="02020603050405020304" pitchFamily="18" charset="0"/>
                      </a:endParaRPr>
                    </a:p>
                  </a:txBody>
                  <a:tcPr marL="61913" marR="61913" marT="28575" marB="28575" anchor="ctr"/>
                </a:tc>
                <a:tc>
                  <a:txBody>
                    <a:bodyPr/>
                    <a:lstStyle/>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No, By default, the DX MCP server uses only the tools marked GA.</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5038941"/>
                  </a:ext>
                </a:extLst>
              </a:tr>
              <a:tr h="1608138">
                <a:tc>
                  <a:txBody>
                    <a:bodyPr/>
                    <a:lstStyle/>
                    <a:p>
                      <a:pPr>
                        <a:buNone/>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--dynamic-tools</a:t>
                      </a:r>
                      <a:endParaRPr lang="en-US" dirty="0">
                        <a:effectLst/>
                        <a:latin typeface="Times New Roman" panose="02020603050405020304" pitchFamily="18" charset="0"/>
                        <a:cs typeface="Times New Roman" panose="02020603050405020304" pitchFamily="18" charset="0"/>
                      </a:endParaRPr>
                    </a:p>
                  </a:txBody>
                  <a:tcPr marL="61913" marR="61913" marT="28575" marB="28575" anchor="ctr"/>
                </a:tc>
                <a:tc>
                  <a:txBody>
                    <a:bodyPr/>
                    <a:lstStyle/>
                    <a:p>
                      <a:pPr>
                        <a:buNone/>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(experimental) Boolean flag that enables dynamic tool discovery and loading. When specified, the DX MCP server starts with a minimal set of core tools and loads new tools as needed.</a:t>
                      </a:r>
                      <a:endParaRPr lang="en-US" dirty="0">
                        <a:effectLst/>
                        <a:latin typeface="Times New Roman" panose="02020603050405020304" pitchFamily="18" charset="0"/>
                        <a:cs typeface="Times New Roman" panose="02020603050405020304" pitchFamily="18" charset="0"/>
                      </a:endParaRPr>
                    </a:p>
                  </a:txBody>
                  <a:tcPr marL="61913" marR="61913" marT="28575" marB="28575" anchor="ctr"/>
                </a:tc>
                <a:tc>
                  <a:txBody>
                    <a:bodyPr/>
                    <a:lstStyle/>
                    <a:p>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No, This flag is useful for reducing the initial context size and improving LLM performance. Dynamic tool discovery is disabled by default.</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36302740"/>
                  </a:ext>
                </a:extLst>
              </a:tr>
            </a:tbl>
          </a:graphicData>
        </a:graphic>
      </p:graphicFrame>
    </p:spTree>
    <p:extLst>
      <p:ext uri="{BB962C8B-B14F-4D97-AF65-F5344CB8AC3E}">
        <p14:creationId xmlns:p14="http://schemas.microsoft.com/office/powerpoint/2010/main" val="1901073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5A67A785-86E3-F590-399F-3B941F09202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C203585-8F4E-8618-A7B3-EB004FDD04C7}"/>
              </a:ext>
            </a:extLst>
          </p:cNvPr>
          <p:cNvSpPr/>
          <p:nvPr/>
        </p:nvSpPr>
        <p:spPr>
          <a:xfrm>
            <a:off x="12747870" y="30861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a:extLst>
              <a:ext uri="{FF2B5EF4-FFF2-40B4-BE49-F238E27FC236}">
                <a16:creationId xmlns:a16="http://schemas.microsoft.com/office/drawing/2014/main" id="{6507E653-B9A5-57AE-76DD-3EDF7C9747F2}"/>
              </a:ext>
            </a:extLst>
          </p:cNvPr>
          <p:cNvSpPr txBox="1"/>
          <p:nvPr/>
        </p:nvSpPr>
        <p:spPr>
          <a:xfrm>
            <a:off x="1028700" y="738392"/>
            <a:ext cx="15082046" cy="965251"/>
          </a:xfrm>
          <a:prstGeom prst="rect">
            <a:avLst/>
          </a:prstGeom>
        </p:spPr>
        <p:txBody>
          <a:bodyPr lIns="0" tIns="0" rIns="0" bIns="0" rtlCol="0" anchor="t">
            <a:spAutoFit/>
          </a:bodyPr>
          <a:lstStyle/>
          <a:p>
            <a:pPr algn="l">
              <a:lnSpc>
                <a:spcPts val="7600"/>
              </a:lnSpc>
            </a:pPr>
            <a:r>
              <a:rPr lang="en-US" sz="6230">
                <a:solidFill>
                  <a:srgbClr val="FFFFFF"/>
                </a:solidFill>
                <a:latin typeface="HK Modular"/>
                <a:ea typeface="HK Modular"/>
                <a:cs typeface="HK Modular"/>
                <a:sym typeface="HK Modular"/>
              </a:rPr>
              <a:t>With or without MCP</a:t>
            </a:r>
          </a:p>
        </p:txBody>
      </p:sp>
      <p:graphicFrame>
        <p:nvGraphicFramePr>
          <p:cNvPr id="5" name="Table 4">
            <a:extLst>
              <a:ext uri="{FF2B5EF4-FFF2-40B4-BE49-F238E27FC236}">
                <a16:creationId xmlns:a16="http://schemas.microsoft.com/office/drawing/2014/main" id="{1E6981E7-9A0C-0703-5EE0-D8940AB80038}"/>
              </a:ext>
            </a:extLst>
          </p:cNvPr>
          <p:cNvGraphicFramePr>
            <a:graphicFrameLocks noGrp="1"/>
          </p:cNvGraphicFramePr>
          <p:nvPr>
            <p:extLst>
              <p:ext uri="{D42A27DB-BD31-4B8C-83A1-F6EECF244321}">
                <p14:modId xmlns:p14="http://schemas.microsoft.com/office/powerpoint/2010/main" val="2596720525"/>
              </p:ext>
            </p:extLst>
          </p:nvPr>
        </p:nvGraphicFramePr>
        <p:xfrm>
          <a:off x="1219200" y="1943100"/>
          <a:ext cx="15697200" cy="7848600"/>
        </p:xfrm>
        <a:graphic>
          <a:graphicData uri="http://schemas.openxmlformats.org/drawingml/2006/table">
            <a:tbl>
              <a:tblPr firstRow="1" bandRow="1">
                <a:tableStyleId>{5C22544A-7EE6-4342-B048-85BDC9FD1C3A}</a:tableStyleId>
              </a:tblPr>
              <a:tblGrid>
                <a:gridCol w="5232400">
                  <a:extLst>
                    <a:ext uri="{9D8B030D-6E8A-4147-A177-3AD203B41FA5}">
                      <a16:colId xmlns:a16="http://schemas.microsoft.com/office/drawing/2014/main" val="1284796483"/>
                    </a:ext>
                  </a:extLst>
                </a:gridCol>
                <a:gridCol w="5232400">
                  <a:extLst>
                    <a:ext uri="{9D8B030D-6E8A-4147-A177-3AD203B41FA5}">
                      <a16:colId xmlns:a16="http://schemas.microsoft.com/office/drawing/2014/main" val="2780521002"/>
                    </a:ext>
                  </a:extLst>
                </a:gridCol>
                <a:gridCol w="5232400">
                  <a:extLst>
                    <a:ext uri="{9D8B030D-6E8A-4147-A177-3AD203B41FA5}">
                      <a16:colId xmlns:a16="http://schemas.microsoft.com/office/drawing/2014/main" val="3478625825"/>
                    </a:ext>
                  </a:extLst>
                </a:gridCol>
              </a:tblGrid>
              <a:tr h="489280">
                <a:tc>
                  <a:txBody>
                    <a:bodyPr/>
                    <a:lstStyle/>
                    <a:p>
                      <a:pPr>
                        <a:buNone/>
                      </a:pPr>
                      <a:r>
                        <a:rPr lang="en-US" dirty="0">
                          <a:latin typeface="Times New Roman" panose="02020603050405020304" pitchFamily="18" charset="0"/>
                          <a:cs typeface="Times New Roman" panose="02020603050405020304" pitchFamily="18" charset="0"/>
                        </a:rPr>
                        <a:t>Feature / Behavior</a:t>
                      </a:r>
                    </a:p>
                  </a:txBody>
                  <a:tcPr anchor="ctr"/>
                </a:tc>
                <a:tc>
                  <a:txBody>
                    <a:bodyPr/>
                    <a:lstStyle/>
                    <a:p>
                      <a:pPr>
                        <a:buNone/>
                      </a:pPr>
                      <a:r>
                        <a:rPr lang="en-US" b="1">
                          <a:latin typeface="Times New Roman" panose="02020603050405020304" pitchFamily="18" charset="0"/>
                          <a:cs typeface="Times New Roman" panose="02020603050405020304" pitchFamily="18" charset="0"/>
                        </a:rPr>
                        <a:t>Without MCP</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b="1">
                          <a:latin typeface="Times New Roman" panose="02020603050405020304" pitchFamily="18" charset="0"/>
                          <a:cs typeface="Times New Roman" panose="02020603050405020304" pitchFamily="18" charset="0"/>
                        </a:rPr>
                        <a:t>With MCP</a:t>
                      </a:r>
                      <a:endParaRPr 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42363829"/>
                  </a:ext>
                </a:extLst>
              </a:tr>
              <a:tr h="1206446">
                <a:tc>
                  <a:txBody>
                    <a:bodyPr/>
                    <a:lstStyle/>
                    <a:p>
                      <a:pPr>
                        <a:buNone/>
                      </a:pPr>
                      <a:r>
                        <a:rPr lang="en-US" b="1">
                          <a:latin typeface="Times New Roman" panose="02020603050405020304" pitchFamily="18" charset="0"/>
                          <a:cs typeface="Times New Roman" panose="02020603050405020304" pitchFamily="18" charset="0"/>
                        </a:rPr>
                        <a:t>How deployment happens</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Cursor runs Salesforce CLI (sf) commands directly in the terminal.</a:t>
                      </a:r>
                    </a:p>
                  </a:txBody>
                  <a:tcPr anchor="ctr"/>
                </a:tc>
                <a:tc>
                  <a:txBody>
                    <a:bodyPr/>
                    <a:lstStyle/>
                    <a:p>
                      <a:pPr>
                        <a:buNone/>
                      </a:pPr>
                      <a:r>
                        <a:rPr lang="en-US">
                          <a:latin typeface="Times New Roman" panose="02020603050405020304" pitchFamily="18" charset="0"/>
                          <a:cs typeface="Times New Roman" panose="02020603050405020304" pitchFamily="18" charset="0"/>
                        </a:rPr>
                        <a:t>Cursor talks to the </a:t>
                      </a:r>
                      <a:r>
                        <a:rPr lang="en-US" b="1">
                          <a:latin typeface="Times New Roman" panose="02020603050405020304" pitchFamily="18" charset="0"/>
                          <a:cs typeface="Times New Roman" panose="02020603050405020304" pitchFamily="18" charset="0"/>
                        </a:rPr>
                        <a:t>Salesforce DX MCP server</a:t>
                      </a:r>
                      <a:r>
                        <a:rPr lang="en-US">
                          <a:latin typeface="Times New Roman" panose="02020603050405020304" pitchFamily="18" charset="0"/>
                          <a:cs typeface="Times New Roman" panose="02020603050405020304" pitchFamily="18" charset="0"/>
                        </a:rPr>
                        <a:t>, which exposes official “tools” like deploy, test, query.</a:t>
                      </a:r>
                    </a:p>
                  </a:txBody>
                  <a:tcPr anchor="ctr"/>
                </a:tc>
                <a:extLst>
                  <a:ext uri="{0D108BD9-81ED-4DB2-BD59-A6C34878D82A}">
                    <a16:rowId xmlns:a16="http://schemas.microsoft.com/office/drawing/2014/main" val="4089352525"/>
                  </a:ext>
                </a:extLst>
              </a:tr>
              <a:tr h="1206446">
                <a:tc>
                  <a:txBody>
                    <a:bodyPr/>
                    <a:lstStyle/>
                    <a:p>
                      <a:pPr>
                        <a:buNone/>
                      </a:pPr>
                      <a:r>
                        <a:rPr lang="en-US" b="1">
                          <a:latin typeface="Times New Roman" panose="02020603050405020304" pitchFamily="18" charset="0"/>
                          <a:cs typeface="Times New Roman" panose="02020603050405020304" pitchFamily="18" charset="0"/>
                        </a:rPr>
                        <a:t>Result format</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Raw terminal text/logs (you read the output manually).</a:t>
                      </a:r>
                    </a:p>
                  </a:txBody>
                  <a:tcPr anchor="ctr"/>
                </a:tc>
                <a:tc>
                  <a:txBody>
                    <a:bodyPr/>
                    <a:lstStyle/>
                    <a:p>
                      <a:pPr>
                        <a:buNone/>
                      </a:pPr>
                      <a:r>
                        <a:rPr lang="en-US">
                          <a:latin typeface="Times New Roman" panose="02020603050405020304" pitchFamily="18" charset="0"/>
                          <a:cs typeface="Times New Roman" panose="02020603050405020304" pitchFamily="18" charset="0"/>
                        </a:rPr>
                        <a:t>Structured results (organized tables/JSON) that Cursor can interpret and summarize for you.</a:t>
                      </a:r>
                    </a:p>
                  </a:txBody>
                  <a:tcPr anchor="ctr"/>
                </a:tc>
                <a:extLst>
                  <a:ext uri="{0D108BD9-81ED-4DB2-BD59-A6C34878D82A}">
                    <a16:rowId xmlns:a16="http://schemas.microsoft.com/office/drawing/2014/main" val="932864481"/>
                  </a:ext>
                </a:extLst>
              </a:tr>
              <a:tr h="844512">
                <a:tc>
                  <a:txBody>
                    <a:bodyPr/>
                    <a:lstStyle/>
                    <a:p>
                      <a:pPr>
                        <a:buNone/>
                      </a:pPr>
                      <a:r>
                        <a:rPr lang="en-US" b="1">
                          <a:latin typeface="Times New Roman" panose="02020603050405020304" pitchFamily="18" charset="0"/>
                          <a:cs typeface="Times New Roman" panose="02020603050405020304" pitchFamily="18" charset="0"/>
                        </a:rPr>
                        <a:t>Approval step</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No explicit approval — command just runs in terminal.</a:t>
                      </a:r>
                    </a:p>
                  </a:txBody>
                  <a:tcPr anchor="ctr"/>
                </a:tc>
                <a:tc>
                  <a:txBody>
                    <a:bodyPr/>
                    <a:lstStyle/>
                    <a:p>
                      <a:pPr>
                        <a:buNone/>
                      </a:pPr>
                      <a:r>
                        <a:rPr lang="en-US">
                          <a:latin typeface="Times New Roman" panose="02020603050405020304" pitchFamily="18" charset="0"/>
                          <a:cs typeface="Times New Roman" panose="02020603050405020304" pitchFamily="18" charset="0"/>
                        </a:rPr>
                        <a:t>Always shows proposed action → you must </a:t>
                      </a:r>
                      <a:r>
                        <a:rPr lang="en-US" b="1">
                          <a:latin typeface="Times New Roman" panose="02020603050405020304" pitchFamily="18" charset="0"/>
                          <a:cs typeface="Times New Roman" panose="02020603050405020304" pitchFamily="18" charset="0"/>
                        </a:rPr>
                        <a:t>Approve / Deny</a:t>
                      </a:r>
                      <a:r>
                        <a:rPr lang="en-US">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683872890"/>
                  </a:ext>
                </a:extLst>
              </a:tr>
              <a:tr h="844512">
                <a:tc>
                  <a:txBody>
                    <a:bodyPr/>
                    <a:lstStyle/>
                    <a:p>
                      <a:pPr>
                        <a:buNone/>
                      </a:pPr>
                      <a:r>
                        <a:rPr lang="en-US" b="1">
                          <a:latin typeface="Times New Roman" panose="02020603050405020304" pitchFamily="18" charset="0"/>
                          <a:cs typeface="Times New Roman" panose="02020603050405020304" pitchFamily="18" charset="0"/>
                        </a:rPr>
                        <a:t>Error handling</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dirty="0">
                          <a:latin typeface="Times New Roman" panose="02020603050405020304" pitchFamily="18" charset="0"/>
                          <a:cs typeface="Times New Roman" panose="02020603050405020304" pitchFamily="18" charset="0"/>
                        </a:rPr>
                        <a:t>Errors show as plain text (you parse them yourself).</a:t>
                      </a:r>
                    </a:p>
                  </a:txBody>
                  <a:tcPr anchor="ctr"/>
                </a:tc>
                <a:tc>
                  <a:txBody>
                    <a:bodyPr/>
                    <a:lstStyle/>
                    <a:p>
                      <a:pPr>
                        <a:buNone/>
                      </a:pPr>
                      <a:r>
                        <a:rPr lang="en-US">
                          <a:latin typeface="Times New Roman" panose="02020603050405020304" pitchFamily="18" charset="0"/>
                          <a:cs typeface="Times New Roman" panose="02020603050405020304" pitchFamily="18" charset="0"/>
                        </a:rPr>
                        <a:t>Errors are structured and easier for Cursor to explain or auto-fix.</a:t>
                      </a:r>
                    </a:p>
                  </a:txBody>
                  <a:tcPr anchor="ctr"/>
                </a:tc>
                <a:extLst>
                  <a:ext uri="{0D108BD9-81ED-4DB2-BD59-A6C34878D82A}">
                    <a16:rowId xmlns:a16="http://schemas.microsoft.com/office/drawing/2014/main" val="3716838653"/>
                  </a:ext>
                </a:extLst>
              </a:tr>
              <a:tr h="1206446">
                <a:tc>
                  <a:txBody>
                    <a:bodyPr/>
                    <a:lstStyle/>
                    <a:p>
                      <a:pPr>
                        <a:buNone/>
                      </a:pPr>
                      <a:r>
                        <a:rPr lang="en-US" b="1">
                          <a:latin typeface="Times New Roman" panose="02020603050405020304" pitchFamily="18" charset="0"/>
                          <a:cs typeface="Times New Roman" panose="02020603050405020304" pitchFamily="18" charset="0"/>
                        </a:rPr>
                        <a:t>Context awareness</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Cursor doesn’t “know” what happened, it just sees logs.</a:t>
                      </a:r>
                    </a:p>
                  </a:txBody>
                  <a:tcPr anchor="ctr"/>
                </a:tc>
                <a:tc>
                  <a:txBody>
                    <a:bodyPr/>
                    <a:lstStyle/>
                    <a:p>
                      <a:pPr>
                        <a:buNone/>
                      </a:pPr>
                      <a:r>
                        <a:rPr lang="en-US">
                          <a:latin typeface="Times New Roman" panose="02020603050405020304" pitchFamily="18" charset="0"/>
                          <a:cs typeface="Times New Roman" panose="02020603050405020304" pitchFamily="18" charset="0"/>
                        </a:rPr>
                        <a:t>Cursor understands the tool response (e.g., coverage %, failed tests) and can reason about next steps.</a:t>
                      </a:r>
                    </a:p>
                  </a:txBody>
                  <a:tcPr anchor="ctr"/>
                </a:tc>
                <a:extLst>
                  <a:ext uri="{0D108BD9-81ED-4DB2-BD59-A6C34878D82A}">
                    <a16:rowId xmlns:a16="http://schemas.microsoft.com/office/drawing/2014/main" val="3970753822"/>
                  </a:ext>
                </a:extLst>
              </a:tr>
              <a:tr h="844512">
                <a:tc>
                  <a:txBody>
                    <a:bodyPr/>
                    <a:lstStyle/>
                    <a:p>
                      <a:pPr>
                        <a:buNone/>
                      </a:pPr>
                      <a:r>
                        <a:rPr lang="en-US" b="1">
                          <a:latin typeface="Times New Roman" panose="02020603050405020304" pitchFamily="18" charset="0"/>
                          <a:cs typeface="Times New Roman" panose="02020603050405020304" pitchFamily="18" charset="0"/>
                        </a:rPr>
                        <a:t>Security</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Less control — commands execute directly.</a:t>
                      </a:r>
                    </a:p>
                  </a:txBody>
                  <a:tcPr anchor="ctr"/>
                </a:tc>
                <a:tc>
                  <a:txBody>
                    <a:bodyPr/>
                    <a:lstStyle/>
                    <a:p>
                      <a:pPr>
                        <a:buNone/>
                      </a:pPr>
                      <a:r>
                        <a:rPr lang="en-US">
                          <a:latin typeface="Times New Roman" panose="02020603050405020304" pitchFamily="18" charset="0"/>
                          <a:cs typeface="Times New Roman" panose="02020603050405020304" pitchFamily="18" charset="0"/>
                        </a:rPr>
                        <a:t>Safer — Cursor only runs what you approve, nothing hidden.</a:t>
                      </a:r>
                    </a:p>
                  </a:txBody>
                  <a:tcPr anchor="ctr"/>
                </a:tc>
                <a:extLst>
                  <a:ext uri="{0D108BD9-81ED-4DB2-BD59-A6C34878D82A}">
                    <a16:rowId xmlns:a16="http://schemas.microsoft.com/office/drawing/2014/main" val="3885160234"/>
                  </a:ext>
                </a:extLst>
              </a:tr>
              <a:tr h="1206446">
                <a:tc>
                  <a:txBody>
                    <a:bodyPr/>
                    <a:lstStyle/>
                    <a:p>
                      <a:pPr>
                        <a:buNone/>
                      </a:pPr>
                      <a:r>
                        <a:rPr lang="en-US" b="1">
                          <a:latin typeface="Times New Roman" panose="02020603050405020304" pitchFamily="18" charset="0"/>
                          <a:cs typeface="Times New Roman" panose="02020603050405020304" pitchFamily="18" charset="0"/>
                        </a:rPr>
                        <a:t>Best for…</a:t>
                      </a:r>
                      <a:endParaRPr lang="en-US">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Quick solo dev work (small projects, personal sandboxes).</a:t>
                      </a:r>
                    </a:p>
                  </a:txBody>
                  <a:tcPr anchor="ctr"/>
                </a:tc>
                <a:tc>
                  <a:txBody>
                    <a:bodyPr/>
                    <a:lstStyle/>
                    <a:p>
                      <a:pPr>
                        <a:buNone/>
                      </a:pPr>
                      <a:r>
                        <a:rPr lang="en-US" dirty="0">
                          <a:latin typeface="Times New Roman" panose="02020603050405020304" pitchFamily="18" charset="0"/>
                          <a:cs typeface="Times New Roman" panose="02020603050405020304" pitchFamily="18" charset="0"/>
                        </a:rPr>
                        <a:t>Team projects, teaching, or critical deployments where clarity &amp; safety matter.</a:t>
                      </a:r>
                    </a:p>
                  </a:txBody>
                  <a:tcPr anchor="ctr"/>
                </a:tc>
                <a:extLst>
                  <a:ext uri="{0D108BD9-81ED-4DB2-BD59-A6C34878D82A}">
                    <a16:rowId xmlns:a16="http://schemas.microsoft.com/office/drawing/2014/main" val="651466962"/>
                  </a:ext>
                </a:extLst>
              </a:tr>
            </a:tbl>
          </a:graphicData>
        </a:graphic>
      </p:graphicFrame>
    </p:spTree>
    <p:extLst>
      <p:ext uri="{BB962C8B-B14F-4D97-AF65-F5344CB8AC3E}">
        <p14:creationId xmlns:p14="http://schemas.microsoft.com/office/powerpoint/2010/main" val="37078900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24960734-56DE-1D85-02EA-2CA372E62E0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BCD082E-5244-01D6-A6AF-4522BF9FA24E}"/>
              </a:ext>
            </a:extLst>
          </p:cNvPr>
          <p:cNvSpPr/>
          <p:nvPr/>
        </p:nvSpPr>
        <p:spPr>
          <a:xfrm>
            <a:off x="12747870" y="308610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a:extLst>
              <a:ext uri="{FF2B5EF4-FFF2-40B4-BE49-F238E27FC236}">
                <a16:creationId xmlns:a16="http://schemas.microsoft.com/office/drawing/2014/main" id="{52A60D65-7ED6-271A-31A1-5762082B3A48}"/>
              </a:ext>
            </a:extLst>
          </p:cNvPr>
          <p:cNvSpPr txBox="1"/>
          <p:nvPr/>
        </p:nvSpPr>
        <p:spPr>
          <a:xfrm>
            <a:off x="1028700" y="738392"/>
            <a:ext cx="15082046" cy="2840008"/>
          </a:xfrm>
          <a:prstGeom prst="rect">
            <a:avLst/>
          </a:prstGeom>
        </p:spPr>
        <p:txBody>
          <a:bodyPr lIns="0" tIns="0" rIns="0" bIns="0" rtlCol="0" anchor="t">
            <a:spAutoFit/>
          </a:bodyPr>
          <a:lstStyle/>
          <a:p>
            <a:pPr algn="l">
              <a:lnSpc>
                <a:spcPts val="7600"/>
              </a:lnSpc>
            </a:pPr>
            <a:r>
              <a:rPr lang="en-US" sz="6230" dirty="0">
                <a:solidFill>
                  <a:srgbClr val="FFFFFF"/>
                </a:solidFill>
                <a:latin typeface="HK Modular"/>
                <a:ea typeface="HK Modular"/>
                <a:cs typeface="HK Modular"/>
                <a:sym typeface="HK Modular"/>
              </a:rPr>
              <a:t>Demo Project using Salesforce DX MCP and Cursor</a:t>
            </a:r>
          </a:p>
        </p:txBody>
      </p:sp>
      <p:graphicFrame>
        <p:nvGraphicFramePr>
          <p:cNvPr id="6" name="TextBox 3">
            <a:extLst>
              <a:ext uri="{FF2B5EF4-FFF2-40B4-BE49-F238E27FC236}">
                <a16:creationId xmlns:a16="http://schemas.microsoft.com/office/drawing/2014/main" id="{F70C889F-200E-3106-4679-80E781E20758}"/>
              </a:ext>
            </a:extLst>
          </p:cNvPr>
          <p:cNvGraphicFramePr/>
          <p:nvPr>
            <p:extLst>
              <p:ext uri="{D42A27DB-BD31-4B8C-83A1-F6EECF244321}">
                <p14:modId xmlns:p14="http://schemas.microsoft.com/office/powerpoint/2010/main" val="1827811315"/>
              </p:ext>
            </p:extLst>
          </p:nvPr>
        </p:nvGraphicFramePr>
        <p:xfrm>
          <a:off x="1219200" y="4412159"/>
          <a:ext cx="11887200" cy="50747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693912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4743C762-3BC2-390E-4060-41440E9F3BB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211D9B3-C256-E31E-99DC-5E4543F6210E}"/>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a:extLst>
              <a:ext uri="{FF2B5EF4-FFF2-40B4-BE49-F238E27FC236}">
                <a16:creationId xmlns:a16="http://schemas.microsoft.com/office/drawing/2014/main" id="{1DB6CE0B-C01F-298B-848D-B6EE765B3C56}"/>
              </a:ext>
            </a:extLst>
          </p:cNvPr>
          <p:cNvSpPr txBox="1"/>
          <p:nvPr/>
        </p:nvSpPr>
        <p:spPr>
          <a:xfrm>
            <a:off x="1028700" y="738392"/>
            <a:ext cx="15082046" cy="890757"/>
          </a:xfrm>
          <a:prstGeom prst="rect">
            <a:avLst/>
          </a:prstGeom>
        </p:spPr>
        <p:txBody>
          <a:bodyPr lIns="0" tIns="0" rIns="0" bIns="0" rtlCol="0" anchor="t">
            <a:spAutoFit/>
          </a:bodyPr>
          <a:lstStyle/>
          <a:p>
            <a:pPr algn="l">
              <a:lnSpc>
                <a:spcPts val="7600"/>
              </a:lnSpc>
            </a:pPr>
            <a:r>
              <a:rPr lang="en-US" sz="6230" dirty="0">
                <a:solidFill>
                  <a:srgbClr val="FFFFFF"/>
                </a:solidFill>
                <a:latin typeface="HK Modular"/>
                <a:ea typeface="HK Modular"/>
                <a:cs typeface="HK Modular"/>
                <a:sym typeface="HK Modular"/>
              </a:rPr>
              <a:t>Demo Project</a:t>
            </a:r>
          </a:p>
        </p:txBody>
      </p:sp>
      <p:sp>
        <p:nvSpPr>
          <p:cNvPr id="4" name="TextBox 3">
            <a:extLst>
              <a:ext uri="{FF2B5EF4-FFF2-40B4-BE49-F238E27FC236}">
                <a16:creationId xmlns:a16="http://schemas.microsoft.com/office/drawing/2014/main" id="{9E1072D5-9F8F-D7FE-A3D0-7986E5EF9FB5}"/>
              </a:ext>
            </a:extLst>
          </p:cNvPr>
          <p:cNvSpPr txBox="1"/>
          <p:nvPr/>
        </p:nvSpPr>
        <p:spPr>
          <a:xfrm>
            <a:off x="609600" y="1629149"/>
            <a:ext cx="17449800" cy="9325630"/>
          </a:xfrm>
          <a:prstGeom prst="rect">
            <a:avLst/>
          </a:prstGeom>
          <a:noFill/>
        </p:spPr>
        <p:txBody>
          <a:bodyPr wrap="square" rtlCol="0">
            <a:spAutoFit/>
          </a:bodyPr>
          <a:lstStyle/>
          <a:p>
            <a:endParaRPr lang="en-US" sz="4000" dirty="0"/>
          </a:p>
          <a:p>
            <a:r>
              <a:rPr lang="en-US" sz="4000" dirty="0"/>
              <a:t>Insert three New Fields on Account Object.</a:t>
            </a:r>
          </a:p>
          <a:p>
            <a:endParaRPr lang="en-US" sz="4000" dirty="0"/>
          </a:p>
          <a:p>
            <a:pPr marL="571500" indent="-571500">
              <a:buFont typeface="Wingdings" panose="05000000000000000000" pitchFamily="2" charset="2"/>
              <a:buChar char="q"/>
            </a:pPr>
            <a:r>
              <a:rPr lang="en-US" sz="4000" dirty="0" err="1">
                <a:solidFill>
                  <a:schemeClr val="bg1"/>
                </a:solidFill>
              </a:rPr>
              <a:t>Health_Score__c</a:t>
            </a:r>
            <a:r>
              <a:rPr lang="en-US" sz="4000" dirty="0">
                <a:solidFill>
                  <a:schemeClr val="bg1"/>
                </a:solidFill>
              </a:rPr>
              <a:t> </a:t>
            </a:r>
            <a:r>
              <a:rPr lang="en-US" sz="4000" dirty="0"/>
              <a:t>(Number, precision 3,scale 0, label Health Score)</a:t>
            </a:r>
          </a:p>
          <a:p>
            <a:endParaRPr lang="en-US" sz="4000" dirty="0"/>
          </a:p>
          <a:p>
            <a:pPr marL="571500" indent="-571500">
              <a:buFont typeface="Wingdings" panose="05000000000000000000" pitchFamily="2" charset="2"/>
              <a:buChar char="q"/>
            </a:pPr>
            <a:r>
              <a:rPr lang="en-US" sz="4000" dirty="0" err="1">
                <a:solidFill>
                  <a:schemeClr val="bg1"/>
                </a:solidFill>
              </a:rPr>
              <a:t>Revenue_Tier__c</a:t>
            </a:r>
            <a:r>
              <a:rPr lang="en-US" sz="4000" dirty="0">
                <a:solidFill>
                  <a:schemeClr val="bg1"/>
                </a:solidFill>
              </a:rPr>
              <a:t> </a:t>
            </a:r>
            <a:r>
              <a:rPr lang="en-US" sz="4000" dirty="0"/>
              <a:t>(Formula, return type text, label Revenue Tier) with formula: </a:t>
            </a:r>
          </a:p>
          <a:p>
            <a:r>
              <a:rPr lang="en-US" sz="4000" dirty="0"/>
              <a:t>	</a:t>
            </a:r>
            <a:r>
              <a:rPr lang="en-US" sz="4000" dirty="0">
                <a:highlight>
                  <a:srgbClr val="FFFF00"/>
                </a:highlight>
              </a:rPr>
              <a:t>	if(</a:t>
            </a:r>
            <a:r>
              <a:rPr lang="en-US" sz="4000" dirty="0" err="1">
                <a:highlight>
                  <a:srgbClr val="FFFF00"/>
                </a:highlight>
              </a:rPr>
              <a:t>AnnualRevenue</a:t>
            </a:r>
            <a:r>
              <a:rPr lang="en-US" sz="4000" dirty="0">
                <a:highlight>
                  <a:srgbClr val="FFFF00"/>
                </a:highlight>
              </a:rPr>
              <a:t> &gt;=1000000, “Gold”,</a:t>
            </a:r>
          </a:p>
          <a:p>
            <a:r>
              <a:rPr lang="en-US" sz="4000" dirty="0">
                <a:highlight>
                  <a:srgbClr val="FFFF00"/>
                </a:highlight>
              </a:rPr>
              <a:t>                If(</a:t>
            </a:r>
            <a:r>
              <a:rPr lang="en-US" sz="4000" dirty="0" err="1">
                <a:highlight>
                  <a:srgbClr val="FFFF00"/>
                </a:highlight>
              </a:rPr>
              <a:t>AnnualRevenue</a:t>
            </a:r>
            <a:r>
              <a:rPr lang="en-US" sz="4000" dirty="0">
                <a:highlight>
                  <a:srgbClr val="FFFF00"/>
                </a:highlight>
              </a:rPr>
              <a:t>&gt;= 250000, “Silver”, “Bronze”))</a:t>
            </a:r>
          </a:p>
          <a:p>
            <a:endParaRPr lang="en-US" sz="4000" dirty="0">
              <a:highlight>
                <a:srgbClr val="FFFF00"/>
              </a:highlight>
            </a:endParaRPr>
          </a:p>
          <a:p>
            <a:pPr marL="571500" indent="-571500">
              <a:buFont typeface="Wingdings" panose="05000000000000000000" pitchFamily="2" charset="2"/>
              <a:buChar char="q"/>
            </a:pPr>
            <a:r>
              <a:rPr lang="en-US" sz="4000" dirty="0">
                <a:solidFill>
                  <a:schemeClr val="bg1"/>
                </a:solidFill>
              </a:rPr>
              <a:t>Create Last_90_Day_Wins__c </a:t>
            </a:r>
            <a:r>
              <a:rPr lang="en-US" sz="4000" dirty="0"/>
              <a:t>(Currency, precision 16, scale 2, label Last 90 Day Wins)</a:t>
            </a:r>
          </a:p>
          <a:p>
            <a:r>
              <a:rPr lang="en-US" sz="4000" dirty="0"/>
              <a:t>    </a:t>
            </a:r>
          </a:p>
          <a:p>
            <a:r>
              <a:rPr lang="en-US" sz="4000" dirty="0"/>
              <a:t> </a:t>
            </a:r>
          </a:p>
          <a:p>
            <a:br>
              <a:rPr lang="en-US" sz="4000" dirty="0"/>
            </a:br>
            <a:endParaRPr lang="en-US" sz="4000" dirty="0"/>
          </a:p>
        </p:txBody>
      </p:sp>
    </p:spTree>
    <p:extLst>
      <p:ext uri="{BB962C8B-B14F-4D97-AF65-F5344CB8AC3E}">
        <p14:creationId xmlns:p14="http://schemas.microsoft.com/office/powerpoint/2010/main" val="1067168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8F656963-5AAE-D495-247F-25500126F40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F7B6E70-2966-8EC5-B8D3-0311912D7CB4}"/>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a:extLst>
              <a:ext uri="{FF2B5EF4-FFF2-40B4-BE49-F238E27FC236}">
                <a16:creationId xmlns:a16="http://schemas.microsoft.com/office/drawing/2014/main" id="{18674460-C4A0-92EB-09C8-5502F1785CDE}"/>
              </a:ext>
            </a:extLst>
          </p:cNvPr>
          <p:cNvSpPr txBox="1"/>
          <p:nvPr/>
        </p:nvSpPr>
        <p:spPr>
          <a:xfrm>
            <a:off x="1028700" y="738392"/>
            <a:ext cx="15082046" cy="890757"/>
          </a:xfrm>
          <a:prstGeom prst="rect">
            <a:avLst/>
          </a:prstGeom>
        </p:spPr>
        <p:txBody>
          <a:bodyPr lIns="0" tIns="0" rIns="0" bIns="0" rtlCol="0" anchor="t">
            <a:spAutoFit/>
          </a:bodyPr>
          <a:lstStyle/>
          <a:p>
            <a:pPr algn="l">
              <a:lnSpc>
                <a:spcPts val="7600"/>
              </a:lnSpc>
            </a:pPr>
            <a:r>
              <a:rPr lang="en-US" sz="6230" dirty="0">
                <a:solidFill>
                  <a:srgbClr val="FFFFFF"/>
                </a:solidFill>
                <a:latin typeface="HK Modular"/>
                <a:ea typeface="HK Modular"/>
                <a:cs typeface="HK Modular"/>
                <a:sym typeface="HK Modular"/>
              </a:rPr>
              <a:t>Demo Project</a:t>
            </a:r>
          </a:p>
        </p:txBody>
      </p:sp>
      <p:sp>
        <p:nvSpPr>
          <p:cNvPr id="4" name="TextBox 3">
            <a:extLst>
              <a:ext uri="{FF2B5EF4-FFF2-40B4-BE49-F238E27FC236}">
                <a16:creationId xmlns:a16="http://schemas.microsoft.com/office/drawing/2014/main" id="{2653B954-D56F-7693-410F-69D392F1AD4A}"/>
              </a:ext>
            </a:extLst>
          </p:cNvPr>
          <p:cNvSpPr txBox="1"/>
          <p:nvPr/>
        </p:nvSpPr>
        <p:spPr>
          <a:xfrm>
            <a:off x="609600" y="1629149"/>
            <a:ext cx="17449800" cy="2554545"/>
          </a:xfrm>
          <a:prstGeom prst="rect">
            <a:avLst/>
          </a:prstGeom>
          <a:noFill/>
        </p:spPr>
        <p:txBody>
          <a:bodyPr wrap="square" rtlCol="0">
            <a:spAutoFit/>
          </a:bodyPr>
          <a:lstStyle/>
          <a:p>
            <a:endParaRPr lang="en-US" sz="4000" dirty="0"/>
          </a:p>
          <a:p>
            <a:r>
              <a:rPr lang="en-US" sz="4000" dirty="0"/>
              <a:t> </a:t>
            </a:r>
          </a:p>
          <a:p>
            <a:br>
              <a:rPr lang="en-US" sz="4000" dirty="0"/>
            </a:br>
            <a:endParaRPr lang="en-US" sz="4000" dirty="0"/>
          </a:p>
        </p:txBody>
      </p:sp>
      <p:sp>
        <p:nvSpPr>
          <p:cNvPr id="5" name="TextBox 4">
            <a:extLst>
              <a:ext uri="{FF2B5EF4-FFF2-40B4-BE49-F238E27FC236}">
                <a16:creationId xmlns:a16="http://schemas.microsoft.com/office/drawing/2014/main" id="{741B3F4C-084B-0420-81A0-F5A807E76FA6}"/>
              </a:ext>
            </a:extLst>
          </p:cNvPr>
          <p:cNvSpPr txBox="1"/>
          <p:nvPr/>
        </p:nvSpPr>
        <p:spPr>
          <a:xfrm>
            <a:off x="1981200" y="3239248"/>
            <a:ext cx="14630400" cy="4832092"/>
          </a:xfrm>
          <a:prstGeom prst="rect">
            <a:avLst/>
          </a:prstGeom>
          <a:noFill/>
        </p:spPr>
        <p:txBody>
          <a:bodyPr wrap="square" rtlCol="0">
            <a:spAutoFit/>
          </a:bodyPr>
          <a:lstStyle/>
          <a:p>
            <a:pPr marL="571500" indent="-571500">
              <a:buFont typeface="Wingdings" panose="05000000000000000000" pitchFamily="2" charset="2"/>
              <a:buChar char="q"/>
            </a:pPr>
            <a:r>
              <a:rPr lang="en-US" sz="4400" dirty="0"/>
              <a:t>Create a new field on the Opportunity Object: </a:t>
            </a:r>
          </a:p>
          <a:p>
            <a:r>
              <a:rPr lang="en-US" sz="4400" dirty="0">
                <a:highlight>
                  <a:srgbClr val="FFFF00"/>
                </a:highlight>
              </a:rPr>
              <a:t>    </a:t>
            </a:r>
            <a:r>
              <a:rPr lang="en-US" sz="4400" dirty="0" err="1">
                <a:highlight>
                  <a:srgbClr val="FFFF00"/>
                </a:highlight>
              </a:rPr>
              <a:t>Discount__c</a:t>
            </a:r>
            <a:r>
              <a:rPr lang="en-US" sz="4400" dirty="0">
                <a:highlight>
                  <a:srgbClr val="FFFF00"/>
                </a:highlight>
              </a:rPr>
              <a:t> (Percent, precision 3, scale 0, label Discount)</a:t>
            </a:r>
          </a:p>
          <a:p>
            <a:pPr marL="571500" indent="-571500">
              <a:buFont typeface="Wingdings" panose="05000000000000000000" pitchFamily="2" charset="2"/>
              <a:buChar char="q"/>
            </a:pPr>
            <a:endParaRPr lang="en-US" sz="4400" dirty="0"/>
          </a:p>
          <a:p>
            <a:pPr marL="571500" indent="-571500">
              <a:buFont typeface="Wingdings" panose="05000000000000000000" pitchFamily="2" charset="2"/>
              <a:buChar char="q"/>
            </a:pPr>
            <a:r>
              <a:rPr lang="en-US" sz="4400" dirty="0"/>
              <a:t>Create a new validation rule for this field: </a:t>
            </a:r>
          </a:p>
          <a:p>
            <a:pPr marL="1485900" lvl="2" indent="-571500">
              <a:buFont typeface="Wingdings" panose="05000000000000000000" pitchFamily="2" charset="2"/>
              <a:buChar char="q"/>
            </a:pPr>
            <a:r>
              <a:rPr lang="en-US" sz="4400" dirty="0">
                <a:highlight>
                  <a:srgbClr val="FFFF00"/>
                </a:highlight>
              </a:rPr>
              <a:t>Formula : </a:t>
            </a:r>
            <a:r>
              <a:rPr lang="en-US" sz="4400" dirty="0" err="1">
                <a:highlight>
                  <a:srgbClr val="FFFF00"/>
                </a:highlight>
              </a:rPr>
              <a:t>Discount__c</a:t>
            </a:r>
            <a:r>
              <a:rPr lang="en-US" sz="4400" dirty="0">
                <a:highlight>
                  <a:srgbClr val="FFFF00"/>
                </a:highlight>
              </a:rPr>
              <a:t> &gt;.30</a:t>
            </a:r>
          </a:p>
          <a:p>
            <a:pPr marL="1485900" lvl="2" indent="-571500">
              <a:buFont typeface="Wingdings" panose="05000000000000000000" pitchFamily="2" charset="2"/>
              <a:buChar char="q"/>
            </a:pPr>
            <a:r>
              <a:rPr lang="en-US" sz="4400" dirty="0">
                <a:highlight>
                  <a:srgbClr val="FFFF00"/>
                </a:highlight>
              </a:rPr>
              <a:t>Error Message: Discount cannot exceed 30%</a:t>
            </a:r>
          </a:p>
          <a:p>
            <a:pPr marL="1485900" lvl="2" indent="-571500">
              <a:buFont typeface="Wingdings" panose="05000000000000000000" pitchFamily="2" charset="2"/>
              <a:buChar char="q"/>
            </a:pPr>
            <a:r>
              <a:rPr lang="en-US" sz="4400" dirty="0">
                <a:highlight>
                  <a:srgbClr val="FFFF00"/>
                </a:highlight>
              </a:rPr>
              <a:t>Error displayed on field: </a:t>
            </a:r>
            <a:r>
              <a:rPr lang="en-US" sz="4400" dirty="0" err="1">
                <a:highlight>
                  <a:srgbClr val="FFFF00"/>
                </a:highlight>
              </a:rPr>
              <a:t>Discount__c</a:t>
            </a:r>
            <a:r>
              <a:rPr lang="en-US" sz="4400" dirty="0">
                <a:highlight>
                  <a:srgbClr val="FFFF00"/>
                </a:highlight>
              </a:rPr>
              <a:t> </a:t>
            </a:r>
          </a:p>
        </p:txBody>
      </p:sp>
    </p:spTree>
    <p:extLst>
      <p:ext uri="{BB962C8B-B14F-4D97-AF65-F5344CB8AC3E}">
        <p14:creationId xmlns:p14="http://schemas.microsoft.com/office/powerpoint/2010/main" val="19482693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ED1DA402-3C3A-64D6-7FB0-E45FEF388D6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6EAE9DF-D67A-CEE2-DF57-AF47D7051660}"/>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a:extLst>
              <a:ext uri="{FF2B5EF4-FFF2-40B4-BE49-F238E27FC236}">
                <a16:creationId xmlns:a16="http://schemas.microsoft.com/office/drawing/2014/main" id="{ADD915CE-B44D-45DA-A0A2-E8377E947E35}"/>
              </a:ext>
            </a:extLst>
          </p:cNvPr>
          <p:cNvSpPr txBox="1"/>
          <p:nvPr/>
        </p:nvSpPr>
        <p:spPr>
          <a:xfrm>
            <a:off x="1028700" y="738392"/>
            <a:ext cx="15082046" cy="890757"/>
          </a:xfrm>
          <a:prstGeom prst="rect">
            <a:avLst/>
          </a:prstGeom>
        </p:spPr>
        <p:txBody>
          <a:bodyPr lIns="0" tIns="0" rIns="0" bIns="0" rtlCol="0" anchor="t">
            <a:spAutoFit/>
          </a:bodyPr>
          <a:lstStyle/>
          <a:p>
            <a:pPr algn="l">
              <a:lnSpc>
                <a:spcPts val="7600"/>
              </a:lnSpc>
            </a:pPr>
            <a:r>
              <a:rPr lang="en-US" sz="6230" dirty="0">
                <a:solidFill>
                  <a:srgbClr val="FFFFFF"/>
                </a:solidFill>
                <a:latin typeface="HK Modular"/>
                <a:ea typeface="HK Modular"/>
                <a:cs typeface="HK Modular"/>
                <a:sym typeface="HK Modular"/>
              </a:rPr>
              <a:t>Demo Project</a:t>
            </a:r>
          </a:p>
        </p:txBody>
      </p:sp>
      <p:sp>
        <p:nvSpPr>
          <p:cNvPr id="4" name="TextBox 3">
            <a:extLst>
              <a:ext uri="{FF2B5EF4-FFF2-40B4-BE49-F238E27FC236}">
                <a16:creationId xmlns:a16="http://schemas.microsoft.com/office/drawing/2014/main" id="{E93F1F8A-285D-4B53-E8D8-B3025912827B}"/>
              </a:ext>
            </a:extLst>
          </p:cNvPr>
          <p:cNvSpPr txBox="1"/>
          <p:nvPr/>
        </p:nvSpPr>
        <p:spPr>
          <a:xfrm>
            <a:off x="609600" y="1629149"/>
            <a:ext cx="17449800" cy="2554545"/>
          </a:xfrm>
          <a:prstGeom prst="rect">
            <a:avLst/>
          </a:prstGeom>
          <a:noFill/>
        </p:spPr>
        <p:txBody>
          <a:bodyPr wrap="square" rtlCol="0">
            <a:spAutoFit/>
          </a:bodyPr>
          <a:lstStyle/>
          <a:p>
            <a:endParaRPr lang="en-US" sz="4000" dirty="0"/>
          </a:p>
          <a:p>
            <a:r>
              <a:rPr lang="en-US" sz="4000" dirty="0"/>
              <a:t> </a:t>
            </a:r>
          </a:p>
          <a:p>
            <a:br>
              <a:rPr lang="en-US" sz="4000" dirty="0"/>
            </a:br>
            <a:endParaRPr lang="en-US" sz="4000" dirty="0"/>
          </a:p>
        </p:txBody>
      </p:sp>
      <p:sp>
        <p:nvSpPr>
          <p:cNvPr id="5" name="TextBox 4">
            <a:extLst>
              <a:ext uri="{FF2B5EF4-FFF2-40B4-BE49-F238E27FC236}">
                <a16:creationId xmlns:a16="http://schemas.microsoft.com/office/drawing/2014/main" id="{20A33F4D-444F-9C52-5DB7-CAE8FC304752}"/>
              </a:ext>
            </a:extLst>
          </p:cNvPr>
          <p:cNvSpPr txBox="1"/>
          <p:nvPr/>
        </p:nvSpPr>
        <p:spPr>
          <a:xfrm>
            <a:off x="1981200" y="3239248"/>
            <a:ext cx="14630400" cy="4154984"/>
          </a:xfrm>
          <a:prstGeom prst="rect">
            <a:avLst/>
          </a:prstGeom>
          <a:noFill/>
        </p:spPr>
        <p:txBody>
          <a:bodyPr wrap="square" rtlCol="0">
            <a:spAutoFit/>
          </a:bodyPr>
          <a:lstStyle/>
          <a:p>
            <a:pPr marL="571500" indent="-571500">
              <a:buFont typeface="Wingdings" panose="05000000000000000000" pitchFamily="2" charset="2"/>
              <a:buChar char="q"/>
            </a:pPr>
            <a:r>
              <a:rPr lang="en-US" sz="4400" dirty="0">
                <a:highlight>
                  <a:srgbClr val="FFFF00"/>
                </a:highlight>
              </a:rPr>
              <a:t>Create a record-triggered flow</a:t>
            </a:r>
          </a:p>
          <a:p>
            <a:pPr marL="571500" indent="-571500">
              <a:buFont typeface="Wingdings" panose="05000000000000000000" pitchFamily="2" charset="2"/>
              <a:buChar char="q"/>
            </a:pPr>
            <a:r>
              <a:rPr lang="en-US" sz="4400" dirty="0"/>
              <a:t>Trigger: </a:t>
            </a:r>
            <a:r>
              <a:rPr lang="en-US" sz="4400" dirty="0">
                <a:highlight>
                  <a:srgbClr val="FFFF00"/>
                </a:highlight>
              </a:rPr>
              <a:t>After Save on Account</a:t>
            </a:r>
          </a:p>
          <a:p>
            <a:pPr marL="571500" indent="-571500">
              <a:buFont typeface="Wingdings" panose="05000000000000000000" pitchFamily="2" charset="2"/>
              <a:buChar char="q"/>
            </a:pPr>
            <a:r>
              <a:rPr lang="en-US" sz="4400" dirty="0"/>
              <a:t>Entry: </a:t>
            </a:r>
            <a:r>
              <a:rPr lang="en-US" sz="4400" dirty="0">
                <a:highlight>
                  <a:srgbClr val="FFFF00"/>
                </a:highlight>
              </a:rPr>
              <a:t>Always</a:t>
            </a:r>
          </a:p>
          <a:p>
            <a:pPr marL="571500" indent="-571500">
              <a:buFont typeface="Wingdings" panose="05000000000000000000" pitchFamily="2" charset="2"/>
              <a:buChar char="q"/>
            </a:pPr>
            <a:r>
              <a:rPr lang="en-US" sz="4400" dirty="0"/>
              <a:t>Logic: </a:t>
            </a:r>
            <a:r>
              <a:rPr lang="en-US" sz="4400" i="1" dirty="0">
                <a:highlight>
                  <a:srgbClr val="FFFF00"/>
                </a:highlight>
              </a:rPr>
              <a:t>if </a:t>
            </a:r>
            <a:r>
              <a:rPr lang="en-US" sz="4400" i="1" dirty="0" err="1">
                <a:highlight>
                  <a:srgbClr val="FFFF00"/>
                </a:highlight>
              </a:rPr>
              <a:t>Health_Score__c</a:t>
            </a:r>
            <a:r>
              <a:rPr lang="en-US" sz="4400" i="1" dirty="0">
                <a:highlight>
                  <a:srgbClr val="FFFF00"/>
                </a:highlight>
              </a:rPr>
              <a:t> &lt;40, create a task for </a:t>
            </a:r>
            <a:r>
              <a:rPr lang="en-US" sz="4400" i="1" dirty="0" err="1">
                <a:highlight>
                  <a:srgbClr val="FFFF00"/>
                </a:highlight>
              </a:rPr>
              <a:t>Record.ownerId</a:t>
            </a:r>
            <a:r>
              <a:rPr lang="en-US" sz="4400" i="1" dirty="0">
                <a:highlight>
                  <a:srgbClr val="FFFF00"/>
                </a:highlight>
              </a:rPr>
              <a:t> with Subject Proactive Check-in due in 2 days, Comment Health Score fell below 40. Please reach out. </a:t>
            </a:r>
          </a:p>
        </p:txBody>
      </p:sp>
    </p:spTree>
    <p:extLst>
      <p:ext uri="{BB962C8B-B14F-4D97-AF65-F5344CB8AC3E}">
        <p14:creationId xmlns:p14="http://schemas.microsoft.com/office/powerpoint/2010/main" val="36439123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541A0BD5-8C0B-4422-2D09-04D3A46A666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B885AE1-873C-42EA-19EE-7E851854D466}"/>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a:extLst>
              <a:ext uri="{FF2B5EF4-FFF2-40B4-BE49-F238E27FC236}">
                <a16:creationId xmlns:a16="http://schemas.microsoft.com/office/drawing/2014/main" id="{6FF678C2-3EF9-F1F2-1212-B5653D279A76}"/>
              </a:ext>
            </a:extLst>
          </p:cNvPr>
          <p:cNvSpPr txBox="1"/>
          <p:nvPr/>
        </p:nvSpPr>
        <p:spPr>
          <a:xfrm>
            <a:off x="1028700" y="738392"/>
            <a:ext cx="15082046" cy="890757"/>
          </a:xfrm>
          <a:prstGeom prst="rect">
            <a:avLst/>
          </a:prstGeom>
        </p:spPr>
        <p:txBody>
          <a:bodyPr lIns="0" tIns="0" rIns="0" bIns="0" rtlCol="0" anchor="t">
            <a:spAutoFit/>
          </a:bodyPr>
          <a:lstStyle/>
          <a:p>
            <a:pPr algn="l">
              <a:lnSpc>
                <a:spcPts val="7600"/>
              </a:lnSpc>
            </a:pPr>
            <a:r>
              <a:rPr lang="en-US" sz="6230" dirty="0">
                <a:solidFill>
                  <a:srgbClr val="FFFFFF"/>
                </a:solidFill>
                <a:latin typeface="HK Modular"/>
                <a:ea typeface="HK Modular"/>
                <a:cs typeface="HK Modular"/>
                <a:sym typeface="HK Modular"/>
              </a:rPr>
              <a:t>Demo Project</a:t>
            </a:r>
          </a:p>
        </p:txBody>
      </p:sp>
      <p:sp>
        <p:nvSpPr>
          <p:cNvPr id="4" name="TextBox 3">
            <a:extLst>
              <a:ext uri="{FF2B5EF4-FFF2-40B4-BE49-F238E27FC236}">
                <a16:creationId xmlns:a16="http://schemas.microsoft.com/office/drawing/2014/main" id="{4D521E56-B5CA-51B3-8D48-6B9E1E86706B}"/>
              </a:ext>
            </a:extLst>
          </p:cNvPr>
          <p:cNvSpPr txBox="1"/>
          <p:nvPr/>
        </p:nvSpPr>
        <p:spPr>
          <a:xfrm>
            <a:off x="609600" y="1629149"/>
            <a:ext cx="17449800" cy="2554545"/>
          </a:xfrm>
          <a:prstGeom prst="rect">
            <a:avLst/>
          </a:prstGeom>
          <a:noFill/>
        </p:spPr>
        <p:txBody>
          <a:bodyPr wrap="square" rtlCol="0">
            <a:spAutoFit/>
          </a:bodyPr>
          <a:lstStyle/>
          <a:p>
            <a:endParaRPr lang="en-US" sz="4000" dirty="0"/>
          </a:p>
          <a:p>
            <a:r>
              <a:rPr lang="en-US" sz="4000" dirty="0"/>
              <a:t> </a:t>
            </a:r>
          </a:p>
          <a:p>
            <a:br>
              <a:rPr lang="en-US" sz="4000" dirty="0"/>
            </a:br>
            <a:endParaRPr lang="en-US" sz="4000" dirty="0"/>
          </a:p>
        </p:txBody>
      </p:sp>
      <p:sp>
        <p:nvSpPr>
          <p:cNvPr id="5" name="TextBox 4">
            <a:extLst>
              <a:ext uri="{FF2B5EF4-FFF2-40B4-BE49-F238E27FC236}">
                <a16:creationId xmlns:a16="http://schemas.microsoft.com/office/drawing/2014/main" id="{185A4C4E-6DD5-43CD-4873-18C27F3E7B0B}"/>
              </a:ext>
            </a:extLst>
          </p:cNvPr>
          <p:cNvSpPr txBox="1"/>
          <p:nvPr/>
        </p:nvSpPr>
        <p:spPr>
          <a:xfrm>
            <a:off x="1981200" y="3239248"/>
            <a:ext cx="14630400" cy="6186309"/>
          </a:xfrm>
          <a:prstGeom prst="rect">
            <a:avLst/>
          </a:prstGeom>
          <a:noFill/>
        </p:spPr>
        <p:txBody>
          <a:bodyPr wrap="square" rtlCol="0">
            <a:spAutoFit/>
          </a:bodyPr>
          <a:lstStyle/>
          <a:p>
            <a:pPr marL="571500" indent="-571500">
              <a:buFont typeface="Wingdings" panose="05000000000000000000" pitchFamily="2" charset="2"/>
              <a:buChar char="q"/>
            </a:pPr>
            <a:r>
              <a:rPr lang="en-US" sz="4400" i="1" dirty="0">
                <a:highlight>
                  <a:srgbClr val="FFFF00"/>
                </a:highlight>
              </a:rPr>
              <a:t>Write an Apex Service Class that calculates and updates on Account Health Score</a:t>
            </a:r>
          </a:p>
          <a:p>
            <a:pPr marL="571500" indent="-571500">
              <a:buFont typeface="Wingdings" panose="05000000000000000000" pitchFamily="2" charset="2"/>
              <a:buChar char="q"/>
            </a:pPr>
            <a:r>
              <a:rPr lang="en-US" sz="4400" i="1" dirty="0">
                <a:highlight>
                  <a:srgbClr val="FFFF00"/>
                </a:highlight>
              </a:rPr>
              <a:t>Class Name:  </a:t>
            </a:r>
            <a:r>
              <a:rPr lang="en-US" sz="4400" i="1" dirty="0" err="1">
                <a:highlight>
                  <a:srgbClr val="FFFF00"/>
                </a:highlight>
              </a:rPr>
              <a:t>AccountHealthService</a:t>
            </a:r>
            <a:endParaRPr lang="en-US" sz="4400" i="1" dirty="0">
              <a:highlight>
                <a:srgbClr val="FFFF00"/>
              </a:highlight>
            </a:endParaRPr>
          </a:p>
          <a:p>
            <a:pPr marL="571500" indent="-571500">
              <a:buFont typeface="Wingdings" panose="05000000000000000000" pitchFamily="2" charset="2"/>
              <a:buChar char="q"/>
            </a:pPr>
            <a:r>
              <a:rPr lang="en-US" sz="4400" i="1" dirty="0">
                <a:highlight>
                  <a:srgbClr val="FFFF00"/>
                </a:highlight>
              </a:rPr>
              <a:t>Visibility and </a:t>
            </a:r>
            <a:r>
              <a:rPr lang="en-US" sz="4400" i="1" dirty="0" err="1">
                <a:highlight>
                  <a:srgbClr val="FFFF00"/>
                </a:highlight>
              </a:rPr>
              <a:t>Secuirty</a:t>
            </a:r>
            <a:r>
              <a:rPr lang="en-US" sz="4400" i="1" dirty="0">
                <a:highlight>
                  <a:srgbClr val="FFFF00"/>
                </a:highlight>
              </a:rPr>
              <a:t>:  public with sharing</a:t>
            </a:r>
          </a:p>
          <a:p>
            <a:pPr marL="571500" indent="-571500">
              <a:buFont typeface="Wingdings" panose="05000000000000000000" pitchFamily="2" charset="2"/>
              <a:buChar char="q"/>
            </a:pPr>
            <a:r>
              <a:rPr lang="en-US" sz="4400" i="1" dirty="0">
                <a:highlight>
                  <a:srgbClr val="FFFF00"/>
                </a:highlight>
              </a:rPr>
              <a:t>Method Signature:</a:t>
            </a:r>
          </a:p>
          <a:p>
            <a:pPr marL="571500" indent="-571500">
              <a:buFont typeface="Wingdings" panose="05000000000000000000" pitchFamily="2" charset="2"/>
              <a:buChar char="q"/>
            </a:pPr>
            <a:r>
              <a:rPr lang="en-US" sz="4400" i="1" dirty="0">
                <a:highlight>
                  <a:srgbClr val="FFFF00"/>
                </a:highlight>
              </a:rPr>
              <a:t>     public static void </a:t>
            </a:r>
            <a:r>
              <a:rPr lang="en-US" sz="4400" i="1" dirty="0" err="1">
                <a:highlight>
                  <a:srgbClr val="FFFF00"/>
                </a:highlight>
              </a:rPr>
              <a:t>updateHealthScores</a:t>
            </a:r>
            <a:r>
              <a:rPr lang="en-US" sz="4400" i="1" dirty="0">
                <a:highlight>
                  <a:srgbClr val="FFFF00"/>
                </a:highlight>
              </a:rPr>
              <a:t> (Set &lt;Id&gt; </a:t>
            </a:r>
            <a:r>
              <a:rPr lang="en-US" sz="4400" i="1" dirty="0" err="1">
                <a:highlight>
                  <a:srgbClr val="FFFF00"/>
                </a:highlight>
              </a:rPr>
              <a:t>accountIds</a:t>
            </a:r>
            <a:r>
              <a:rPr lang="en-US" sz="4400" i="1" dirty="0">
                <a:highlight>
                  <a:srgbClr val="FFFF00"/>
                </a:highlight>
              </a:rPr>
              <a:t>)</a:t>
            </a:r>
          </a:p>
          <a:p>
            <a:pPr marL="571500" indent="-571500">
              <a:buFont typeface="Wingdings" panose="05000000000000000000" pitchFamily="2" charset="2"/>
              <a:buChar char="q"/>
            </a:pPr>
            <a:endParaRPr lang="en-US" sz="4400" i="1" dirty="0">
              <a:highlight>
                <a:srgbClr val="FFFF00"/>
              </a:highlight>
            </a:endParaRPr>
          </a:p>
          <a:p>
            <a:pPr marL="571500" indent="-571500">
              <a:buFont typeface="Wingdings" panose="05000000000000000000" pitchFamily="2" charset="2"/>
              <a:buChar char="q"/>
            </a:pPr>
            <a:endParaRPr lang="en-US" sz="4400" i="1" dirty="0">
              <a:highlight>
                <a:srgbClr val="FFFF00"/>
              </a:highlight>
            </a:endParaRPr>
          </a:p>
        </p:txBody>
      </p:sp>
    </p:spTree>
    <p:extLst>
      <p:ext uri="{BB962C8B-B14F-4D97-AF65-F5344CB8AC3E}">
        <p14:creationId xmlns:p14="http://schemas.microsoft.com/office/powerpoint/2010/main" val="1061891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F5AF1216-1B6E-6E62-E8F7-CB58FDEBA9A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C5973DE-ABFB-5B9E-8AC9-96B3525FD270}"/>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570D9933-BAA2-C1B8-4E99-F90C03CF6BB6}"/>
              </a:ext>
            </a:extLst>
          </p:cNvPr>
          <p:cNvSpPr txBox="1"/>
          <p:nvPr/>
        </p:nvSpPr>
        <p:spPr>
          <a:xfrm>
            <a:off x="609600" y="1629149"/>
            <a:ext cx="17449800" cy="2554545"/>
          </a:xfrm>
          <a:prstGeom prst="rect">
            <a:avLst/>
          </a:prstGeom>
          <a:noFill/>
        </p:spPr>
        <p:txBody>
          <a:bodyPr wrap="square" rtlCol="0">
            <a:spAutoFit/>
          </a:bodyPr>
          <a:lstStyle/>
          <a:p>
            <a:endParaRPr lang="en-US" sz="4000" dirty="0"/>
          </a:p>
          <a:p>
            <a:r>
              <a:rPr lang="en-US" sz="4000" dirty="0"/>
              <a:t> </a:t>
            </a:r>
          </a:p>
          <a:p>
            <a:br>
              <a:rPr lang="en-US" sz="4000" dirty="0"/>
            </a:br>
            <a:endParaRPr lang="en-US" sz="4000" dirty="0"/>
          </a:p>
        </p:txBody>
      </p:sp>
      <p:sp>
        <p:nvSpPr>
          <p:cNvPr id="5" name="TextBox 4">
            <a:extLst>
              <a:ext uri="{FF2B5EF4-FFF2-40B4-BE49-F238E27FC236}">
                <a16:creationId xmlns:a16="http://schemas.microsoft.com/office/drawing/2014/main" id="{0BED281F-F9F8-61D5-ED3C-8BF69B3927DF}"/>
              </a:ext>
            </a:extLst>
          </p:cNvPr>
          <p:cNvSpPr txBox="1"/>
          <p:nvPr/>
        </p:nvSpPr>
        <p:spPr>
          <a:xfrm>
            <a:off x="1219200" y="190500"/>
            <a:ext cx="14782800" cy="11480066"/>
          </a:xfrm>
          <a:prstGeom prst="rect">
            <a:avLst/>
          </a:prstGeom>
          <a:noFill/>
        </p:spPr>
        <p:txBody>
          <a:bodyPr wrap="square" rtlCol="0">
            <a:spAutoFit/>
          </a:bodyPr>
          <a:lstStyle/>
          <a:p>
            <a:r>
              <a:rPr lang="en-US" sz="4400" b="1" i="1" dirty="0" err="1"/>
              <a:t>RevenueScore</a:t>
            </a:r>
            <a:r>
              <a:rPr lang="en-US" sz="4400" b="1" i="1" dirty="0"/>
              <a:t>  from </a:t>
            </a:r>
            <a:r>
              <a:rPr lang="en-US" sz="4400" b="1" i="1" dirty="0" err="1"/>
              <a:t>AnnualRevenue</a:t>
            </a:r>
            <a:endParaRPr lang="en-US" sz="4400" b="1" i="1" dirty="0"/>
          </a:p>
          <a:p>
            <a:r>
              <a:rPr lang="en-US" sz="4400" b="1" dirty="0" err="1"/>
              <a:t>RecentWinsScore</a:t>
            </a:r>
            <a:r>
              <a:rPr lang="en-US" sz="4400" dirty="0"/>
              <a:t> from Last_90_Day_Wins__c(currency)</a:t>
            </a:r>
          </a:p>
          <a:p>
            <a:r>
              <a:rPr lang="en-US" sz="4400" b="1" dirty="0">
                <a:highlight>
                  <a:srgbClr val="FFFF00"/>
                </a:highlight>
              </a:rPr>
              <a:t>Scoring rules (spell this out exactly):</a:t>
            </a:r>
            <a:endParaRPr lang="en-US" sz="4400" dirty="0">
              <a:highlight>
                <a:srgbClr val="FFFF00"/>
              </a:highlight>
            </a:endParaRPr>
          </a:p>
          <a:p>
            <a:r>
              <a:rPr lang="en-US" sz="4400" b="1" dirty="0" err="1"/>
              <a:t>RevenueScore</a:t>
            </a:r>
            <a:r>
              <a:rPr lang="en-US" sz="4400" b="1" dirty="0"/>
              <a:t> (based on </a:t>
            </a:r>
            <a:r>
              <a:rPr lang="en-US" sz="4400" b="1" dirty="0" err="1"/>
              <a:t>AnnualRevenue</a:t>
            </a:r>
            <a:r>
              <a:rPr lang="en-US" sz="4400" b="1" dirty="0"/>
              <a:t>):</a:t>
            </a:r>
            <a:endParaRPr lang="en-US" sz="4400" dirty="0"/>
          </a:p>
          <a:p>
            <a:r>
              <a:rPr lang="en-US" sz="4400" dirty="0"/>
              <a:t>If </a:t>
            </a:r>
            <a:r>
              <a:rPr lang="en-US" sz="4400" dirty="0" err="1"/>
              <a:t>AnnualRevenue</a:t>
            </a:r>
            <a:r>
              <a:rPr lang="en-US" sz="4400" dirty="0"/>
              <a:t> is </a:t>
            </a:r>
            <a:r>
              <a:rPr lang="en-US" sz="4400" b="1" dirty="0"/>
              <a:t>null or 0</a:t>
            </a:r>
            <a:r>
              <a:rPr lang="en-US" sz="4400" dirty="0"/>
              <a:t> → </a:t>
            </a:r>
            <a:r>
              <a:rPr lang="en-US" sz="4400" b="1" dirty="0"/>
              <a:t>0 points</a:t>
            </a:r>
            <a:endParaRPr lang="en-US" sz="4400" dirty="0"/>
          </a:p>
          <a:p>
            <a:r>
              <a:rPr lang="en-US" sz="4400" dirty="0"/>
              <a:t>If </a:t>
            </a:r>
            <a:r>
              <a:rPr lang="en-US" sz="4400" dirty="0" err="1"/>
              <a:t>AnnualRevenue</a:t>
            </a:r>
            <a:r>
              <a:rPr lang="en-US" sz="4400" dirty="0"/>
              <a:t> </a:t>
            </a:r>
            <a:r>
              <a:rPr lang="en-US" sz="4400" b="1" dirty="0"/>
              <a:t>&gt; 0 and &lt; 250,000</a:t>
            </a:r>
            <a:r>
              <a:rPr lang="en-US" sz="4400" dirty="0"/>
              <a:t> → </a:t>
            </a:r>
            <a:r>
              <a:rPr lang="en-US" sz="4400" b="1" dirty="0"/>
              <a:t>10 points</a:t>
            </a:r>
            <a:endParaRPr lang="en-US" sz="4400" dirty="0"/>
          </a:p>
          <a:p>
            <a:r>
              <a:rPr lang="en-US" sz="4400" dirty="0"/>
              <a:t>If </a:t>
            </a:r>
            <a:r>
              <a:rPr lang="en-US" sz="4400" dirty="0" err="1"/>
              <a:t>AnnualRevenue</a:t>
            </a:r>
            <a:r>
              <a:rPr lang="en-US" sz="4400" dirty="0"/>
              <a:t> </a:t>
            </a:r>
            <a:r>
              <a:rPr lang="en-US" sz="4400" b="1" dirty="0"/>
              <a:t>&gt;= 250,000 and &lt; 1,000,000</a:t>
            </a:r>
            <a:r>
              <a:rPr lang="en-US" sz="4400" dirty="0"/>
              <a:t> → </a:t>
            </a:r>
            <a:r>
              <a:rPr lang="en-US" sz="4400" b="1" dirty="0"/>
              <a:t>30 points</a:t>
            </a:r>
            <a:endParaRPr lang="en-US" sz="4400" dirty="0"/>
          </a:p>
          <a:p>
            <a:r>
              <a:rPr lang="en-US" sz="4400" dirty="0"/>
              <a:t>If </a:t>
            </a:r>
            <a:r>
              <a:rPr lang="en-US" sz="4400" dirty="0" err="1"/>
              <a:t>AnnualRevenue</a:t>
            </a:r>
            <a:r>
              <a:rPr lang="en-US" sz="4400" dirty="0"/>
              <a:t> </a:t>
            </a:r>
            <a:r>
              <a:rPr lang="en-US" sz="4400" b="1" dirty="0"/>
              <a:t>&gt;= 1,000,000</a:t>
            </a:r>
            <a:r>
              <a:rPr lang="en-US" sz="4400" dirty="0"/>
              <a:t> → </a:t>
            </a:r>
            <a:r>
              <a:rPr lang="en-US" sz="4400" b="1" dirty="0"/>
              <a:t>50 points</a:t>
            </a:r>
            <a:endParaRPr lang="en-US" sz="4400" dirty="0"/>
          </a:p>
          <a:p>
            <a:r>
              <a:rPr lang="en-US" sz="4400" b="1" dirty="0" err="1">
                <a:highlight>
                  <a:srgbClr val="FFFF00"/>
                </a:highlight>
              </a:rPr>
              <a:t>RecentWinsScore</a:t>
            </a:r>
            <a:r>
              <a:rPr lang="en-US" sz="4400" b="1" dirty="0">
                <a:highlight>
                  <a:srgbClr val="FFFF00"/>
                </a:highlight>
              </a:rPr>
              <a:t> (based on Last_90_Day_Wins__c):</a:t>
            </a:r>
            <a:endParaRPr lang="en-US" sz="4400" dirty="0">
              <a:highlight>
                <a:srgbClr val="FFFF00"/>
              </a:highlight>
            </a:endParaRPr>
          </a:p>
          <a:p>
            <a:r>
              <a:rPr lang="en-US" sz="4400" dirty="0"/>
              <a:t>If Last_90_Day_Wins__c is </a:t>
            </a:r>
            <a:r>
              <a:rPr lang="en-US" sz="4400" b="1" dirty="0"/>
              <a:t>null or 0</a:t>
            </a:r>
            <a:r>
              <a:rPr lang="en-US" sz="4400" dirty="0"/>
              <a:t> → </a:t>
            </a:r>
            <a:r>
              <a:rPr lang="en-US" sz="4400" b="1" dirty="0"/>
              <a:t>0 points</a:t>
            </a:r>
            <a:endParaRPr lang="en-US" sz="4400" dirty="0"/>
          </a:p>
          <a:p>
            <a:r>
              <a:rPr lang="en-US" sz="4400" dirty="0"/>
              <a:t>If Last_90_Day_Wins__c </a:t>
            </a:r>
            <a:r>
              <a:rPr lang="en-US" sz="4400" b="1" dirty="0"/>
              <a:t>&gt; 0 and &lt; 25,000</a:t>
            </a:r>
            <a:r>
              <a:rPr lang="en-US" sz="4400" dirty="0"/>
              <a:t> → </a:t>
            </a:r>
            <a:r>
              <a:rPr lang="en-US" sz="4400" b="1" dirty="0"/>
              <a:t>10 points</a:t>
            </a:r>
            <a:endParaRPr lang="en-US" sz="4400" dirty="0"/>
          </a:p>
          <a:p>
            <a:r>
              <a:rPr lang="en-US" sz="4400" dirty="0"/>
              <a:t>If Last_90_Day_Wins__c </a:t>
            </a:r>
            <a:r>
              <a:rPr lang="en-US" sz="4400" b="1" dirty="0"/>
              <a:t>&gt;= 25,000 and &lt; 100,000</a:t>
            </a:r>
            <a:r>
              <a:rPr lang="en-US" sz="4400" dirty="0"/>
              <a:t> → </a:t>
            </a:r>
            <a:r>
              <a:rPr lang="en-US" sz="4400" b="1" dirty="0"/>
              <a:t>30 points</a:t>
            </a:r>
            <a:endParaRPr lang="en-US" sz="4400" dirty="0"/>
          </a:p>
          <a:p>
            <a:r>
              <a:rPr lang="en-US" sz="4400" dirty="0"/>
              <a:t>If Last_90_Day_Wins__c </a:t>
            </a:r>
            <a:r>
              <a:rPr lang="en-US" sz="4400" b="1" dirty="0"/>
              <a:t>&gt;= 100,000</a:t>
            </a:r>
            <a:r>
              <a:rPr lang="en-US" sz="4400" dirty="0"/>
              <a:t> → </a:t>
            </a:r>
            <a:r>
              <a:rPr lang="en-US" sz="4400" b="1" dirty="0"/>
              <a:t>50 points</a:t>
            </a:r>
            <a:endParaRPr lang="en-US" sz="4400" dirty="0"/>
          </a:p>
          <a:p>
            <a:r>
              <a:rPr lang="en-US" sz="4400" b="1" dirty="0">
                <a:highlight>
                  <a:srgbClr val="FFFF00"/>
                </a:highlight>
              </a:rPr>
              <a:t>Final score:</a:t>
            </a:r>
            <a:br>
              <a:rPr lang="en-US" sz="4400" dirty="0">
                <a:highlight>
                  <a:srgbClr val="FFFF00"/>
                </a:highlight>
              </a:rPr>
            </a:br>
            <a:r>
              <a:rPr lang="en-US" sz="3200" dirty="0" err="1">
                <a:highlight>
                  <a:srgbClr val="FFFF00"/>
                </a:highlight>
              </a:rPr>
              <a:t>Health_Score__c</a:t>
            </a:r>
            <a:r>
              <a:rPr lang="en-US" sz="3200" dirty="0">
                <a:highlight>
                  <a:srgbClr val="FFFF00"/>
                </a:highlight>
              </a:rPr>
              <a:t> </a:t>
            </a:r>
            <a:r>
              <a:rPr lang="en-US" dirty="0">
                <a:highlight>
                  <a:srgbClr val="FFFF00"/>
                </a:highlight>
              </a:rPr>
              <a:t>= </a:t>
            </a:r>
            <a:r>
              <a:rPr lang="en-US" sz="3200" dirty="0" err="1">
                <a:highlight>
                  <a:srgbClr val="FFFF00"/>
                </a:highlight>
              </a:rPr>
              <a:t>RevenueScore</a:t>
            </a:r>
            <a:r>
              <a:rPr lang="en-US" dirty="0">
                <a:highlight>
                  <a:srgbClr val="FFFF00"/>
                </a:highlight>
              </a:rPr>
              <a:t> </a:t>
            </a:r>
            <a:r>
              <a:rPr lang="en-US" sz="3600" dirty="0">
                <a:highlight>
                  <a:srgbClr val="FFFF00"/>
                </a:highlight>
              </a:rPr>
              <a:t>+</a:t>
            </a:r>
            <a:r>
              <a:rPr lang="en-US" dirty="0">
                <a:highlight>
                  <a:srgbClr val="FFFF00"/>
                </a:highlight>
              </a:rPr>
              <a:t> </a:t>
            </a:r>
            <a:r>
              <a:rPr lang="en-US" sz="3200" dirty="0" err="1">
                <a:highlight>
                  <a:srgbClr val="FFFF00"/>
                </a:highlight>
              </a:rPr>
              <a:t>RecentWinsScore</a:t>
            </a:r>
            <a:endParaRPr lang="en-US" sz="4400" dirty="0">
              <a:highlight>
                <a:srgbClr val="FFFF00"/>
              </a:highlight>
            </a:endParaRPr>
          </a:p>
          <a:p>
            <a:pPr marL="571500" indent="-571500">
              <a:buFont typeface="Wingdings" panose="05000000000000000000" pitchFamily="2" charset="2"/>
              <a:buChar char="q"/>
            </a:pPr>
            <a:endParaRPr lang="en-US" sz="4400" i="1" dirty="0"/>
          </a:p>
          <a:p>
            <a:pPr marL="571500" indent="-571500">
              <a:buFont typeface="Wingdings" panose="05000000000000000000" pitchFamily="2" charset="2"/>
              <a:buChar char="q"/>
            </a:pPr>
            <a:endParaRPr lang="en-US" sz="4400" i="1" dirty="0"/>
          </a:p>
        </p:txBody>
      </p:sp>
    </p:spTree>
    <p:extLst>
      <p:ext uri="{BB962C8B-B14F-4D97-AF65-F5344CB8AC3E}">
        <p14:creationId xmlns:p14="http://schemas.microsoft.com/office/powerpoint/2010/main" val="17296058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69768E4A-5141-3D8A-15D4-3BD5D0E0FB4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38A15A6-91F8-D38B-D48B-5A4CFDB9C851}"/>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DCD9F6EB-0035-9978-F83D-D3A88AB67E73}"/>
              </a:ext>
            </a:extLst>
          </p:cNvPr>
          <p:cNvSpPr txBox="1"/>
          <p:nvPr/>
        </p:nvSpPr>
        <p:spPr>
          <a:xfrm>
            <a:off x="830179" y="450828"/>
            <a:ext cx="17449800" cy="925894"/>
          </a:xfrm>
          <a:prstGeom prst="rect">
            <a:avLst/>
          </a:prstGeom>
          <a:noFill/>
        </p:spPr>
        <p:txBody>
          <a:bodyPr wrap="square" rtlCol="0">
            <a:spAutoFit/>
          </a:bodyPr>
          <a:lstStyle/>
          <a:p>
            <a:pPr>
              <a:lnSpc>
                <a:spcPts val="7600"/>
              </a:lnSpc>
            </a:pPr>
            <a:r>
              <a:rPr lang="en-US" sz="4000" dirty="0">
                <a:solidFill>
                  <a:srgbClr val="FFFFFF"/>
                </a:solidFill>
                <a:latin typeface="HK Modular"/>
                <a:ea typeface="HK Modular"/>
                <a:cs typeface="HK Modular"/>
                <a:sym typeface="HK Modular"/>
              </a:rPr>
              <a:t>Demo Project</a:t>
            </a:r>
          </a:p>
        </p:txBody>
      </p:sp>
      <p:sp>
        <p:nvSpPr>
          <p:cNvPr id="5" name="TextBox 4">
            <a:extLst>
              <a:ext uri="{FF2B5EF4-FFF2-40B4-BE49-F238E27FC236}">
                <a16:creationId xmlns:a16="http://schemas.microsoft.com/office/drawing/2014/main" id="{0EA4B82B-687F-E7FF-0193-E61431C9B64F}"/>
              </a:ext>
            </a:extLst>
          </p:cNvPr>
          <p:cNvSpPr txBox="1"/>
          <p:nvPr/>
        </p:nvSpPr>
        <p:spPr>
          <a:xfrm>
            <a:off x="1219200" y="190500"/>
            <a:ext cx="14782800" cy="1446550"/>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3195923C-AE71-6BF4-76B7-7E092086CB7E}"/>
              </a:ext>
            </a:extLst>
          </p:cNvPr>
          <p:cNvSpPr txBox="1"/>
          <p:nvPr/>
        </p:nvSpPr>
        <p:spPr>
          <a:xfrm>
            <a:off x="274514" y="2171700"/>
            <a:ext cx="15498885" cy="6863417"/>
          </a:xfrm>
          <a:prstGeom prst="rect">
            <a:avLst/>
          </a:prstGeom>
          <a:noFill/>
        </p:spPr>
        <p:txBody>
          <a:bodyPr wrap="square" rtlCol="0">
            <a:spAutoFit/>
          </a:bodyPr>
          <a:lstStyle/>
          <a:p>
            <a:pPr marL="571500" indent="-571500">
              <a:buFont typeface="Wingdings" panose="05000000000000000000" pitchFamily="2" charset="2"/>
              <a:buChar char="q"/>
            </a:pPr>
            <a:r>
              <a:rPr lang="en-US" sz="4400" dirty="0"/>
              <a:t>Now write a test class </a:t>
            </a:r>
            <a:r>
              <a:rPr lang="en-US" sz="4400" dirty="0" err="1">
                <a:highlight>
                  <a:srgbClr val="FFFF00"/>
                </a:highlight>
              </a:rPr>
              <a:t>AccountHealthServiceTest</a:t>
            </a:r>
            <a:r>
              <a:rPr lang="en-US" sz="4400" dirty="0"/>
              <a:t> that:</a:t>
            </a:r>
          </a:p>
          <a:p>
            <a:pPr marL="571500" indent="-571500">
              <a:buFont typeface="Wingdings" panose="05000000000000000000" pitchFamily="2" charset="2"/>
              <a:buChar char="q"/>
            </a:pPr>
            <a:r>
              <a:rPr lang="en-US" sz="4400" dirty="0"/>
              <a:t>Inserts </a:t>
            </a:r>
            <a:r>
              <a:rPr lang="en-US" sz="4400" b="1" dirty="0">
                <a:highlight>
                  <a:srgbClr val="FFFF00"/>
                </a:highlight>
              </a:rPr>
              <a:t>four</a:t>
            </a:r>
            <a:r>
              <a:rPr lang="en-US" sz="4400" dirty="0">
                <a:highlight>
                  <a:srgbClr val="FFFF00"/>
                </a:highlight>
              </a:rPr>
              <a:t> Accounts covering each revenue bucket and each wins bucket</a:t>
            </a:r>
            <a:r>
              <a:rPr lang="en-US" sz="4400" dirty="0"/>
              <a:t> </a:t>
            </a:r>
          </a:p>
          <a:p>
            <a:pPr marL="571500" indent="-571500">
              <a:buFont typeface="Wingdings" panose="05000000000000000000" pitchFamily="2" charset="2"/>
              <a:buChar char="q"/>
            </a:pPr>
            <a:r>
              <a:rPr lang="en-US" sz="4400" dirty="0"/>
              <a:t>Calls </a:t>
            </a:r>
            <a:r>
              <a:rPr lang="en-US" sz="4400" dirty="0" err="1"/>
              <a:t>AccountHealthService.updateHealthScores</a:t>
            </a:r>
            <a:r>
              <a:rPr lang="en-US" sz="4400" dirty="0"/>
              <a:t>(new Set&lt;Id&gt;{…}).</a:t>
            </a:r>
          </a:p>
          <a:p>
            <a:pPr marL="571500" indent="-571500">
              <a:buFont typeface="Wingdings" panose="05000000000000000000" pitchFamily="2" charset="2"/>
              <a:buChar char="q"/>
            </a:pPr>
            <a:r>
              <a:rPr lang="en-US" sz="4400" dirty="0"/>
              <a:t>Asserts the exact </a:t>
            </a:r>
            <a:r>
              <a:rPr lang="en-US" sz="4400" dirty="0" err="1"/>
              <a:t>Health_Score__c</a:t>
            </a:r>
            <a:r>
              <a:rPr lang="en-US" sz="4400" dirty="0"/>
              <a:t> for several representative accounts (e.g., 50+50=100, 30+10=40, 10+0=10, 0+0=0).</a:t>
            </a:r>
          </a:p>
          <a:p>
            <a:pPr marL="571500" indent="-571500">
              <a:buFont typeface="Wingdings" panose="05000000000000000000" pitchFamily="2" charset="2"/>
              <a:buChar char="q"/>
            </a:pPr>
            <a:r>
              <a:rPr lang="en-US" sz="4400" dirty="0"/>
              <a:t>Uses no </a:t>
            </a:r>
            <a:r>
              <a:rPr lang="en-US" sz="4400" dirty="0" err="1">
                <a:highlight>
                  <a:srgbClr val="FFFF00"/>
                </a:highlight>
              </a:rPr>
              <a:t>seeAllData</a:t>
            </a:r>
            <a:r>
              <a:rPr lang="en-US" sz="4400" dirty="0"/>
              <a:t>=true.</a:t>
            </a:r>
          </a:p>
          <a:p>
            <a:pPr marL="571500" indent="-571500">
              <a:buFont typeface="Wingdings" panose="05000000000000000000" pitchFamily="2" charset="2"/>
              <a:buChar char="q"/>
            </a:pPr>
            <a:r>
              <a:rPr lang="en-US" sz="4400" dirty="0"/>
              <a:t>Achieves </a:t>
            </a:r>
            <a:r>
              <a:rPr lang="en-US" sz="4400" b="1" dirty="0">
                <a:highlight>
                  <a:srgbClr val="FFFF00"/>
                </a:highlight>
              </a:rPr>
              <a:t>≥ 90% coverage</a:t>
            </a:r>
            <a:r>
              <a:rPr lang="en-US" sz="4400" dirty="0">
                <a:highlight>
                  <a:srgbClr val="FFFF00"/>
                </a:highlight>
              </a:rPr>
              <a:t> </a:t>
            </a:r>
            <a:r>
              <a:rPr lang="en-US" sz="4400" dirty="0"/>
              <a:t>for the service class.”</a:t>
            </a:r>
          </a:p>
          <a:p>
            <a:pPr marL="571500" indent="-571500">
              <a:buFont typeface="Wingdings" panose="05000000000000000000" pitchFamily="2" charset="2"/>
              <a:buChar char="q"/>
            </a:pPr>
            <a:endParaRPr lang="en-US" sz="4400" dirty="0"/>
          </a:p>
        </p:txBody>
      </p:sp>
    </p:spTree>
    <p:extLst>
      <p:ext uri="{BB962C8B-B14F-4D97-AF65-F5344CB8AC3E}">
        <p14:creationId xmlns:p14="http://schemas.microsoft.com/office/powerpoint/2010/main" val="2114287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CE7CE1A4-EF54-AE16-508B-70DDB68A646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3F0D89C-59C3-7636-B463-71AC3CD8E1F2}"/>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609A9C15-5DE7-F915-F470-D07874B510DD}"/>
              </a:ext>
            </a:extLst>
          </p:cNvPr>
          <p:cNvSpPr txBox="1"/>
          <p:nvPr/>
        </p:nvSpPr>
        <p:spPr>
          <a:xfrm>
            <a:off x="830179" y="450828"/>
            <a:ext cx="17449800" cy="925894"/>
          </a:xfrm>
          <a:prstGeom prst="rect">
            <a:avLst/>
          </a:prstGeom>
          <a:noFill/>
        </p:spPr>
        <p:txBody>
          <a:bodyPr wrap="square" rtlCol="0">
            <a:spAutoFit/>
          </a:bodyPr>
          <a:lstStyle/>
          <a:p>
            <a:pPr>
              <a:lnSpc>
                <a:spcPts val="7600"/>
              </a:lnSpc>
            </a:pPr>
            <a:r>
              <a:rPr lang="en-US" sz="4000" dirty="0">
                <a:solidFill>
                  <a:srgbClr val="FFFFFF"/>
                </a:solidFill>
                <a:latin typeface="HK Modular"/>
                <a:ea typeface="HK Modular"/>
                <a:cs typeface="HK Modular"/>
                <a:sym typeface="HK Modular"/>
              </a:rPr>
              <a:t>Demo Project</a:t>
            </a:r>
          </a:p>
        </p:txBody>
      </p:sp>
      <p:sp>
        <p:nvSpPr>
          <p:cNvPr id="5" name="TextBox 4">
            <a:extLst>
              <a:ext uri="{FF2B5EF4-FFF2-40B4-BE49-F238E27FC236}">
                <a16:creationId xmlns:a16="http://schemas.microsoft.com/office/drawing/2014/main" id="{18F3B115-6E3E-F16A-B610-CC84ECAD58E0}"/>
              </a:ext>
            </a:extLst>
          </p:cNvPr>
          <p:cNvSpPr txBox="1"/>
          <p:nvPr/>
        </p:nvSpPr>
        <p:spPr>
          <a:xfrm>
            <a:off x="1219200" y="190500"/>
            <a:ext cx="14782800" cy="1446550"/>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36E23EC4-1A8B-9698-2C33-B51DCA2BFB0A}"/>
              </a:ext>
            </a:extLst>
          </p:cNvPr>
          <p:cNvSpPr txBox="1"/>
          <p:nvPr/>
        </p:nvSpPr>
        <p:spPr>
          <a:xfrm>
            <a:off x="274514" y="2171700"/>
            <a:ext cx="15498885" cy="3477875"/>
          </a:xfrm>
          <a:prstGeom prst="rect">
            <a:avLst/>
          </a:prstGeom>
          <a:noFill/>
        </p:spPr>
        <p:txBody>
          <a:bodyPr wrap="square" rtlCol="0">
            <a:spAutoFit/>
          </a:bodyPr>
          <a:lstStyle/>
          <a:p>
            <a:pPr marL="571500" indent="-571500">
              <a:buFont typeface="Wingdings" panose="05000000000000000000" pitchFamily="2" charset="2"/>
              <a:buChar char="q"/>
            </a:pPr>
            <a:r>
              <a:rPr lang="en-US" sz="4400" dirty="0"/>
              <a:t>Implement a bulk-safe Opportunity trigger and trigger handler that rolls up </a:t>
            </a:r>
            <a:r>
              <a:rPr lang="en-US" sz="4400" b="1" dirty="0"/>
              <a:t>Closed Won</a:t>
            </a:r>
            <a:r>
              <a:rPr lang="en-US" sz="4400" dirty="0"/>
              <a:t> amounts from the </a:t>
            </a:r>
            <a:r>
              <a:rPr lang="en-US" sz="4400" b="1" dirty="0"/>
              <a:t>last 90 days</a:t>
            </a:r>
            <a:r>
              <a:rPr lang="en-US" sz="4400" dirty="0"/>
              <a:t> to the parent </a:t>
            </a:r>
            <a:r>
              <a:rPr lang="en-US" sz="4400" b="1" dirty="0"/>
              <a:t>Account</a:t>
            </a:r>
            <a:r>
              <a:rPr lang="en-US" sz="4400" dirty="0"/>
              <a:t> field Last_90_Day_Wins__c(Currency), then recalculates account health via </a:t>
            </a:r>
            <a:r>
              <a:rPr lang="en-US" sz="4400" dirty="0" err="1">
                <a:highlight>
                  <a:srgbClr val="FFFF00"/>
                </a:highlight>
              </a:rPr>
              <a:t>AccountHealthService.updateHealthScores</a:t>
            </a:r>
            <a:r>
              <a:rPr lang="en-US" sz="4400" dirty="0">
                <a:highlight>
                  <a:srgbClr val="FFFF00"/>
                </a:highlight>
              </a:rPr>
              <a:t>(…)</a:t>
            </a:r>
          </a:p>
        </p:txBody>
      </p:sp>
    </p:spTree>
    <p:extLst>
      <p:ext uri="{BB962C8B-B14F-4D97-AF65-F5344CB8AC3E}">
        <p14:creationId xmlns:p14="http://schemas.microsoft.com/office/powerpoint/2010/main" val="13673693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EC9B55D4-0EBA-8D0C-1EDC-7966B7C022A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B151CC-5D52-79C9-2D03-6AAC6CFB9C60}"/>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48CCC5EA-AB3C-E091-2812-19B4ABAB8759}"/>
              </a:ext>
            </a:extLst>
          </p:cNvPr>
          <p:cNvSpPr txBox="1"/>
          <p:nvPr/>
        </p:nvSpPr>
        <p:spPr>
          <a:xfrm>
            <a:off x="830179" y="450828"/>
            <a:ext cx="17449800" cy="925894"/>
          </a:xfrm>
          <a:prstGeom prst="rect">
            <a:avLst/>
          </a:prstGeom>
          <a:noFill/>
        </p:spPr>
        <p:txBody>
          <a:bodyPr wrap="square" rtlCol="0">
            <a:spAutoFit/>
          </a:bodyPr>
          <a:lstStyle/>
          <a:p>
            <a:pPr>
              <a:lnSpc>
                <a:spcPts val="7600"/>
              </a:lnSpc>
            </a:pPr>
            <a:r>
              <a:rPr lang="en-US" sz="4000" dirty="0">
                <a:solidFill>
                  <a:srgbClr val="FFFFFF"/>
                </a:solidFill>
                <a:latin typeface="HK Modular"/>
                <a:ea typeface="HK Modular"/>
                <a:cs typeface="HK Modular"/>
                <a:sym typeface="HK Modular"/>
              </a:rPr>
              <a:t>Demo Project</a:t>
            </a:r>
          </a:p>
        </p:txBody>
      </p:sp>
      <p:sp>
        <p:nvSpPr>
          <p:cNvPr id="5" name="TextBox 4">
            <a:extLst>
              <a:ext uri="{FF2B5EF4-FFF2-40B4-BE49-F238E27FC236}">
                <a16:creationId xmlns:a16="http://schemas.microsoft.com/office/drawing/2014/main" id="{6CE2D32B-755B-BD43-63E8-69414DD739DF}"/>
              </a:ext>
            </a:extLst>
          </p:cNvPr>
          <p:cNvSpPr txBox="1"/>
          <p:nvPr/>
        </p:nvSpPr>
        <p:spPr>
          <a:xfrm>
            <a:off x="1219200" y="190500"/>
            <a:ext cx="14782800" cy="1446550"/>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E24A883D-F57B-A656-5868-F3C9B4E809FD}"/>
              </a:ext>
            </a:extLst>
          </p:cNvPr>
          <p:cNvSpPr txBox="1"/>
          <p:nvPr/>
        </p:nvSpPr>
        <p:spPr>
          <a:xfrm>
            <a:off x="228600" y="2171700"/>
            <a:ext cx="15498885" cy="6432530"/>
          </a:xfrm>
          <a:prstGeom prst="rect">
            <a:avLst/>
          </a:prstGeom>
          <a:noFill/>
        </p:spPr>
        <p:txBody>
          <a:bodyPr wrap="square" rtlCol="0">
            <a:spAutoFit/>
          </a:bodyPr>
          <a:lstStyle/>
          <a:p>
            <a:pPr marL="571500" indent="-571500">
              <a:buFont typeface="Wingdings" panose="05000000000000000000" pitchFamily="2" charset="2"/>
              <a:buChar char="q"/>
            </a:pPr>
            <a:r>
              <a:rPr lang="en-US" sz="4400" dirty="0">
                <a:highlight>
                  <a:srgbClr val="FFFF00"/>
                </a:highlight>
              </a:rPr>
              <a:t>Create a test class for this OpportunityTriggerHandler.</a:t>
            </a:r>
          </a:p>
          <a:p>
            <a:r>
              <a:rPr lang="en-US" sz="3600" b="1" dirty="0"/>
              <a:t>Happy path:</a:t>
            </a:r>
            <a:endParaRPr lang="en-US" sz="3600" dirty="0"/>
          </a:p>
          <a:p>
            <a:r>
              <a:rPr lang="en-US" sz="3600" dirty="0"/>
              <a:t>Insert an Account (e.g., </a:t>
            </a:r>
            <a:r>
              <a:rPr lang="en-US" sz="3600" dirty="0" err="1"/>
              <a:t>BigCo</a:t>
            </a:r>
            <a:r>
              <a:rPr lang="en-US" sz="3600" dirty="0"/>
              <a:t>) with some </a:t>
            </a:r>
            <a:r>
              <a:rPr lang="en-US" sz="3600" dirty="0" err="1"/>
              <a:t>AnnualRevenue</a:t>
            </a:r>
            <a:r>
              <a:rPr lang="en-US" sz="3600" dirty="0"/>
              <a:t>.</a:t>
            </a:r>
          </a:p>
          <a:p>
            <a:r>
              <a:rPr lang="en-US" sz="3600" dirty="0"/>
              <a:t>Insert 3 Opportunities:</a:t>
            </a:r>
          </a:p>
          <a:p>
            <a:pPr lvl="1"/>
            <a:r>
              <a:rPr lang="en-US" sz="3600" b="1" dirty="0"/>
              <a:t>Closed Won</a:t>
            </a:r>
            <a:r>
              <a:rPr lang="en-US" sz="3600" dirty="0"/>
              <a:t>, </a:t>
            </a:r>
            <a:r>
              <a:rPr lang="en-US" sz="3600" dirty="0" err="1"/>
              <a:t>CloseDate</a:t>
            </a:r>
            <a:r>
              <a:rPr lang="en-US" sz="3600" dirty="0"/>
              <a:t> = </a:t>
            </a:r>
            <a:r>
              <a:rPr lang="en-US" sz="3600" dirty="0" err="1"/>
              <a:t>Date.today</a:t>
            </a:r>
            <a:r>
              <a:rPr lang="en-US" sz="3600" dirty="0"/>
              <a:t>().</a:t>
            </a:r>
            <a:r>
              <a:rPr lang="en-US" sz="3600" dirty="0" err="1"/>
              <a:t>addDays</a:t>
            </a:r>
            <a:r>
              <a:rPr lang="en-US" sz="3600" dirty="0"/>
              <a:t>(-5), Amount = 80,000 → </a:t>
            </a:r>
            <a:r>
              <a:rPr lang="en-US" sz="3600" b="1" dirty="0"/>
              <a:t>counts</a:t>
            </a:r>
            <a:endParaRPr lang="en-US" sz="3600" dirty="0"/>
          </a:p>
          <a:p>
            <a:pPr lvl="1"/>
            <a:r>
              <a:rPr lang="en-US" sz="3600" b="1" dirty="0"/>
              <a:t>Closed Won</a:t>
            </a:r>
            <a:r>
              <a:rPr lang="en-US" sz="3600" dirty="0"/>
              <a:t>, </a:t>
            </a:r>
            <a:r>
              <a:rPr lang="en-US" sz="3600" dirty="0" err="1"/>
              <a:t>CloseDate</a:t>
            </a:r>
            <a:r>
              <a:rPr lang="en-US" sz="3600" dirty="0"/>
              <a:t> = </a:t>
            </a:r>
            <a:r>
              <a:rPr lang="en-US" sz="3600" dirty="0" err="1"/>
              <a:t>Date.today</a:t>
            </a:r>
            <a:r>
              <a:rPr lang="en-US" sz="3600" dirty="0"/>
              <a:t>().</a:t>
            </a:r>
            <a:r>
              <a:rPr lang="en-US" sz="3600" dirty="0" err="1"/>
              <a:t>addDays</a:t>
            </a:r>
            <a:r>
              <a:rPr lang="en-US" sz="3600" dirty="0"/>
              <a:t>(-100), Amount = 50,000 → </a:t>
            </a:r>
            <a:r>
              <a:rPr lang="en-US" sz="3600" b="1" dirty="0"/>
              <a:t>does NOT count</a:t>
            </a:r>
            <a:endParaRPr lang="en-US" sz="3600" dirty="0"/>
          </a:p>
          <a:p>
            <a:pPr lvl="1"/>
            <a:r>
              <a:rPr lang="en-US" sz="3600" b="1" dirty="0"/>
              <a:t>Prospecting</a:t>
            </a:r>
            <a:r>
              <a:rPr lang="en-US" sz="3600" dirty="0"/>
              <a:t>, </a:t>
            </a:r>
            <a:r>
              <a:rPr lang="en-US" sz="3600" dirty="0" err="1"/>
              <a:t>CloseDate</a:t>
            </a:r>
            <a:r>
              <a:rPr lang="en-US" sz="3600" dirty="0"/>
              <a:t> = </a:t>
            </a:r>
            <a:r>
              <a:rPr lang="en-US" sz="3600" dirty="0" err="1"/>
              <a:t>Date.today</a:t>
            </a:r>
            <a:r>
              <a:rPr lang="en-US" sz="3600" dirty="0"/>
              <a:t>().</a:t>
            </a:r>
            <a:r>
              <a:rPr lang="en-US" sz="3600" dirty="0" err="1"/>
              <a:t>addDays</a:t>
            </a:r>
            <a:r>
              <a:rPr lang="en-US" sz="3600" dirty="0"/>
              <a:t>(-3), Amount = 20,000 → </a:t>
            </a:r>
            <a:r>
              <a:rPr lang="en-US" sz="3600" b="1" dirty="0"/>
              <a:t>does NOT count</a:t>
            </a:r>
          </a:p>
          <a:p>
            <a:pPr lvl="1"/>
            <a:endParaRPr lang="en-US" sz="3600" dirty="0"/>
          </a:p>
          <a:p>
            <a:endParaRPr lang="en-US" sz="4400" dirty="0">
              <a:highlight>
                <a:srgbClr val="FFFF00"/>
              </a:highlight>
            </a:endParaRPr>
          </a:p>
        </p:txBody>
      </p:sp>
    </p:spTree>
    <p:extLst>
      <p:ext uri="{BB962C8B-B14F-4D97-AF65-F5344CB8AC3E}">
        <p14:creationId xmlns:p14="http://schemas.microsoft.com/office/powerpoint/2010/main" val="3330247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E5936E34-573C-C3C5-BDDE-6E8E811BE96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283938C-BC3E-5F0E-8DD6-9218132FBA4B}"/>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55E836EF-6771-CA1B-FB86-C2448DF6EC65}"/>
              </a:ext>
            </a:extLst>
          </p:cNvPr>
          <p:cNvSpPr txBox="1"/>
          <p:nvPr/>
        </p:nvSpPr>
        <p:spPr>
          <a:xfrm>
            <a:off x="830179" y="450828"/>
            <a:ext cx="17449800" cy="925894"/>
          </a:xfrm>
          <a:prstGeom prst="rect">
            <a:avLst/>
          </a:prstGeom>
          <a:noFill/>
        </p:spPr>
        <p:txBody>
          <a:bodyPr wrap="square" rtlCol="0">
            <a:spAutoFit/>
          </a:bodyPr>
          <a:lstStyle/>
          <a:p>
            <a:pPr>
              <a:lnSpc>
                <a:spcPts val="7600"/>
              </a:lnSpc>
            </a:pPr>
            <a:r>
              <a:rPr lang="en-US" sz="4000" dirty="0">
                <a:solidFill>
                  <a:srgbClr val="FFFFFF"/>
                </a:solidFill>
                <a:latin typeface="HK Modular"/>
                <a:ea typeface="HK Modular"/>
                <a:cs typeface="HK Modular"/>
                <a:sym typeface="HK Modular"/>
              </a:rPr>
              <a:t>Demo Project</a:t>
            </a:r>
          </a:p>
        </p:txBody>
      </p:sp>
      <p:sp>
        <p:nvSpPr>
          <p:cNvPr id="5" name="TextBox 4">
            <a:extLst>
              <a:ext uri="{FF2B5EF4-FFF2-40B4-BE49-F238E27FC236}">
                <a16:creationId xmlns:a16="http://schemas.microsoft.com/office/drawing/2014/main" id="{548197B2-73C7-2829-7F6B-39A251B92BF3}"/>
              </a:ext>
            </a:extLst>
          </p:cNvPr>
          <p:cNvSpPr txBox="1"/>
          <p:nvPr/>
        </p:nvSpPr>
        <p:spPr>
          <a:xfrm>
            <a:off x="1219200" y="190500"/>
            <a:ext cx="14782800" cy="1446550"/>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D62BA8CD-FBF7-1F61-2EEC-B4028CE0AF81}"/>
              </a:ext>
            </a:extLst>
          </p:cNvPr>
          <p:cNvSpPr txBox="1"/>
          <p:nvPr/>
        </p:nvSpPr>
        <p:spPr>
          <a:xfrm>
            <a:off x="228600" y="2171700"/>
            <a:ext cx="15498885" cy="7571303"/>
          </a:xfrm>
          <a:prstGeom prst="rect">
            <a:avLst/>
          </a:prstGeom>
          <a:noFill/>
        </p:spPr>
        <p:txBody>
          <a:bodyPr wrap="square" rtlCol="0">
            <a:spAutoFit/>
          </a:bodyPr>
          <a:lstStyle/>
          <a:p>
            <a:pPr lvl="1"/>
            <a:r>
              <a:rPr lang="en-US" sz="5400" dirty="0"/>
              <a:t>Edge cases / bulk:</a:t>
            </a:r>
          </a:p>
          <a:p>
            <a:pPr marL="1143000" lvl="1" indent="-685800">
              <a:buFont typeface="Wingdings" panose="05000000000000000000" pitchFamily="2" charset="2"/>
              <a:buChar char="q"/>
            </a:pPr>
            <a:r>
              <a:rPr lang="en-US" sz="5400" dirty="0"/>
              <a:t>Insert another </a:t>
            </a:r>
            <a:r>
              <a:rPr lang="en-US" sz="5400" dirty="0">
                <a:highlight>
                  <a:srgbClr val="FFFF00"/>
                </a:highlight>
              </a:rPr>
              <a:t>Account with no Closed Won </a:t>
            </a:r>
            <a:r>
              <a:rPr lang="en-US" sz="5400" dirty="0"/>
              <a:t>in last 90 days; </a:t>
            </a:r>
            <a:r>
              <a:rPr lang="en-US" sz="5400" dirty="0">
                <a:highlight>
                  <a:srgbClr val="FFFF00"/>
                </a:highlight>
              </a:rPr>
              <a:t>ensure it gets 0</a:t>
            </a:r>
            <a:r>
              <a:rPr lang="en-US" sz="5400" dirty="0"/>
              <a:t>.</a:t>
            </a:r>
          </a:p>
          <a:p>
            <a:pPr marL="1143000" lvl="1" indent="-685800">
              <a:buFont typeface="Wingdings" panose="05000000000000000000" pitchFamily="2" charset="2"/>
              <a:buChar char="q"/>
            </a:pPr>
            <a:r>
              <a:rPr lang="en-US" sz="5400" dirty="0"/>
              <a:t>Insert </a:t>
            </a:r>
            <a:r>
              <a:rPr lang="en-US" sz="5400" dirty="0">
                <a:highlight>
                  <a:srgbClr val="FFFF00"/>
                </a:highlight>
              </a:rPr>
              <a:t>multiple Opportunities across two Accounts </a:t>
            </a:r>
            <a:r>
              <a:rPr lang="en-US" sz="5400" dirty="0"/>
              <a:t>to validate bulk aggregation works (sums per account).</a:t>
            </a:r>
          </a:p>
          <a:p>
            <a:pPr marL="1143000" lvl="1" indent="-685800">
              <a:buFont typeface="Wingdings" panose="05000000000000000000" pitchFamily="2" charset="2"/>
              <a:buChar char="q"/>
            </a:pPr>
            <a:r>
              <a:rPr lang="en-US" sz="5400" dirty="0">
                <a:highlight>
                  <a:srgbClr val="FFFF00"/>
                </a:highlight>
              </a:rPr>
              <a:t>Don’t use </a:t>
            </a:r>
            <a:r>
              <a:rPr lang="en-US" sz="5400" dirty="0" err="1">
                <a:highlight>
                  <a:srgbClr val="FFFF00"/>
                </a:highlight>
              </a:rPr>
              <a:t>SeeAllData</a:t>
            </a:r>
            <a:r>
              <a:rPr lang="en-US" sz="5400" dirty="0">
                <a:highlight>
                  <a:srgbClr val="FFFF00"/>
                </a:highlight>
              </a:rPr>
              <a:t>=true</a:t>
            </a:r>
            <a:r>
              <a:rPr lang="en-US" sz="5400" dirty="0"/>
              <a:t>.</a:t>
            </a:r>
          </a:p>
          <a:p>
            <a:pPr marL="1143000" lvl="1" indent="-685800">
              <a:buFont typeface="Wingdings" panose="05000000000000000000" pitchFamily="2" charset="2"/>
              <a:buChar char="q"/>
            </a:pPr>
            <a:r>
              <a:rPr lang="en-US" sz="5400" dirty="0">
                <a:highlight>
                  <a:srgbClr val="FFFF00"/>
                </a:highlight>
              </a:rPr>
              <a:t>Aim for ≥ 85% </a:t>
            </a:r>
            <a:r>
              <a:rPr lang="en-US" sz="5400" dirty="0"/>
              <a:t>coverage across the handler and trigger.</a:t>
            </a:r>
            <a:endParaRPr lang="en-US" sz="5400" dirty="0">
              <a:highlight>
                <a:srgbClr val="FFFF00"/>
              </a:highlight>
            </a:endParaRPr>
          </a:p>
        </p:txBody>
      </p:sp>
    </p:spTree>
    <p:extLst>
      <p:ext uri="{BB962C8B-B14F-4D97-AF65-F5344CB8AC3E}">
        <p14:creationId xmlns:p14="http://schemas.microsoft.com/office/powerpoint/2010/main" val="22838064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241C50FE-639D-118A-3208-14A9C9BEB26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F410044-78E9-251F-70E0-61452BE1957B}"/>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0A42FFE2-1A76-E98F-0A0D-EB82CF07581E}"/>
              </a:ext>
            </a:extLst>
          </p:cNvPr>
          <p:cNvSpPr txBox="1"/>
          <p:nvPr/>
        </p:nvSpPr>
        <p:spPr>
          <a:xfrm>
            <a:off x="830179" y="450828"/>
            <a:ext cx="17449800" cy="925894"/>
          </a:xfrm>
          <a:prstGeom prst="rect">
            <a:avLst/>
          </a:prstGeom>
          <a:noFill/>
        </p:spPr>
        <p:txBody>
          <a:bodyPr wrap="square" rtlCol="0">
            <a:spAutoFit/>
          </a:bodyPr>
          <a:lstStyle/>
          <a:p>
            <a:pPr>
              <a:lnSpc>
                <a:spcPts val="7600"/>
              </a:lnSpc>
            </a:pPr>
            <a:r>
              <a:rPr lang="en-US" sz="4000" dirty="0">
                <a:solidFill>
                  <a:srgbClr val="FFFFFF"/>
                </a:solidFill>
                <a:latin typeface="HK Modular"/>
                <a:ea typeface="HK Modular"/>
                <a:cs typeface="HK Modular"/>
                <a:sym typeface="HK Modular"/>
              </a:rPr>
              <a:t>Demo Project</a:t>
            </a:r>
          </a:p>
        </p:txBody>
      </p:sp>
      <p:sp>
        <p:nvSpPr>
          <p:cNvPr id="5" name="TextBox 4">
            <a:extLst>
              <a:ext uri="{FF2B5EF4-FFF2-40B4-BE49-F238E27FC236}">
                <a16:creationId xmlns:a16="http://schemas.microsoft.com/office/drawing/2014/main" id="{5ABFA173-563F-27FF-B498-1A50A523F415}"/>
              </a:ext>
            </a:extLst>
          </p:cNvPr>
          <p:cNvSpPr txBox="1"/>
          <p:nvPr/>
        </p:nvSpPr>
        <p:spPr>
          <a:xfrm>
            <a:off x="1219200" y="190500"/>
            <a:ext cx="14782800" cy="1446550"/>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6E07AEA0-425C-28D9-64F2-9D1CBB76D2AA}"/>
              </a:ext>
            </a:extLst>
          </p:cNvPr>
          <p:cNvSpPr txBox="1"/>
          <p:nvPr/>
        </p:nvSpPr>
        <p:spPr>
          <a:xfrm>
            <a:off x="549854" y="1376722"/>
            <a:ext cx="15498885" cy="8402300"/>
          </a:xfrm>
          <a:prstGeom prst="rect">
            <a:avLst/>
          </a:prstGeom>
          <a:noFill/>
        </p:spPr>
        <p:txBody>
          <a:bodyPr wrap="square" rtlCol="0">
            <a:spAutoFit/>
          </a:bodyPr>
          <a:lstStyle/>
          <a:p>
            <a:pPr lvl="1"/>
            <a:r>
              <a:rPr lang="en-US" sz="5400" b="1" dirty="0"/>
              <a:t>Create an LWC</a:t>
            </a:r>
            <a:r>
              <a:rPr lang="en-US" sz="5400" dirty="0"/>
              <a:t> for Contact search.</a:t>
            </a:r>
          </a:p>
          <a:p>
            <a:pPr marL="1143000" lvl="1" indent="-685800">
              <a:buFont typeface="Wingdings" panose="05000000000000000000" pitchFamily="2" charset="2"/>
              <a:buChar char="q"/>
            </a:pPr>
            <a:r>
              <a:rPr lang="en-US" sz="5400" dirty="0">
                <a:highlight>
                  <a:srgbClr val="FFFF00"/>
                </a:highlight>
              </a:rPr>
              <a:t>HTML</a:t>
            </a:r>
            <a:r>
              <a:rPr lang="en-US" sz="5400" dirty="0"/>
              <a:t>: input for last name + Search button + </a:t>
            </a:r>
            <a:r>
              <a:rPr lang="en-US" sz="5400" dirty="0" err="1"/>
              <a:t>datatable</a:t>
            </a:r>
            <a:r>
              <a:rPr lang="en-US" sz="5400" dirty="0"/>
              <a:t> (Name, Email)</a:t>
            </a:r>
          </a:p>
          <a:p>
            <a:pPr marL="1143000" lvl="1" indent="-685800">
              <a:buFont typeface="Wingdings" panose="05000000000000000000" pitchFamily="2" charset="2"/>
              <a:buChar char="q"/>
            </a:pPr>
            <a:r>
              <a:rPr lang="en-US" sz="5400" dirty="0">
                <a:highlight>
                  <a:srgbClr val="FFFF00"/>
                </a:highlight>
              </a:rPr>
              <a:t>JS</a:t>
            </a:r>
            <a:r>
              <a:rPr lang="en-US" sz="5400" dirty="0"/>
              <a:t>: calls @salesforce/apex/ContactController.searchContacts(lastName) and sets data</a:t>
            </a:r>
          </a:p>
          <a:p>
            <a:pPr marL="1143000" lvl="1" indent="-685800">
              <a:buFont typeface="Wingdings" panose="05000000000000000000" pitchFamily="2" charset="2"/>
              <a:buChar char="q"/>
            </a:pPr>
            <a:r>
              <a:rPr lang="en-US" sz="5400" dirty="0">
                <a:highlight>
                  <a:srgbClr val="FFFF00"/>
                </a:highlight>
              </a:rPr>
              <a:t>Apex </a:t>
            </a:r>
            <a:r>
              <a:rPr lang="en-US" sz="5400" dirty="0" err="1"/>
              <a:t>ContactController</a:t>
            </a:r>
            <a:r>
              <a:rPr lang="en-US" sz="5400" dirty="0"/>
              <a:t> (with sharing), @AuraEnabled(cacheable=true), returns Id, Name, Email from Contact WHERE LastName LIKE ‘%key%’, LIMIT 50.</a:t>
            </a:r>
          </a:p>
        </p:txBody>
      </p:sp>
    </p:spTree>
    <p:extLst>
      <p:ext uri="{BB962C8B-B14F-4D97-AF65-F5344CB8AC3E}">
        <p14:creationId xmlns:p14="http://schemas.microsoft.com/office/powerpoint/2010/main" val="1737559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088B4FEC-77D2-3FF3-17D0-AE0916BDBD7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E8285FA-5913-D104-DC93-D08E0A6E3E81}"/>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63B4D4E5-0370-8E87-422B-5120F2591ACA}"/>
              </a:ext>
            </a:extLst>
          </p:cNvPr>
          <p:cNvSpPr txBox="1"/>
          <p:nvPr/>
        </p:nvSpPr>
        <p:spPr>
          <a:xfrm>
            <a:off x="830179" y="450828"/>
            <a:ext cx="17449800" cy="925894"/>
          </a:xfrm>
          <a:prstGeom prst="rect">
            <a:avLst/>
          </a:prstGeom>
          <a:noFill/>
        </p:spPr>
        <p:txBody>
          <a:bodyPr wrap="square" rtlCol="0">
            <a:spAutoFit/>
          </a:bodyPr>
          <a:lstStyle/>
          <a:p>
            <a:pPr>
              <a:lnSpc>
                <a:spcPts val="7600"/>
              </a:lnSpc>
            </a:pPr>
            <a:r>
              <a:rPr lang="en-US" sz="4000" dirty="0">
                <a:solidFill>
                  <a:srgbClr val="FFFFFF"/>
                </a:solidFill>
                <a:latin typeface="HK Modular"/>
                <a:ea typeface="HK Modular"/>
                <a:cs typeface="HK Modular"/>
                <a:sym typeface="HK Modular"/>
              </a:rPr>
              <a:t>What is A Token ?</a:t>
            </a:r>
          </a:p>
        </p:txBody>
      </p:sp>
      <p:sp>
        <p:nvSpPr>
          <p:cNvPr id="5" name="TextBox 4">
            <a:extLst>
              <a:ext uri="{FF2B5EF4-FFF2-40B4-BE49-F238E27FC236}">
                <a16:creationId xmlns:a16="http://schemas.microsoft.com/office/drawing/2014/main" id="{6711054C-3BE0-D573-BF99-33AEFBBA8CE0}"/>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3" name="TextBox 2">
            <a:extLst>
              <a:ext uri="{FF2B5EF4-FFF2-40B4-BE49-F238E27FC236}">
                <a16:creationId xmlns:a16="http://schemas.microsoft.com/office/drawing/2014/main" id="{6D7AF52F-66ED-506E-58B4-8E5792E1AA59}"/>
              </a:ext>
            </a:extLst>
          </p:cNvPr>
          <p:cNvSpPr txBox="1"/>
          <p:nvPr/>
        </p:nvSpPr>
        <p:spPr>
          <a:xfrm>
            <a:off x="2438400" y="1637050"/>
            <a:ext cx="12725400" cy="8402300"/>
          </a:xfrm>
          <a:prstGeom prst="rect">
            <a:avLst/>
          </a:prstGeom>
          <a:noFill/>
        </p:spPr>
        <p:txBody>
          <a:bodyPr wrap="square" rtlCol="0">
            <a:spAutoFit/>
          </a:bodyPr>
          <a:lstStyle/>
          <a:p>
            <a:pPr marL="685800" indent="-685800">
              <a:buFont typeface="Wingdings" panose="05000000000000000000" pitchFamily="2" charset="2"/>
              <a:buChar char="q"/>
            </a:pPr>
            <a:r>
              <a:rPr lang="en-US" sz="5400" dirty="0"/>
              <a:t>A token is like a little chunk of text.</a:t>
            </a:r>
          </a:p>
          <a:p>
            <a:pPr marL="685800" indent="-685800">
              <a:buFont typeface="Wingdings" panose="05000000000000000000" pitchFamily="2" charset="2"/>
              <a:buChar char="q"/>
            </a:pPr>
            <a:r>
              <a:rPr lang="en-US" sz="5400" dirty="0"/>
              <a:t>Computers don’t read text letter by letter or word by word — they break it into tokens.</a:t>
            </a:r>
          </a:p>
          <a:p>
            <a:endParaRPr lang="en-US" sz="5400" dirty="0"/>
          </a:p>
          <a:p>
            <a:r>
              <a:rPr lang="en-US" sz="5400" dirty="0"/>
              <a:t>Example: "Salesforce is awesome!” → might become: Sales | force | is | awesome | !That’s 5 tokens, even though it’s 3 words.</a:t>
            </a:r>
          </a:p>
          <a:p>
            <a:r>
              <a:rPr lang="en-US" sz="5400" dirty="0"/>
              <a:t>So tokens are basically pieces of words the AI understands.</a:t>
            </a:r>
          </a:p>
        </p:txBody>
      </p:sp>
    </p:spTree>
    <p:extLst>
      <p:ext uri="{BB962C8B-B14F-4D97-AF65-F5344CB8AC3E}">
        <p14:creationId xmlns:p14="http://schemas.microsoft.com/office/powerpoint/2010/main" val="11490359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89261F39-D3B4-B313-4D1B-367926C4EA1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E699D19-58FF-5C80-E25B-9DD828F71E45}"/>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10BD3AD7-203E-CBB4-BDCE-9D922706CCF8}"/>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dirty="0">
                <a:solidFill>
                  <a:schemeClr val="bg1"/>
                </a:solidFill>
                <a:latin typeface="HK Modular" panose="020B0604020202020204" charset="0"/>
              </a:rPr>
              <a:t>How tokens add up ?</a:t>
            </a:r>
            <a:endParaRPr lang="en-US" sz="4000" dirty="0">
              <a:solidFill>
                <a:schemeClr val="bg1"/>
              </a:solidFill>
              <a:latin typeface="HK Modular" panose="020B0604020202020204" charset="0"/>
              <a:ea typeface="HK Modular"/>
              <a:cs typeface="HK Modular"/>
              <a:sym typeface="HK Modular"/>
            </a:endParaRPr>
          </a:p>
        </p:txBody>
      </p:sp>
      <p:sp>
        <p:nvSpPr>
          <p:cNvPr id="5" name="TextBox 4">
            <a:extLst>
              <a:ext uri="{FF2B5EF4-FFF2-40B4-BE49-F238E27FC236}">
                <a16:creationId xmlns:a16="http://schemas.microsoft.com/office/drawing/2014/main" id="{BA5207E7-7C84-9C06-F962-251EEC9F1977}"/>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3" name="TextBox 2">
            <a:extLst>
              <a:ext uri="{FF2B5EF4-FFF2-40B4-BE49-F238E27FC236}">
                <a16:creationId xmlns:a16="http://schemas.microsoft.com/office/drawing/2014/main" id="{E5356C6C-40C7-D89E-0E76-ADA4BA20988D}"/>
              </a:ext>
            </a:extLst>
          </p:cNvPr>
          <p:cNvSpPr txBox="1"/>
          <p:nvPr/>
        </p:nvSpPr>
        <p:spPr>
          <a:xfrm>
            <a:off x="2438400" y="1637050"/>
            <a:ext cx="12725400" cy="4247317"/>
          </a:xfrm>
          <a:prstGeom prst="rect">
            <a:avLst/>
          </a:prstGeom>
          <a:noFill/>
        </p:spPr>
        <p:txBody>
          <a:bodyPr wrap="square" rtlCol="0">
            <a:spAutoFit/>
          </a:bodyPr>
          <a:lstStyle/>
          <a:p>
            <a:r>
              <a:rPr lang="en-US" sz="5400" b="1" dirty="0"/>
              <a:t>Type a prompt</a:t>
            </a:r>
            <a:r>
              <a:rPr lang="en-US" sz="5400" dirty="0"/>
              <a:t> → it gets split into tokens.</a:t>
            </a:r>
          </a:p>
          <a:p>
            <a:r>
              <a:rPr lang="en-US" sz="5400" b="1" dirty="0"/>
              <a:t>AI replies</a:t>
            </a:r>
            <a:r>
              <a:rPr lang="en-US" sz="5400" dirty="0"/>
              <a:t> → its answer is also counted in tokens.</a:t>
            </a:r>
          </a:p>
          <a:p>
            <a:r>
              <a:rPr lang="en-US" sz="5400" dirty="0"/>
              <a:t>👉 You pay for </a:t>
            </a:r>
            <a:r>
              <a:rPr lang="en-US" sz="5400" b="1" dirty="0"/>
              <a:t>prompt tokens + response tokens</a:t>
            </a:r>
            <a:r>
              <a:rPr lang="en-US" sz="5400" dirty="0"/>
              <a:t>.</a:t>
            </a:r>
          </a:p>
        </p:txBody>
      </p:sp>
    </p:spTree>
    <p:extLst>
      <p:ext uri="{BB962C8B-B14F-4D97-AF65-F5344CB8AC3E}">
        <p14:creationId xmlns:p14="http://schemas.microsoft.com/office/powerpoint/2010/main" val="18011576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06EC67BA-0A61-E0DF-51A9-776959A5605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DAECD3D-28C5-8604-89F7-56606B4706EE}"/>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4C86F04F-CE51-4282-61AA-C99A6ED6594E}"/>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dirty="0">
                <a:solidFill>
                  <a:schemeClr val="bg1"/>
                </a:solidFill>
                <a:latin typeface="HK Modular" panose="020B0604020202020204" charset="0"/>
              </a:rPr>
              <a:t>Pro Tips </a:t>
            </a:r>
            <a:endParaRPr lang="en-US" sz="4000" dirty="0">
              <a:solidFill>
                <a:schemeClr val="bg1"/>
              </a:solidFill>
              <a:latin typeface="HK Modular" panose="020B0604020202020204" charset="0"/>
              <a:ea typeface="HK Modular"/>
              <a:cs typeface="HK Modular"/>
              <a:sym typeface="HK Modular"/>
            </a:endParaRPr>
          </a:p>
        </p:txBody>
      </p:sp>
      <p:sp>
        <p:nvSpPr>
          <p:cNvPr id="5" name="TextBox 4">
            <a:extLst>
              <a:ext uri="{FF2B5EF4-FFF2-40B4-BE49-F238E27FC236}">
                <a16:creationId xmlns:a16="http://schemas.microsoft.com/office/drawing/2014/main" id="{9FA3BDAA-EFED-70A2-7FDE-C4C6B817661B}"/>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3" name="TextBox 2">
            <a:extLst>
              <a:ext uri="{FF2B5EF4-FFF2-40B4-BE49-F238E27FC236}">
                <a16:creationId xmlns:a16="http://schemas.microsoft.com/office/drawing/2014/main" id="{E9FC1F70-34DA-6422-0329-5C5FA00CC829}"/>
              </a:ext>
            </a:extLst>
          </p:cNvPr>
          <p:cNvSpPr txBox="1"/>
          <p:nvPr/>
        </p:nvSpPr>
        <p:spPr>
          <a:xfrm>
            <a:off x="2438400" y="1637050"/>
            <a:ext cx="12725400" cy="5078313"/>
          </a:xfrm>
          <a:prstGeom prst="rect">
            <a:avLst/>
          </a:prstGeom>
          <a:noFill/>
        </p:spPr>
        <p:txBody>
          <a:bodyPr wrap="square" rtlCol="0">
            <a:spAutoFit/>
          </a:bodyPr>
          <a:lstStyle/>
          <a:p>
            <a:pPr marL="685800" indent="-685800">
              <a:buFont typeface="Wingdings" panose="05000000000000000000" pitchFamily="2" charset="2"/>
              <a:buChar char="q"/>
            </a:pPr>
            <a:r>
              <a:rPr lang="en-US" sz="5400" dirty="0"/>
              <a:t>Shorter, clearer prompts = fewer tokens + better results.</a:t>
            </a:r>
          </a:p>
          <a:p>
            <a:pPr marL="685800" indent="-685800">
              <a:buFont typeface="Wingdings" panose="05000000000000000000" pitchFamily="2" charset="2"/>
              <a:buChar char="q"/>
            </a:pPr>
            <a:r>
              <a:rPr lang="en-US" sz="5400" dirty="0"/>
              <a:t>Use context sparingly (don’t paste huge logs unless needed).</a:t>
            </a:r>
          </a:p>
          <a:p>
            <a:pPr marL="685800" indent="-685800">
              <a:buFont typeface="Wingdings" panose="05000000000000000000" pitchFamily="2" charset="2"/>
              <a:buChar char="q"/>
            </a:pPr>
            <a:r>
              <a:rPr lang="en-US" sz="5400" dirty="0"/>
              <a:t>Summarize responses if you only need the key points — saves tokens.</a:t>
            </a:r>
          </a:p>
        </p:txBody>
      </p:sp>
    </p:spTree>
    <p:extLst>
      <p:ext uri="{BB962C8B-B14F-4D97-AF65-F5344CB8AC3E}">
        <p14:creationId xmlns:p14="http://schemas.microsoft.com/office/powerpoint/2010/main" val="34079671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A30ED228-7B66-EE5F-5835-D5EA0EBD2DB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F2D14AC-AD03-4B94-0446-A472B210730C}"/>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E4F989C4-1427-4C2D-AB83-CF2ED76A6CF3}"/>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dirty="0">
                <a:solidFill>
                  <a:schemeClr val="bg1"/>
                </a:solidFill>
                <a:latin typeface="HK Modular" panose="020B0604020202020204" charset="0"/>
              </a:rPr>
              <a:t>PROMPT 1 </a:t>
            </a:r>
            <a:endParaRPr lang="en-US" sz="4000" dirty="0">
              <a:solidFill>
                <a:schemeClr val="bg1"/>
              </a:solidFill>
              <a:latin typeface="HK Modular" panose="020B0604020202020204" charset="0"/>
              <a:ea typeface="HK Modular"/>
              <a:cs typeface="HK Modular"/>
              <a:sym typeface="HK Modular"/>
            </a:endParaRPr>
          </a:p>
        </p:txBody>
      </p:sp>
      <p:sp>
        <p:nvSpPr>
          <p:cNvPr id="5" name="TextBox 4">
            <a:extLst>
              <a:ext uri="{FF2B5EF4-FFF2-40B4-BE49-F238E27FC236}">
                <a16:creationId xmlns:a16="http://schemas.microsoft.com/office/drawing/2014/main" id="{9893F383-82A9-6780-E7BD-00FFB0C853B8}"/>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3" name="TextBox 2">
            <a:extLst>
              <a:ext uri="{FF2B5EF4-FFF2-40B4-BE49-F238E27FC236}">
                <a16:creationId xmlns:a16="http://schemas.microsoft.com/office/drawing/2014/main" id="{4C7266EE-D8E6-549E-47A1-5F74FA4A37E9}"/>
              </a:ext>
            </a:extLst>
          </p:cNvPr>
          <p:cNvSpPr txBox="1"/>
          <p:nvPr/>
        </p:nvSpPr>
        <p:spPr>
          <a:xfrm>
            <a:off x="2438400" y="1637050"/>
            <a:ext cx="12725400" cy="923330"/>
          </a:xfrm>
          <a:prstGeom prst="rect">
            <a:avLst/>
          </a:prstGeom>
          <a:noFill/>
        </p:spPr>
        <p:txBody>
          <a:bodyPr wrap="square" rtlCol="0">
            <a:spAutoFit/>
          </a:bodyPr>
          <a:lstStyle/>
          <a:p>
            <a:r>
              <a:rPr lang="en-US" sz="5400" dirty="0"/>
              <a:t>Use a </a:t>
            </a:r>
            <a:r>
              <a:rPr lang="en-US" sz="5400" b="1" dirty="0"/>
              <a:t>Short Prompt Example</a:t>
            </a:r>
            <a:endParaRPr lang="en-US" sz="5400" dirty="0"/>
          </a:p>
        </p:txBody>
      </p:sp>
      <p:sp>
        <p:nvSpPr>
          <p:cNvPr id="7" name="TextBox 6">
            <a:extLst>
              <a:ext uri="{FF2B5EF4-FFF2-40B4-BE49-F238E27FC236}">
                <a16:creationId xmlns:a16="http://schemas.microsoft.com/office/drawing/2014/main" id="{2CC1E97D-3AFE-3371-A729-2A0F22863CA3}"/>
              </a:ext>
            </a:extLst>
          </p:cNvPr>
          <p:cNvSpPr txBox="1"/>
          <p:nvPr/>
        </p:nvSpPr>
        <p:spPr>
          <a:xfrm>
            <a:off x="1219200" y="3238500"/>
            <a:ext cx="12496800" cy="3416320"/>
          </a:xfrm>
          <a:prstGeom prst="rect">
            <a:avLst/>
          </a:prstGeom>
          <a:noFill/>
        </p:spPr>
        <p:txBody>
          <a:bodyPr wrap="square">
            <a:spAutoFit/>
          </a:bodyPr>
          <a:lstStyle/>
          <a:p>
            <a:r>
              <a:rPr lang="en-US" sz="7200" dirty="0">
                <a:solidFill>
                  <a:schemeClr val="bg1"/>
                </a:solidFill>
              </a:rPr>
              <a:t>Write a simple Apex class that multiplies two numbers and returns the result.</a:t>
            </a:r>
          </a:p>
        </p:txBody>
      </p:sp>
    </p:spTree>
    <p:extLst>
      <p:ext uri="{BB962C8B-B14F-4D97-AF65-F5344CB8AC3E}">
        <p14:creationId xmlns:p14="http://schemas.microsoft.com/office/powerpoint/2010/main" val="28522715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B0425B19-F128-AC1B-6547-7EDE2F9C4F2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FFBFB4F-F269-BAEB-12C4-1C6072908318}"/>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C3671A85-5B5F-D6B3-98E0-A4587F085188}"/>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dirty="0">
                <a:solidFill>
                  <a:schemeClr val="bg1"/>
                </a:solidFill>
                <a:latin typeface="HK Modular" panose="020B0604020202020204" charset="0"/>
              </a:rPr>
              <a:t>PROMPT 2 </a:t>
            </a:r>
            <a:endParaRPr lang="en-US" sz="4000" dirty="0">
              <a:solidFill>
                <a:schemeClr val="bg1"/>
              </a:solidFill>
              <a:latin typeface="HK Modular" panose="020B0604020202020204" charset="0"/>
              <a:ea typeface="HK Modular"/>
              <a:cs typeface="HK Modular"/>
              <a:sym typeface="HK Modular"/>
            </a:endParaRPr>
          </a:p>
        </p:txBody>
      </p:sp>
      <p:sp>
        <p:nvSpPr>
          <p:cNvPr id="5" name="TextBox 4">
            <a:extLst>
              <a:ext uri="{FF2B5EF4-FFF2-40B4-BE49-F238E27FC236}">
                <a16:creationId xmlns:a16="http://schemas.microsoft.com/office/drawing/2014/main" id="{EF6C6118-BE4A-00B6-EF62-324E6CC6DDB0}"/>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3" name="TextBox 2">
            <a:extLst>
              <a:ext uri="{FF2B5EF4-FFF2-40B4-BE49-F238E27FC236}">
                <a16:creationId xmlns:a16="http://schemas.microsoft.com/office/drawing/2014/main" id="{D5D5B48E-F2FC-FA8B-DBE3-F8DDE84316EB}"/>
              </a:ext>
            </a:extLst>
          </p:cNvPr>
          <p:cNvSpPr txBox="1"/>
          <p:nvPr/>
        </p:nvSpPr>
        <p:spPr>
          <a:xfrm>
            <a:off x="2438400" y="1637050"/>
            <a:ext cx="12725400" cy="923330"/>
          </a:xfrm>
          <a:prstGeom prst="rect">
            <a:avLst/>
          </a:prstGeom>
          <a:noFill/>
        </p:spPr>
        <p:txBody>
          <a:bodyPr wrap="square" rtlCol="0">
            <a:spAutoFit/>
          </a:bodyPr>
          <a:lstStyle/>
          <a:p>
            <a:r>
              <a:rPr lang="en-US" sz="5400" dirty="0"/>
              <a:t>Use a </a:t>
            </a:r>
            <a:r>
              <a:rPr lang="en-US" sz="5400" b="1" dirty="0"/>
              <a:t>Long Prompt Example</a:t>
            </a:r>
            <a:endParaRPr lang="en-US" sz="5400" dirty="0"/>
          </a:p>
        </p:txBody>
      </p:sp>
      <p:sp>
        <p:nvSpPr>
          <p:cNvPr id="7" name="TextBox 6">
            <a:extLst>
              <a:ext uri="{FF2B5EF4-FFF2-40B4-BE49-F238E27FC236}">
                <a16:creationId xmlns:a16="http://schemas.microsoft.com/office/drawing/2014/main" id="{50218A69-4994-6F03-1BB0-09091A7A8254}"/>
              </a:ext>
            </a:extLst>
          </p:cNvPr>
          <p:cNvSpPr txBox="1"/>
          <p:nvPr/>
        </p:nvSpPr>
        <p:spPr>
          <a:xfrm>
            <a:off x="1295400" y="3238500"/>
            <a:ext cx="15316200" cy="5632311"/>
          </a:xfrm>
          <a:prstGeom prst="rect">
            <a:avLst/>
          </a:prstGeom>
          <a:noFill/>
        </p:spPr>
        <p:txBody>
          <a:bodyPr wrap="square">
            <a:spAutoFit/>
          </a:bodyPr>
          <a:lstStyle/>
          <a:p>
            <a:r>
              <a:rPr lang="en-US" sz="4000" b="1" dirty="0">
                <a:solidFill>
                  <a:schemeClr val="bg1"/>
                </a:solidFill>
              </a:rPr>
              <a:t>Can you please, in the most detailed manner possible, create an Apex class that performs a mathematical operation specifically multiplication between two integers, ensuring you include all necessary Salesforce best practices such as proper class declaration with ‘public with sharing’, inline comments for every single line of code to make it extremely beginner friendly, a constructor even if it is empty, an example usage snippet inside a comment block, and proper exception handling even though multiplying two integers does not normally throw errors. Also explain the code afterward in plain English.”</a:t>
            </a:r>
          </a:p>
        </p:txBody>
      </p:sp>
    </p:spTree>
    <p:extLst>
      <p:ext uri="{BB962C8B-B14F-4D97-AF65-F5344CB8AC3E}">
        <p14:creationId xmlns:p14="http://schemas.microsoft.com/office/powerpoint/2010/main" val="18222863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CA99E265-5DFF-4AAE-7671-B350BA6BB9C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CC1265A-F603-F866-1009-00EEDDDC2443}"/>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199A5446-7EB3-A33F-D1A0-553CF638EB6E}"/>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dirty="0">
                <a:solidFill>
                  <a:schemeClr val="bg1"/>
                </a:solidFill>
                <a:latin typeface="HK Modular" panose="020B0604020202020204" charset="0"/>
              </a:rPr>
              <a:t>Cursor Rules</a:t>
            </a:r>
            <a:endParaRPr lang="en-US" sz="4000" dirty="0">
              <a:solidFill>
                <a:schemeClr val="bg1"/>
              </a:solidFill>
              <a:latin typeface="HK Modular" panose="020B0604020202020204" charset="0"/>
              <a:ea typeface="HK Modular"/>
              <a:cs typeface="HK Modular"/>
              <a:sym typeface="HK Modular"/>
            </a:endParaRPr>
          </a:p>
        </p:txBody>
      </p:sp>
      <p:sp>
        <p:nvSpPr>
          <p:cNvPr id="5" name="TextBox 4">
            <a:extLst>
              <a:ext uri="{FF2B5EF4-FFF2-40B4-BE49-F238E27FC236}">
                <a16:creationId xmlns:a16="http://schemas.microsoft.com/office/drawing/2014/main" id="{E3A69ECE-BFFD-B70E-0EA2-52DF0AF2044A}"/>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0499B5B3-1237-C6FE-619E-DA3F7206E6DE}"/>
              </a:ext>
            </a:extLst>
          </p:cNvPr>
          <p:cNvSpPr txBox="1"/>
          <p:nvPr/>
        </p:nvSpPr>
        <p:spPr>
          <a:xfrm>
            <a:off x="1295400" y="3238500"/>
            <a:ext cx="15316200" cy="4401205"/>
          </a:xfrm>
          <a:prstGeom prst="rect">
            <a:avLst/>
          </a:prstGeom>
          <a:noFill/>
        </p:spPr>
        <p:txBody>
          <a:bodyPr wrap="square">
            <a:spAutoFit/>
          </a:bodyPr>
          <a:lstStyle/>
          <a:p>
            <a:r>
              <a:rPr lang="en-US" sz="4000" dirty="0"/>
              <a:t>Think of </a:t>
            </a:r>
            <a:r>
              <a:rPr lang="en-US" sz="4000" b="1" dirty="0"/>
              <a:t>Rules in Cursor</a:t>
            </a:r>
            <a:r>
              <a:rPr lang="en-US" sz="4000" dirty="0"/>
              <a:t> like the </a:t>
            </a:r>
            <a:r>
              <a:rPr lang="en-US" sz="4000" b="1" dirty="0"/>
              <a:t>ground rules you give an assistant before they start working for you.</a:t>
            </a:r>
            <a:endParaRPr lang="en-US" sz="4000" dirty="0"/>
          </a:p>
          <a:p>
            <a:pPr marL="571500" indent="-571500">
              <a:buFont typeface="Wingdings" panose="05000000000000000000" pitchFamily="2" charset="2"/>
              <a:buChar char="q"/>
            </a:pPr>
            <a:r>
              <a:rPr lang="en-US" sz="4000" dirty="0"/>
              <a:t>They tell Cursor </a:t>
            </a:r>
            <a:r>
              <a:rPr lang="en-US" sz="4000" b="1" dirty="0"/>
              <a:t>how to behave</a:t>
            </a:r>
            <a:r>
              <a:rPr lang="en-US" sz="4000" dirty="0"/>
              <a:t> when helping you.</a:t>
            </a:r>
          </a:p>
          <a:p>
            <a:pPr marL="571500" indent="-571500">
              <a:buFont typeface="Wingdings" panose="05000000000000000000" pitchFamily="2" charset="2"/>
              <a:buChar char="q"/>
            </a:pPr>
            <a:r>
              <a:rPr lang="en-US" sz="4000" dirty="0"/>
              <a:t>They apply automatically in the background, so you don’t need to repeat instructions every time.</a:t>
            </a:r>
          </a:p>
          <a:p>
            <a:pPr marL="571500" indent="-571500">
              <a:buFont typeface="Wingdings" panose="05000000000000000000" pitchFamily="2" charset="2"/>
              <a:buChar char="q"/>
            </a:pPr>
            <a:r>
              <a:rPr lang="en-US" sz="4000" dirty="0"/>
              <a:t>Without rules, Cursor just uses general AI knowledge. With rules, it tailors itself to your </a:t>
            </a:r>
            <a:r>
              <a:rPr lang="en-US" sz="4000" b="1" dirty="0"/>
              <a:t>style, project, or company standards</a:t>
            </a:r>
            <a:r>
              <a:rPr lang="en-US" sz="4000" dirty="0"/>
              <a:t>.</a:t>
            </a:r>
          </a:p>
        </p:txBody>
      </p:sp>
    </p:spTree>
    <p:extLst>
      <p:ext uri="{BB962C8B-B14F-4D97-AF65-F5344CB8AC3E}">
        <p14:creationId xmlns:p14="http://schemas.microsoft.com/office/powerpoint/2010/main" val="12142075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E133DE7F-4F6D-AB41-E2F9-90E0666E949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5269C19-26D7-7329-0951-C34F6BCD439F}"/>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62C96E82-BE4B-D9BA-7727-826F534D9A44}"/>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dirty="0">
                <a:solidFill>
                  <a:schemeClr val="bg1"/>
                </a:solidFill>
                <a:latin typeface="HK Modular" panose="020B0604020202020204" charset="0"/>
              </a:rPr>
              <a:t>Key Points about Cursor Rules</a:t>
            </a:r>
            <a:endParaRPr lang="en-US" sz="4000" dirty="0">
              <a:solidFill>
                <a:schemeClr val="bg1"/>
              </a:solidFill>
              <a:latin typeface="HK Modular" panose="020B0604020202020204" charset="0"/>
              <a:ea typeface="HK Modular"/>
              <a:cs typeface="HK Modular"/>
              <a:sym typeface="HK Modular"/>
            </a:endParaRPr>
          </a:p>
        </p:txBody>
      </p:sp>
      <p:sp>
        <p:nvSpPr>
          <p:cNvPr id="5" name="TextBox 4">
            <a:extLst>
              <a:ext uri="{FF2B5EF4-FFF2-40B4-BE49-F238E27FC236}">
                <a16:creationId xmlns:a16="http://schemas.microsoft.com/office/drawing/2014/main" id="{98F9AF6C-6CF9-5BB3-E966-1E4139CA8335}"/>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42F4CFA0-2517-1145-4EE7-CF9CB5F7B231}"/>
              </a:ext>
            </a:extLst>
          </p:cNvPr>
          <p:cNvSpPr txBox="1"/>
          <p:nvPr/>
        </p:nvSpPr>
        <p:spPr>
          <a:xfrm>
            <a:off x="1295400" y="3238500"/>
            <a:ext cx="15316200" cy="2554545"/>
          </a:xfrm>
          <a:prstGeom prst="rect">
            <a:avLst/>
          </a:prstGeom>
          <a:noFill/>
        </p:spPr>
        <p:txBody>
          <a:bodyPr wrap="square">
            <a:spAutoFit/>
          </a:bodyPr>
          <a:lstStyle/>
          <a:p>
            <a:pPr marL="571500" indent="-571500">
              <a:buFont typeface="Wingdings" panose="05000000000000000000" pitchFamily="2" charset="2"/>
              <a:buChar char="q"/>
            </a:pPr>
            <a:r>
              <a:rPr lang="en-US" sz="4000" dirty="0"/>
              <a:t>Rules are persistent (they apply to all prompts until you change/remove them).</a:t>
            </a:r>
          </a:p>
          <a:p>
            <a:pPr marL="571500" indent="-571500">
              <a:buFont typeface="Wingdings" panose="05000000000000000000" pitchFamily="2" charset="2"/>
              <a:buChar char="q"/>
            </a:pPr>
            <a:r>
              <a:rPr lang="en-US" sz="4000" dirty="0"/>
              <a:t>They act like “guardrails” for coding, style, or process.</a:t>
            </a:r>
          </a:p>
          <a:p>
            <a:pPr marL="571500" indent="-571500">
              <a:buFont typeface="Wingdings" panose="05000000000000000000" pitchFamily="2" charset="2"/>
              <a:buChar char="q"/>
            </a:pPr>
            <a:r>
              <a:rPr lang="en-US" sz="4000" dirty="0"/>
              <a:t>They’re stored in a special place (cursor/rules) inside your project.</a:t>
            </a:r>
          </a:p>
        </p:txBody>
      </p:sp>
    </p:spTree>
    <p:extLst>
      <p:ext uri="{BB962C8B-B14F-4D97-AF65-F5344CB8AC3E}">
        <p14:creationId xmlns:p14="http://schemas.microsoft.com/office/powerpoint/2010/main" val="1158222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F24E9A18-020D-B84A-2F13-3AF114DAF35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BF0CAB8-12E6-A5F1-8BD0-B282235CFFDA}"/>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F70335F2-CA9F-F89A-6F06-A1B3DC4F29EB}"/>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dirty="0">
                <a:solidFill>
                  <a:schemeClr val="bg1"/>
                </a:solidFill>
                <a:latin typeface="HK Modular" panose="020B0604020202020204" charset="0"/>
                <a:ea typeface="HK Modular"/>
                <a:cs typeface="HK Modular"/>
                <a:sym typeface="HK Modular"/>
              </a:rPr>
              <a:t>Example Cursor Rules</a:t>
            </a:r>
          </a:p>
        </p:txBody>
      </p:sp>
      <p:sp>
        <p:nvSpPr>
          <p:cNvPr id="5" name="TextBox 4">
            <a:extLst>
              <a:ext uri="{FF2B5EF4-FFF2-40B4-BE49-F238E27FC236}">
                <a16:creationId xmlns:a16="http://schemas.microsoft.com/office/drawing/2014/main" id="{7A69C7DC-965C-F499-73AD-DD905BBBC7FB}"/>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092311DF-5AD1-F3E3-1E57-F0E29008B246}"/>
              </a:ext>
            </a:extLst>
          </p:cNvPr>
          <p:cNvSpPr txBox="1"/>
          <p:nvPr/>
        </p:nvSpPr>
        <p:spPr>
          <a:xfrm>
            <a:off x="1295400" y="3238500"/>
            <a:ext cx="15316200" cy="6494085"/>
          </a:xfrm>
          <a:prstGeom prst="rect">
            <a:avLst/>
          </a:prstGeom>
          <a:noFill/>
        </p:spPr>
        <p:txBody>
          <a:bodyPr wrap="square">
            <a:spAutoFit/>
          </a:bodyPr>
          <a:lstStyle/>
          <a:p>
            <a:pPr marL="571500" indent="-571500">
              <a:buFont typeface="Wingdings" panose="05000000000000000000" pitchFamily="2" charset="2"/>
              <a:buChar char="q"/>
            </a:pPr>
            <a:r>
              <a:rPr lang="en-US" sz="3200" dirty="0"/>
              <a:t>1. **NEVER put SOQL/DML inside loops** - Always </a:t>
            </a:r>
            <a:r>
              <a:rPr lang="en-US" sz="3200" dirty="0" err="1"/>
              <a:t>bulkify</a:t>
            </a:r>
            <a:r>
              <a:rPr lang="en-US" sz="3200" dirty="0"/>
              <a:t> your code</a:t>
            </a:r>
          </a:p>
          <a:p>
            <a:pPr marL="571500" indent="-571500">
              <a:buFont typeface="Wingdings" panose="05000000000000000000" pitchFamily="2" charset="2"/>
              <a:buChar char="q"/>
            </a:pPr>
            <a:r>
              <a:rPr lang="en-US" sz="3200" dirty="0"/>
              <a:t>2. **Use selective SOQL queries** - Avoid non-selective patterns like !=, &lt;&gt;, or LIKE with leading wildcards</a:t>
            </a:r>
          </a:p>
          <a:p>
            <a:pPr marL="571500" indent="-571500">
              <a:buFont typeface="Wingdings" panose="05000000000000000000" pitchFamily="2" charset="2"/>
              <a:buChar char="q"/>
            </a:pPr>
            <a:r>
              <a:rPr lang="en-US" sz="3200" dirty="0"/>
              <a:t>3. **Use collections for DML operations** - Process records in batches, not individually</a:t>
            </a:r>
          </a:p>
          <a:p>
            <a:pPr marL="571500" indent="-571500">
              <a:buFont typeface="Wingdings" panose="05000000000000000000" pitchFamily="2" charset="2"/>
              <a:buChar char="q"/>
            </a:pPr>
            <a:r>
              <a:rPr lang="en-US" sz="3200" dirty="0"/>
              <a:t>4. **Implement proper exception handling** - Catch specific exception types</a:t>
            </a:r>
          </a:p>
          <a:p>
            <a:pPr marL="571500" indent="-571500">
              <a:buFont typeface="Wingdings" panose="05000000000000000000" pitchFamily="2" charset="2"/>
              <a:buChar char="q"/>
            </a:pPr>
            <a:r>
              <a:rPr lang="en-US" sz="3200" dirty="0"/>
              <a:t>5. **Avoid hardcoded limits** - Use dynamic SOQL limits</a:t>
            </a:r>
          </a:p>
          <a:p>
            <a:pPr marL="571500" indent="-571500">
              <a:buFont typeface="Wingdings" panose="05000000000000000000" pitchFamily="2" charset="2"/>
              <a:buChar char="q"/>
            </a:pPr>
            <a:r>
              <a:rPr lang="en-US" sz="3200" dirty="0"/>
              <a:t>6. **Enforce CRUD/FLS security** - Use WITH SECURITY_ENFORCED and </a:t>
            </a:r>
            <a:r>
              <a:rPr lang="en-US" sz="3200" dirty="0" err="1"/>
              <a:t>Security.stripInaccessible</a:t>
            </a:r>
            <a:r>
              <a:rPr lang="en-US" sz="3200" dirty="0"/>
              <a:t>()</a:t>
            </a:r>
          </a:p>
          <a:p>
            <a:pPr marL="571500" indent="-571500">
              <a:buFont typeface="Wingdings" panose="05000000000000000000" pitchFamily="2" charset="2"/>
              <a:buChar char="q"/>
            </a:pPr>
            <a:r>
              <a:rPr lang="en-US" sz="3200" dirty="0"/>
              <a:t>7. **Avoid CPU-intensive operations** - Prevent infinite loops and complex operations</a:t>
            </a:r>
          </a:p>
          <a:p>
            <a:pPr marL="571500" indent="-571500">
              <a:buFont typeface="Wingdings" panose="05000000000000000000" pitchFamily="2" charset="2"/>
              <a:buChar char="q"/>
            </a:pPr>
            <a:r>
              <a:rPr lang="en-US" sz="3200" dirty="0"/>
              <a:t>8. **Always perform null checks** - Prevent </a:t>
            </a:r>
            <a:r>
              <a:rPr lang="en-US" sz="3200" dirty="0" err="1"/>
              <a:t>NullPointerExceptions</a:t>
            </a:r>
            <a:endParaRPr lang="en-US" sz="3200" dirty="0"/>
          </a:p>
          <a:p>
            <a:pPr marL="571500" indent="-571500">
              <a:buFont typeface="Wingdings" panose="05000000000000000000" pitchFamily="2" charset="2"/>
              <a:buChar char="q"/>
            </a:pPr>
            <a:r>
              <a:rPr lang="en-US" sz="3200" dirty="0"/>
              <a:t>9. **Control trigger recursion** - Use static </a:t>
            </a:r>
            <a:r>
              <a:rPr lang="en-US" sz="3200" dirty="0" err="1"/>
              <a:t>boolean</a:t>
            </a:r>
            <a:r>
              <a:rPr lang="en-US" sz="3200" dirty="0"/>
              <a:t> flags or trigger frameworks</a:t>
            </a:r>
          </a:p>
          <a:p>
            <a:pPr marL="571500" indent="-571500">
              <a:buFont typeface="Wingdings" panose="05000000000000000000" pitchFamily="2" charset="2"/>
              <a:buChar char="q"/>
            </a:pPr>
            <a:r>
              <a:rPr lang="en-US" sz="3200" dirty="0"/>
              <a:t>10. **🚨 MANDATORY: Follow DET_ naming conventions** - ALL Apex classes and files MUST use DET_ prefix</a:t>
            </a:r>
          </a:p>
        </p:txBody>
      </p:sp>
    </p:spTree>
    <p:extLst>
      <p:ext uri="{BB962C8B-B14F-4D97-AF65-F5344CB8AC3E}">
        <p14:creationId xmlns:p14="http://schemas.microsoft.com/office/powerpoint/2010/main" val="15999473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3C4E7AFA-D16C-86A9-1601-1B57436160D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54351EA-CB78-4410-6C0C-20EF82B511EE}"/>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01422B21-88D5-938A-069F-1C58B0767AD8}"/>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dirty="0">
                <a:solidFill>
                  <a:schemeClr val="bg1"/>
                </a:solidFill>
                <a:latin typeface="HK Modular" panose="020B0604020202020204" charset="0"/>
              </a:rPr>
              <a:t>Best Practices for Cursor Rules</a:t>
            </a:r>
            <a:endParaRPr lang="en-US" sz="4000" dirty="0">
              <a:solidFill>
                <a:schemeClr val="bg1"/>
              </a:solidFill>
              <a:latin typeface="HK Modular" panose="020B0604020202020204" charset="0"/>
              <a:ea typeface="HK Modular"/>
              <a:cs typeface="HK Modular"/>
              <a:sym typeface="HK Modular"/>
            </a:endParaRPr>
          </a:p>
        </p:txBody>
      </p:sp>
      <p:sp>
        <p:nvSpPr>
          <p:cNvPr id="5" name="TextBox 4">
            <a:extLst>
              <a:ext uri="{FF2B5EF4-FFF2-40B4-BE49-F238E27FC236}">
                <a16:creationId xmlns:a16="http://schemas.microsoft.com/office/drawing/2014/main" id="{799BF884-56ED-DE94-4F67-F89ADE13D3FE}"/>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F500CB1A-46D1-0431-F8F3-A11942B6D562}"/>
              </a:ext>
            </a:extLst>
          </p:cNvPr>
          <p:cNvSpPr txBox="1"/>
          <p:nvPr/>
        </p:nvSpPr>
        <p:spPr>
          <a:xfrm>
            <a:off x="1219200" y="2105025"/>
            <a:ext cx="15316200" cy="6555641"/>
          </a:xfrm>
          <a:prstGeom prst="rect">
            <a:avLst/>
          </a:prstGeom>
          <a:noFill/>
        </p:spPr>
        <p:txBody>
          <a:bodyPr wrap="square">
            <a:spAutoFit/>
          </a:bodyPr>
          <a:lstStyle/>
          <a:p>
            <a:pPr marL="285750" indent="-285750">
              <a:buFont typeface="Wingdings" panose="05000000000000000000" pitchFamily="2" charset="2"/>
              <a:buChar char="q"/>
            </a:pPr>
            <a:r>
              <a:rPr lang="en-US" sz="6000" dirty="0"/>
              <a:t>Keep rules under 500 lines</a:t>
            </a:r>
          </a:p>
          <a:p>
            <a:pPr marL="285750" indent="-285750">
              <a:buFont typeface="Wingdings" panose="05000000000000000000" pitchFamily="2" charset="2"/>
              <a:buChar char="q"/>
            </a:pPr>
            <a:r>
              <a:rPr lang="en-US" sz="6000" dirty="0"/>
              <a:t>Split large rules into multiple, composable rules</a:t>
            </a:r>
          </a:p>
          <a:p>
            <a:pPr marL="285750" indent="-285750">
              <a:buFont typeface="Wingdings" panose="05000000000000000000" pitchFamily="2" charset="2"/>
              <a:buChar char="q"/>
            </a:pPr>
            <a:r>
              <a:rPr lang="en-US" sz="6000" dirty="0"/>
              <a:t>Provide concrete examples or referenced files</a:t>
            </a:r>
          </a:p>
          <a:p>
            <a:pPr marL="285750" indent="-285750">
              <a:buFont typeface="Wingdings" panose="05000000000000000000" pitchFamily="2" charset="2"/>
              <a:buChar char="q"/>
            </a:pPr>
            <a:r>
              <a:rPr lang="en-US" sz="6000" dirty="0"/>
              <a:t>Avoid vague guidance. Write rules like clear internal docs</a:t>
            </a:r>
          </a:p>
          <a:p>
            <a:pPr marL="285750" indent="-285750">
              <a:buFont typeface="Wingdings" panose="05000000000000000000" pitchFamily="2" charset="2"/>
              <a:buChar char="q"/>
            </a:pPr>
            <a:r>
              <a:rPr lang="en-US" sz="6000" dirty="0"/>
              <a:t>Reuse rules when repeating prompts in chat</a:t>
            </a:r>
          </a:p>
        </p:txBody>
      </p:sp>
    </p:spTree>
    <p:extLst>
      <p:ext uri="{BB962C8B-B14F-4D97-AF65-F5344CB8AC3E}">
        <p14:creationId xmlns:p14="http://schemas.microsoft.com/office/powerpoint/2010/main" val="37053754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877DC5DB-C575-858E-5EDB-F9333C37B3B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67F6C5C-2EB3-C0D0-06C4-858AF7E73CF5}"/>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CC4B02AC-259B-648C-4E82-3CFA96F287E1}"/>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dirty="0">
                <a:solidFill>
                  <a:schemeClr val="bg1"/>
                </a:solidFill>
                <a:latin typeface="HK Modular" panose="020B0604020202020204" charset="0"/>
              </a:rPr>
              <a:t>Different Rule Types</a:t>
            </a:r>
            <a:endParaRPr lang="en-US" sz="4000" dirty="0">
              <a:solidFill>
                <a:schemeClr val="bg1"/>
              </a:solidFill>
              <a:latin typeface="HK Modular" panose="020B0604020202020204" charset="0"/>
              <a:ea typeface="HK Modular"/>
              <a:cs typeface="HK Modular"/>
              <a:sym typeface="HK Modular"/>
            </a:endParaRPr>
          </a:p>
        </p:txBody>
      </p:sp>
      <p:sp>
        <p:nvSpPr>
          <p:cNvPr id="5" name="TextBox 4">
            <a:extLst>
              <a:ext uri="{FF2B5EF4-FFF2-40B4-BE49-F238E27FC236}">
                <a16:creationId xmlns:a16="http://schemas.microsoft.com/office/drawing/2014/main" id="{829CD3E5-2897-78B9-E207-5D71A092EC98}"/>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pic>
        <p:nvPicPr>
          <p:cNvPr id="6" name="Picture 5">
            <a:extLst>
              <a:ext uri="{FF2B5EF4-FFF2-40B4-BE49-F238E27FC236}">
                <a16:creationId xmlns:a16="http://schemas.microsoft.com/office/drawing/2014/main" id="{C7082D76-204A-4179-5800-601741703BAB}"/>
              </a:ext>
            </a:extLst>
          </p:cNvPr>
          <p:cNvPicPr>
            <a:picLocks noChangeAspect="1"/>
          </p:cNvPicPr>
          <p:nvPr/>
        </p:nvPicPr>
        <p:blipFill>
          <a:blip r:embed="rId4"/>
          <a:stretch>
            <a:fillRect/>
          </a:stretch>
        </p:blipFill>
        <p:spPr>
          <a:xfrm>
            <a:off x="1524001" y="2404080"/>
            <a:ext cx="15886386" cy="5711220"/>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4313741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7EA15D1A-F9AF-291C-73A5-9C3B2803E6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22D8CD7-5014-8D90-3D9C-0C27B20CA9D5}"/>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81DD080D-2E44-38CE-CABF-3CEA8EA11FF1}"/>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dirty="0">
                <a:solidFill>
                  <a:schemeClr val="bg1"/>
                </a:solidFill>
                <a:latin typeface="HK Modular" panose="020B0604020202020204" charset="0"/>
              </a:rPr>
              <a:t>GitHub MCP Server</a:t>
            </a:r>
            <a:endParaRPr lang="en-US" sz="4000" dirty="0">
              <a:solidFill>
                <a:schemeClr val="bg1"/>
              </a:solidFill>
              <a:latin typeface="HK Modular" panose="020B0604020202020204" charset="0"/>
              <a:ea typeface="HK Modular"/>
              <a:cs typeface="HK Modular"/>
              <a:sym typeface="HK Modular"/>
            </a:endParaRPr>
          </a:p>
        </p:txBody>
      </p:sp>
      <p:sp>
        <p:nvSpPr>
          <p:cNvPr id="5" name="TextBox 4">
            <a:extLst>
              <a:ext uri="{FF2B5EF4-FFF2-40B4-BE49-F238E27FC236}">
                <a16:creationId xmlns:a16="http://schemas.microsoft.com/office/drawing/2014/main" id="{BB5054E8-63F7-F4C1-F80A-60E88A5E13AB}"/>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E8DCE681-68A6-8DA9-336C-7600F62A9E14}"/>
              </a:ext>
            </a:extLst>
          </p:cNvPr>
          <p:cNvSpPr txBox="1"/>
          <p:nvPr/>
        </p:nvSpPr>
        <p:spPr>
          <a:xfrm>
            <a:off x="1219200" y="2105025"/>
            <a:ext cx="15316200" cy="3785652"/>
          </a:xfrm>
          <a:prstGeom prst="rect">
            <a:avLst/>
          </a:prstGeom>
          <a:noFill/>
        </p:spPr>
        <p:txBody>
          <a:bodyPr wrap="square">
            <a:spAutoFit/>
          </a:bodyPr>
          <a:lstStyle/>
          <a:p>
            <a:pPr marL="285750" indent="-285750">
              <a:buFont typeface="Wingdings" panose="05000000000000000000" pitchFamily="2" charset="2"/>
              <a:buChar char="q"/>
            </a:pPr>
            <a:r>
              <a:rPr lang="en-US" sz="6000" dirty="0"/>
              <a:t>Connect to GitHub MCP server through </a:t>
            </a:r>
            <a:r>
              <a:rPr lang="en-US" sz="6000" dirty="0" err="1"/>
              <a:t>mcp.json</a:t>
            </a:r>
            <a:endParaRPr lang="en-US" sz="6000" dirty="0"/>
          </a:p>
          <a:p>
            <a:pPr marL="285750" indent="-285750">
              <a:buFont typeface="Wingdings" panose="05000000000000000000" pitchFamily="2" charset="2"/>
              <a:buChar char="q"/>
            </a:pPr>
            <a:r>
              <a:rPr lang="en-US" sz="6000" dirty="0"/>
              <a:t>Update the token in the </a:t>
            </a:r>
            <a:r>
              <a:rPr lang="en-US" sz="6000" dirty="0" err="1"/>
              <a:t>mcp</a:t>
            </a:r>
            <a:r>
              <a:rPr lang="en-US" sz="6000" dirty="0"/>
              <a:t> file.</a:t>
            </a:r>
          </a:p>
          <a:p>
            <a:pPr marL="285750" indent="-285750">
              <a:buFont typeface="Wingdings" panose="05000000000000000000" pitchFamily="2" charset="2"/>
              <a:buChar char="q"/>
            </a:pPr>
            <a:endParaRPr lang="en-US" sz="6000" dirty="0"/>
          </a:p>
        </p:txBody>
      </p:sp>
    </p:spTree>
    <p:extLst>
      <p:ext uri="{BB962C8B-B14F-4D97-AF65-F5344CB8AC3E}">
        <p14:creationId xmlns:p14="http://schemas.microsoft.com/office/powerpoint/2010/main" val="25030107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92B6DEC4-35FE-F0C2-44CE-B1B3425A585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F36570C-5425-36DE-99B2-78A80AAF5D1A}"/>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EA935E71-0F00-8B0B-AA23-CA5ED6535B77}"/>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dirty="0">
                <a:solidFill>
                  <a:schemeClr val="bg1"/>
                </a:solidFill>
                <a:latin typeface="HK Modular" panose="020B0604020202020204" charset="0"/>
                <a:ea typeface="HK Modular"/>
                <a:cs typeface="HK Modular"/>
                <a:sym typeface="HK Modular"/>
              </a:rPr>
              <a:t>Prompts to Try</a:t>
            </a:r>
          </a:p>
        </p:txBody>
      </p:sp>
      <p:sp>
        <p:nvSpPr>
          <p:cNvPr id="5" name="TextBox 4">
            <a:extLst>
              <a:ext uri="{FF2B5EF4-FFF2-40B4-BE49-F238E27FC236}">
                <a16:creationId xmlns:a16="http://schemas.microsoft.com/office/drawing/2014/main" id="{5F94D429-22EF-4209-6CB4-7691C378F96D}"/>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48119FFB-C79E-5E17-901F-E4F04C690A40}"/>
              </a:ext>
            </a:extLst>
          </p:cNvPr>
          <p:cNvSpPr txBox="1"/>
          <p:nvPr/>
        </p:nvSpPr>
        <p:spPr>
          <a:xfrm>
            <a:off x="1219200" y="2105025"/>
            <a:ext cx="15316200" cy="8340745"/>
          </a:xfrm>
          <a:prstGeom prst="rect">
            <a:avLst/>
          </a:prstGeom>
          <a:noFill/>
        </p:spPr>
        <p:txBody>
          <a:bodyPr wrap="square">
            <a:spAutoFit/>
          </a:bodyPr>
          <a:lstStyle/>
          <a:p>
            <a:pPr marL="285750" indent="-285750">
              <a:buFont typeface="Wingdings" panose="05000000000000000000" pitchFamily="2" charset="2"/>
              <a:buChar char="q"/>
            </a:pPr>
            <a:r>
              <a:rPr lang="en-US" sz="6000" dirty="0"/>
              <a:t>List down all the repositories I have. </a:t>
            </a:r>
          </a:p>
          <a:p>
            <a:pPr marL="285750" indent="-285750">
              <a:buFont typeface="Wingdings" panose="05000000000000000000" pitchFamily="2" charset="2"/>
              <a:buChar char="q"/>
            </a:pPr>
            <a:r>
              <a:rPr lang="en-US" sz="6000" dirty="0"/>
              <a:t>Create a new repository. </a:t>
            </a:r>
          </a:p>
          <a:p>
            <a:pPr marL="285750" indent="-285750">
              <a:buFont typeface="Wingdings" panose="05000000000000000000" pitchFamily="2" charset="2"/>
              <a:buChar char="q"/>
            </a:pPr>
            <a:r>
              <a:rPr lang="en-US" sz="6000" dirty="0"/>
              <a:t>Commit </a:t>
            </a:r>
            <a:r>
              <a:rPr lang="en-US" sz="6000" dirty="0" err="1"/>
              <a:t>AccountHealthService</a:t>
            </a:r>
            <a:r>
              <a:rPr lang="en-US" sz="6000" dirty="0"/>
              <a:t> and its corresponding  test class to the CursorProject3 repository.</a:t>
            </a:r>
          </a:p>
          <a:p>
            <a:pPr marL="285750" indent="-285750">
              <a:buFont typeface="Wingdings" panose="05000000000000000000" pitchFamily="2" charset="2"/>
              <a:buChar char="q"/>
            </a:pPr>
            <a:r>
              <a:rPr lang="en-US" sz="6000" dirty="0"/>
              <a:t>List open pull requests in </a:t>
            </a:r>
            <a:r>
              <a:rPr lang="en-US" sz="3200" dirty="0"/>
              <a:t>&lt;owner&gt;/&lt;repo&gt;</a:t>
            </a:r>
            <a:r>
              <a:rPr lang="en-US" sz="8800" dirty="0"/>
              <a:t>.</a:t>
            </a:r>
          </a:p>
          <a:p>
            <a:endParaRPr lang="en-US" sz="8800" dirty="0"/>
          </a:p>
          <a:p>
            <a:pPr marL="285750" indent="-285750">
              <a:buFont typeface="Wingdings" panose="05000000000000000000" pitchFamily="2" charset="2"/>
              <a:buChar char="q"/>
            </a:pPr>
            <a:endParaRPr lang="en-US" sz="6000" dirty="0"/>
          </a:p>
        </p:txBody>
      </p:sp>
    </p:spTree>
    <p:extLst>
      <p:ext uri="{BB962C8B-B14F-4D97-AF65-F5344CB8AC3E}">
        <p14:creationId xmlns:p14="http://schemas.microsoft.com/office/powerpoint/2010/main" val="23347208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42976E86-D0CB-2C41-C064-E57F7BD2482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9020F45-FF6F-1011-9C0E-302ADAA2853D}"/>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32D8F1BF-7DD8-608B-7021-B1C3F9135E9B}"/>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dirty="0">
                <a:solidFill>
                  <a:schemeClr val="bg1"/>
                </a:solidFill>
                <a:latin typeface="HK Modular" panose="020B0604020202020204" charset="0"/>
                <a:ea typeface="HK Modular"/>
                <a:cs typeface="HK Modular"/>
                <a:sym typeface="HK Modular"/>
              </a:rPr>
              <a:t>Prompts to Try</a:t>
            </a:r>
          </a:p>
        </p:txBody>
      </p:sp>
      <p:sp>
        <p:nvSpPr>
          <p:cNvPr id="5" name="TextBox 4">
            <a:extLst>
              <a:ext uri="{FF2B5EF4-FFF2-40B4-BE49-F238E27FC236}">
                <a16:creationId xmlns:a16="http://schemas.microsoft.com/office/drawing/2014/main" id="{76C01A6B-F9BA-B9FB-ABEF-F3FC6B409514}"/>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248C3509-A826-AF15-E7E5-BE88B60AA975}"/>
              </a:ext>
            </a:extLst>
          </p:cNvPr>
          <p:cNvSpPr txBox="1"/>
          <p:nvPr/>
        </p:nvSpPr>
        <p:spPr>
          <a:xfrm>
            <a:off x="1219200" y="2105025"/>
            <a:ext cx="15316200" cy="8402300"/>
          </a:xfrm>
          <a:prstGeom prst="rect">
            <a:avLst/>
          </a:prstGeom>
          <a:noFill/>
        </p:spPr>
        <p:txBody>
          <a:bodyPr wrap="square">
            <a:spAutoFit/>
          </a:bodyPr>
          <a:lstStyle/>
          <a:p>
            <a:pPr marL="285750" indent="-285750">
              <a:buFont typeface="Wingdings" panose="05000000000000000000" pitchFamily="2" charset="2"/>
              <a:buChar char="q"/>
            </a:pPr>
            <a:r>
              <a:rPr lang="en-US" sz="6000" dirty="0"/>
              <a:t>Show me the most recent commits on the main branch in &lt;owner&gt;/&lt;repo&gt;.</a:t>
            </a:r>
          </a:p>
          <a:p>
            <a:pPr marL="285750" indent="-285750">
              <a:buFont typeface="Wingdings" panose="05000000000000000000" pitchFamily="2" charset="2"/>
              <a:buChar char="q"/>
            </a:pPr>
            <a:r>
              <a:rPr lang="en-US" sz="6000" dirty="0"/>
              <a:t>Open and display the contents of README.md from the main branch in &lt;owner&gt;/&lt;repo&gt;.</a:t>
            </a:r>
          </a:p>
          <a:p>
            <a:pPr marL="285750" indent="-285750">
              <a:buFont typeface="Wingdings" panose="05000000000000000000" pitchFamily="2" charset="2"/>
              <a:buChar char="q"/>
            </a:pPr>
            <a:r>
              <a:rPr lang="en-US" sz="6000" dirty="0"/>
              <a:t>Create a new issue in CursorProject3 titled “Add </a:t>
            </a:r>
            <a:r>
              <a:rPr lang="en-US" sz="6000" dirty="0" err="1"/>
              <a:t>AccountHealthService</a:t>
            </a:r>
            <a:r>
              <a:rPr lang="en-US" sz="6000" dirty="0"/>
              <a:t> Apex class” with body “We need a service to calculate Account health based on revenue and last 90-day wins.</a:t>
            </a:r>
          </a:p>
          <a:p>
            <a:pPr marL="285750" indent="-285750">
              <a:buFont typeface="Wingdings" panose="05000000000000000000" pitchFamily="2" charset="2"/>
              <a:buChar char="q"/>
            </a:pPr>
            <a:endParaRPr lang="en-US" sz="6000" dirty="0"/>
          </a:p>
        </p:txBody>
      </p:sp>
    </p:spTree>
    <p:extLst>
      <p:ext uri="{BB962C8B-B14F-4D97-AF65-F5344CB8AC3E}">
        <p14:creationId xmlns:p14="http://schemas.microsoft.com/office/powerpoint/2010/main" val="22569879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A0DCED3C-9069-2314-82BF-82F7870D9A9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08874B6-7701-CE79-743A-13A9DB177536}"/>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817EBE74-FA16-0E6A-F035-5951C6440BAA}"/>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dirty="0">
                <a:solidFill>
                  <a:schemeClr val="bg1"/>
                </a:solidFill>
                <a:latin typeface="HK Modular" panose="020B0604020202020204" charset="0"/>
                <a:ea typeface="HK Modular"/>
                <a:cs typeface="HK Modular"/>
                <a:sym typeface="HK Modular"/>
              </a:rPr>
              <a:t>Prompts to Try</a:t>
            </a:r>
          </a:p>
        </p:txBody>
      </p:sp>
      <p:sp>
        <p:nvSpPr>
          <p:cNvPr id="5" name="TextBox 4">
            <a:extLst>
              <a:ext uri="{FF2B5EF4-FFF2-40B4-BE49-F238E27FC236}">
                <a16:creationId xmlns:a16="http://schemas.microsoft.com/office/drawing/2014/main" id="{85DA0655-BC38-10CD-182C-B40D0C046453}"/>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9522974E-EB0A-AB4D-5895-203ABA686C2D}"/>
              </a:ext>
            </a:extLst>
          </p:cNvPr>
          <p:cNvSpPr txBox="1"/>
          <p:nvPr/>
        </p:nvSpPr>
        <p:spPr>
          <a:xfrm>
            <a:off x="1219200" y="2105025"/>
            <a:ext cx="15316200" cy="7201972"/>
          </a:xfrm>
          <a:prstGeom prst="rect">
            <a:avLst/>
          </a:prstGeom>
          <a:noFill/>
        </p:spPr>
        <p:txBody>
          <a:bodyPr wrap="square">
            <a:spAutoFit/>
          </a:bodyPr>
          <a:lstStyle/>
          <a:p>
            <a:pPr marL="285750" indent="-285750">
              <a:buFont typeface="Wingdings" panose="05000000000000000000" pitchFamily="2" charset="2"/>
              <a:buChar char="q"/>
            </a:pPr>
            <a:r>
              <a:rPr lang="en-US" sz="6600" dirty="0"/>
              <a:t>List all open issues in CursorProject3</a:t>
            </a:r>
          </a:p>
          <a:p>
            <a:pPr marL="285750" indent="-285750">
              <a:buFont typeface="Wingdings" panose="05000000000000000000" pitchFamily="2" charset="2"/>
              <a:buChar char="q"/>
            </a:pPr>
            <a:r>
              <a:rPr lang="en-US" sz="6600" dirty="0"/>
              <a:t>Add a comment to issue #1 in CursorProject3 that says “I’ll start working on this now.</a:t>
            </a:r>
          </a:p>
          <a:p>
            <a:pPr marL="285750" indent="-285750">
              <a:buFont typeface="Wingdings" panose="05000000000000000000" pitchFamily="2" charset="2"/>
              <a:buChar char="q"/>
            </a:pPr>
            <a:r>
              <a:rPr lang="en-US" sz="6600" dirty="0"/>
              <a:t>Close issue #1 in CursorProject3 with comment “Feature implemented and merged.</a:t>
            </a:r>
          </a:p>
        </p:txBody>
      </p:sp>
    </p:spTree>
    <p:extLst>
      <p:ext uri="{BB962C8B-B14F-4D97-AF65-F5344CB8AC3E}">
        <p14:creationId xmlns:p14="http://schemas.microsoft.com/office/powerpoint/2010/main" val="7953857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3A9628E9-B9E7-5EA8-A409-1E38FFEDAFA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C52BC6E-16B3-88C2-371F-1C9F4C319DD9}"/>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5B1EE869-4D7C-C659-0117-554A5D895D92}"/>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dirty="0">
                <a:solidFill>
                  <a:schemeClr val="bg1"/>
                </a:solidFill>
                <a:latin typeface="HK Modular" panose="020B0604020202020204" charset="0"/>
                <a:ea typeface="HK Modular"/>
                <a:cs typeface="HK Modular"/>
                <a:sym typeface="HK Modular"/>
              </a:rPr>
              <a:t>Cursor Commands</a:t>
            </a:r>
          </a:p>
        </p:txBody>
      </p:sp>
      <p:sp>
        <p:nvSpPr>
          <p:cNvPr id="5" name="TextBox 4">
            <a:extLst>
              <a:ext uri="{FF2B5EF4-FFF2-40B4-BE49-F238E27FC236}">
                <a16:creationId xmlns:a16="http://schemas.microsoft.com/office/drawing/2014/main" id="{756332D7-52C3-2859-FEBD-DC989698EF81}"/>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CEFA7934-A9EC-AEAC-2116-F09CEC0BDF7F}"/>
              </a:ext>
            </a:extLst>
          </p:cNvPr>
          <p:cNvSpPr txBox="1"/>
          <p:nvPr/>
        </p:nvSpPr>
        <p:spPr>
          <a:xfrm>
            <a:off x="1219200" y="2105025"/>
            <a:ext cx="15316200" cy="6740307"/>
          </a:xfrm>
          <a:prstGeom prst="rect">
            <a:avLst/>
          </a:prstGeom>
          <a:noFill/>
        </p:spPr>
        <p:txBody>
          <a:bodyPr wrap="square">
            <a:spAutoFit/>
          </a:bodyPr>
          <a:lstStyle/>
          <a:p>
            <a:pPr marL="285750" indent="-285750">
              <a:buFont typeface="Wingdings" panose="05000000000000000000" pitchFamily="2" charset="2"/>
              <a:buChar char="q"/>
            </a:pPr>
            <a:r>
              <a:rPr lang="en-US" sz="4800" dirty="0"/>
              <a:t>Create a new folder name commands inside of .cursor</a:t>
            </a:r>
          </a:p>
          <a:p>
            <a:pPr marL="285750" indent="-285750">
              <a:buFont typeface="Wingdings" panose="05000000000000000000" pitchFamily="2" charset="2"/>
              <a:buChar char="q"/>
            </a:pPr>
            <a:r>
              <a:rPr lang="en-US" sz="4800" dirty="0"/>
              <a:t>Instead of typing long prompts every time, you can set up simple commands that start with a / (like /review or /deploy) to make Cursor do specific tasks automatically.</a:t>
            </a:r>
          </a:p>
          <a:p>
            <a:pPr marL="285750" indent="-285750">
              <a:buFont typeface="Wingdings" panose="05000000000000000000" pitchFamily="2" charset="2"/>
              <a:buChar char="q"/>
            </a:pPr>
            <a:r>
              <a:rPr lang="en-US" sz="4800" dirty="0"/>
              <a:t>These commands help you and your team save time, stay consistent, and run the same workflows (like code reviews, deployments, or documentation checks) with just one quick command.</a:t>
            </a:r>
          </a:p>
          <a:p>
            <a:pPr marL="285750" indent="-285750">
              <a:buFont typeface="Wingdings" panose="05000000000000000000" pitchFamily="2" charset="2"/>
              <a:buChar char="q"/>
            </a:pPr>
            <a:endParaRPr lang="en-US" sz="4800" dirty="0"/>
          </a:p>
        </p:txBody>
      </p:sp>
    </p:spTree>
    <p:extLst>
      <p:ext uri="{BB962C8B-B14F-4D97-AF65-F5344CB8AC3E}">
        <p14:creationId xmlns:p14="http://schemas.microsoft.com/office/powerpoint/2010/main" val="21795464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0247E6B5-105D-6FE6-A7EA-4AC7D16A44A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860C294-084D-AED4-D296-4C06C9CE663C}"/>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D0D5C1FB-DFCB-6C42-C036-2FAEE1B9CFDF}"/>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dirty="0">
                <a:solidFill>
                  <a:schemeClr val="bg1"/>
                </a:solidFill>
                <a:latin typeface="HK Modular" panose="020B0604020202020204" charset="0"/>
                <a:ea typeface="HK Modular"/>
                <a:cs typeface="HK Modular"/>
                <a:sym typeface="HK Modular"/>
              </a:rPr>
              <a:t>Cursor Commands</a:t>
            </a:r>
          </a:p>
        </p:txBody>
      </p:sp>
      <p:sp>
        <p:nvSpPr>
          <p:cNvPr id="5" name="TextBox 4">
            <a:extLst>
              <a:ext uri="{FF2B5EF4-FFF2-40B4-BE49-F238E27FC236}">
                <a16:creationId xmlns:a16="http://schemas.microsoft.com/office/drawing/2014/main" id="{1E1870DE-5506-CA14-F87A-71ECF982874B}"/>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E93CF8FC-9015-7D34-EF37-A14CE6AD79AB}"/>
              </a:ext>
            </a:extLst>
          </p:cNvPr>
          <p:cNvSpPr txBox="1"/>
          <p:nvPr/>
        </p:nvSpPr>
        <p:spPr>
          <a:xfrm>
            <a:off x="1219200" y="2105025"/>
            <a:ext cx="15316200" cy="7478970"/>
          </a:xfrm>
          <a:prstGeom prst="rect">
            <a:avLst/>
          </a:prstGeom>
          <a:noFill/>
        </p:spPr>
        <p:txBody>
          <a:bodyPr wrap="square">
            <a:spAutoFit/>
          </a:bodyPr>
          <a:lstStyle/>
          <a:p>
            <a:r>
              <a:rPr lang="en-US" sz="2400" dirty="0">
                <a:solidFill>
                  <a:schemeClr val="bg1"/>
                </a:solidFill>
              </a:rPr>
              <a:t># Code Review Checklist</a:t>
            </a:r>
          </a:p>
          <a:p>
            <a:r>
              <a:rPr lang="en-US" sz="2400" dirty="0">
                <a:solidFill>
                  <a:schemeClr val="bg1"/>
                </a:solidFill>
              </a:rPr>
              <a:t>## Overview</a:t>
            </a:r>
          </a:p>
          <a:p>
            <a:r>
              <a:rPr lang="en-US" sz="2400" dirty="0">
                <a:solidFill>
                  <a:schemeClr val="bg1"/>
                </a:solidFill>
              </a:rPr>
              <a:t>Comprehensive checklist for conducting thorough code reviews to ensure quality, security, and maintainability.</a:t>
            </a:r>
          </a:p>
          <a:p>
            <a:r>
              <a:rPr lang="en-US" sz="2400" dirty="0">
                <a:solidFill>
                  <a:schemeClr val="bg1"/>
                </a:solidFill>
              </a:rPr>
              <a:t>## Review Categories</a:t>
            </a:r>
          </a:p>
          <a:p>
            <a:r>
              <a:rPr lang="en-US" sz="2400" dirty="0">
                <a:solidFill>
                  <a:schemeClr val="bg1"/>
                </a:solidFill>
              </a:rPr>
              <a:t>### Functionality</a:t>
            </a:r>
          </a:p>
          <a:p>
            <a:r>
              <a:rPr lang="en-US" sz="2400" dirty="0">
                <a:solidFill>
                  <a:schemeClr val="bg1"/>
                </a:solidFill>
              </a:rPr>
              <a:t>- [ ] Code does what it's supposed to do</a:t>
            </a:r>
          </a:p>
          <a:p>
            <a:r>
              <a:rPr lang="en-US" sz="2400" dirty="0">
                <a:solidFill>
                  <a:schemeClr val="bg1"/>
                </a:solidFill>
              </a:rPr>
              <a:t>- [ ] Edge cases are handled</a:t>
            </a:r>
          </a:p>
          <a:p>
            <a:r>
              <a:rPr lang="en-US" sz="2400" dirty="0">
                <a:solidFill>
                  <a:schemeClr val="bg1"/>
                </a:solidFill>
              </a:rPr>
              <a:t>- [ ] Error handling is appropriate</a:t>
            </a:r>
          </a:p>
          <a:p>
            <a:r>
              <a:rPr lang="en-US" sz="2400" dirty="0">
                <a:solidFill>
                  <a:schemeClr val="bg1"/>
                </a:solidFill>
              </a:rPr>
              <a:t>- [ ] No obvious bugs or logic errors</a:t>
            </a:r>
          </a:p>
          <a:p>
            <a:r>
              <a:rPr lang="en-US" sz="2400" dirty="0">
                <a:solidFill>
                  <a:schemeClr val="bg1"/>
                </a:solidFill>
              </a:rPr>
              <a:t>### Code Quality</a:t>
            </a:r>
          </a:p>
          <a:p>
            <a:r>
              <a:rPr lang="en-US" sz="2400" dirty="0">
                <a:solidFill>
                  <a:schemeClr val="bg1"/>
                </a:solidFill>
              </a:rPr>
              <a:t>- [ ] Code is readable and well-structured</a:t>
            </a:r>
          </a:p>
          <a:p>
            <a:r>
              <a:rPr lang="en-US" sz="2400" dirty="0">
                <a:solidFill>
                  <a:schemeClr val="bg1"/>
                </a:solidFill>
              </a:rPr>
              <a:t>- [ ] Functions are small and focused</a:t>
            </a:r>
          </a:p>
          <a:p>
            <a:r>
              <a:rPr lang="en-US" sz="2400" dirty="0">
                <a:solidFill>
                  <a:schemeClr val="bg1"/>
                </a:solidFill>
              </a:rPr>
              <a:t>- [ ] Variable names are descriptive</a:t>
            </a:r>
          </a:p>
          <a:p>
            <a:r>
              <a:rPr lang="en-US" sz="2400" dirty="0">
                <a:solidFill>
                  <a:schemeClr val="bg1"/>
                </a:solidFill>
              </a:rPr>
              <a:t>- [ ] No code duplication</a:t>
            </a:r>
          </a:p>
          <a:p>
            <a:r>
              <a:rPr lang="en-US" sz="2400" dirty="0">
                <a:solidFill>
                  <a:schemeClr val="bg1"/>
                </a:solidFill>
              </a:rPr>
              <a:t>- [ ] Follows project conventions</a:t>
            </a:r>
          </a:p>
          <a:p>
            <a:r>
              <a:rPr lang="en-US" sz="2400" dirty="0">
                <a:solidFill>
                  <a:schemeClr val="bg1"/>
                </a:solidFill>
              </a:rPr>
              <a:t>### Security</a:t>
            </a:r>
          </a:p>
          <a:p>
            <a:r>
              <a:rPr lang="en-US" sz="2400" dirty="0">
                <a:solidFill>
                  <a:schemeClr val="bg1"/>
                </a:solidFill>
              </a:rPr>
              <a:t>- [ ] No obvious security vulnerabilities</a:t>
            </a:r>
          </a:p>
          <a:p>
            <a:r>
              <a:rPr lang="en-US" sz="2400" dirty="0">
                <a:solidFill>
                  <a:schemeClr val="bg1"/>
                </a:solidFill>
              </a:rPr>
              <a:t>- [ ] Input validation is present</a:t>
            </a:r>
          </a:p>
          <a:p>
            <a:r>
              <a:rPr lang="en-US" sz="2400" dirty="0">
                <a:solidFill>
                  <a:schemeClr val="bg1"/>
                </a:solidFill>
              </a:rPr>
              <a:t>- [ ] Sensitive data is handled properly</a:t>
            </a:r>
          </a:p>
          <a:p>
            <a:r>
              <a:rPr lang="en-US" sz="2400" dirty="0">
                <a:solidFill>
                  <a:schemeClr val="bg1"/>
                </a:solidFill>
              </a:rPr>
              <a:t>- [ ] No hardcoded secrets</a:t>
            </a:r>
          </a:p>
        </p:txBody>
      </p:sp>
    </p:spTree>
    <p:extLst>
      <p:ext uri="{BB962C8B-B14F-4D97-AF65-F5344CB8AC3E}">
        <p14:creationId xmlns:p14="http://schemas.microsoft.com/office/powerpoint/2010/main" val="42914801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23CD0594-F7D2-BB50-BB5C-1795BE26EA4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82917A2-BA57-4C98-2CB3-477760AA077E}"/>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13C2C247-9BA8-1833-05F7-44DD03AB1936}"/>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dirty="0" err="1">
                <a:solidFill>
                  <a:schemeClr val="bg1"/>
                </a:solidFill>
                <a:latin typeface="HK Modular" panose="020B0604020202020204" charset="0"/>
                <a:ea typeface="HK Modular"/>
                <a:cs typeface="HK Modular"/>
                <a:sym typeface="HK Modular"/>
              </a:rPr>
              <a:t>Agentforce</a:t>
            </a:r>
            <a:r>
              <a:rPr lang="en-US" sz="4000" dirty="0">
                <a:solidFill>
                  <a:schemeClr val="bg1"/>
                </a:solidFill>
                <a:latin typeface="HK Modular" panose="020B0604020202020204" charset="0"/>
                <a:ea typeface="HK Modular"/>
                <a:cs typeface="HK Modular"/>
                <a:sym typeface="HK Modular"/>
              </a:rPr>
              <a:t> for Developers</a:t>
            </a:r>
          </a:p>
        </p:txBody>
      </p:sp>
      <p:sp>
        <p:nvSpPr>
          <p:cNvPr id="5" name="TextBox 4">
            <a:extLst>
              <a:ext uri="{FF2B5EF4-FFF2-40B4-BE49-F238E27FC236}">
                <a16:creationId xmlns:a16="http://schemas.microsoft.com/office/drawing/2014/main" id="{8A34ED85-35DA-9B0C-F357-6BBB0BDCA035}"/>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19579236-4865-1AED-97CF-80486F937F0A}"/>
              </a:ext>
            </a:extLst>
          </p:cNvPr>
          <p:cNvSpPr txBox="1"/>
          <p:nvPr/>
        </p:nvSpPr>
        <p:spPr>
          <a:xfrm>
            <a:off x="1219200" y="2105025"/>
            <a:ext cx="15316200" cy="6032421"/>
          </a:xfrm>
          <a:prstGeom prst="rect">
            <a:avLst/>
          </a:prstGeom>
          <a:noFill/>
        </p:spPr>
        <p:txBody>
          <a:bodyPr wrap="square">
            <a:spAutoFit/>
          </a:bodyPr>
          <a:lstStyle/>
          <a:p>
            <a:pPr marL="285750" indent="-285750">
              <a:buFont typeface="Wingdings" panose="05000000000000000000" pitchFamily="2" charset="2"/>
              <a:buChar char="q"/>
            </a:pPr>
            <a:r>
              <a:rPr lang="en-US" sz="5400" dirty="0" err="1"/>
              <a:t>Agentforce</a:t>
            </a:r>
            <a:r>
              <a:rPr lang="en-US" sz="5400" dirty="0"/>
              <a:t> for Developers, an AI-powered tool available as a Visual Studio Code extension, provides a range of benefits designed to boost productivity and streamline the Salesforce development workflow</a:t>
            </a:r>
            <a:r>
              <a:rPr lang="en-US" sz="2000" dirty="0"/>
              <a:t>. </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4800" dirty="0"/>
              <a:t>Developers can leverage its AI capabilities to focus on complex problem-solving rather than repetitive tasks. </a:t>
            </a:r>
            <a:endParaRPr lang="en-US" sz="5400" dirty="0"/>
          </a:p>
        </p:txBody>
      </p:sp>
    </p:spTree>
    <p:extLst>
      <p:ext uri="{BB962C8B-B14F-4D97-AF65-F5344CB8AC3E}">
        <p14:creationId xmlns:p14="http://schemas.microsoft.com/office/powerpoint/2010/main" val="22457382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4AC509C9-6171-9A29-165E-4BDC48A1A00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DB328DE-EA1D-3B80-430E-7C8B07875163}"/>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60B41AC2-29FC-A005-B608-F19BCC94AFE1}"/>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a:solidFill>
                  <a:schemeClr val="bg1"/>
                </a:solidFill>
                <a:latin typeface="HK Modular" panose="020B0604020202020204" charset="0"/>
                <a:ea typeface="HK Modular"/>
                <a:cs typeface="HK Modular"/>
                <a:sym typeface="HK Modular"/>
              </a:rPr>
              <a:t>Enhanced productivity and efficiency</a:t>
            </a:r>
            <a:endParaRPr lang="en-US" sz="4000" dirty="0" err="1">
              <a:solidFill>
                <a:schemeClr val="bg1"/>
              </a:solidFill>
              <a:latin typeface="HK Modular" panose="020B0604020202020204" charset="0"/>
              <a:ea typeface="HK Modular"/>
              <a:cs typeface="HK Modular"/>
              <a:sym typeface="HK Modular"/>
            </a:endParaRPr>
          </a:p>
        </p:txBody>
      </p:sp>
      <p:sp>
        <p:nvSpPr>
          <p:cNvPr id="5" name="TextBox 4">
            <a:extLst>
              <a:ext uri="{FF2B5EF4-FFF2-40B4-BE49-F238E27FC236}">
                <a16:creationId xmlns:a16="http://schemas.microsoft.com/office/drawing/2014/main" id="{14F17EE8-D546-CE15-4686-F13FFE2EF2E1}"/>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C7D0915C-FFC7-33D2-01C2-5116D81B46DF}"/>
              </a:ext>
            </a:extLst>
          </p:cNvPr>
          <p:cNvSpPr txBox="1"/>
          <p:nvPr/>
        </p:nvSpPr>
        <p:spPr>
          <a:xfrm>
            <a:off x="1219200" y="2105025"/>
            <a:ext cx="15316200" cy="7294305"/>
          </a:xfrm>
          <a:prstGeom prst="rect">
            <a:avLst/>
          </a:prstGeom>
          <a:noFill/>
        </p:spPr>
        <p:txBody>
          <a:bodyPr wrap="square">
            <a:spAutoFit/>
          </a:bodyPr>
          <a:lstStyle/>
          <a:p>
            <a:pPr marL="571500" indent="-571500">
              <a:buFont typeface="Wingdings" panose="05000000000000000000" pitchFamily="2" charset="2"/>
              <a:buChar char="Ø"/>
            </a:pPr>
            <a:r>
              <a:rPr lang="en-US" sz="3600" b="1" dirty="0">
                <a:solidFill>
                  <a:schemeClr val="bg1"/>
                </a:solidFill>
              </a:rPr>
              <a:t>Generate code and tests</a:t>
            </a:r>
            <a:r>
              <a:rPr lang="en-US" sz="3600" b="1" dirty="0"/>
              <a:t>:</a:t>
            </a:r>
            <a:r>
              <a:rPr lang="en-US" sz="3600" dirty="0"/>
              <a:t> Developers can use natural language prompts to generate Apex code, test cases for Apex methods, and Lightning Web Component (LWC) components.</a:t>
            </a:r>
          </a:p>
          <a:p>
            <a:pPr marL="571500" indent="-571500">
              <a:buFont typeface="Wingdings" panose="05000000000000000000" pitchFamily="2" charset="2"/>
              <a:buChar char="Ø"/>
            </a:pPr>
            <a:r>
              <a:rPr lang="en-US" sz="3600" b="1" dirty="0">
                <a:solidFill>
                  <a:schemeClr val="bg1"/>
                </a:solidFill>
              </a:rPr>
              <a:t>Inline code completion:</a:t>
            </a:r>
            <a:r>
              <a:rPr lang="en-US" sz="3600" dirty="0">
                <a:solidFill>
                  <a:schemeClr val="bg1"/>
                </a:solidFill>
              </a:rPr>
              <a:t> </a:t>
            </a:r>
            <a:r>
              <a:rPr lang="en-US" sz="3600" dirty="0"/>
              <a:t>The tool offers AI-powered, inline code completion suggestions as you type for Apex and LWC files, reducing the need for manual typing and minimizing errors.</a:t>
            </a:r>
          </a:p>
          <a:p>
            <a:pPr marL="571500" indent="-571500">
              <a:buFont typeface="Wingdings" panose="05000000000000000000" pitchFamily="2" charset="2"/>
              <a:buChar char="Ø"/>
            </a:pPr>
            <a:r>
              <a:rPr lang="en-US" sz="3600" b="1" dirty="0">
                <a:solidFill>
                  <a:schemeClr val="bg1"/>
                </a:solidFill>
              </a:rPr>
              <a:t>Automated tasks:</a:t>
            </a:r>
            <a:r>
              <a:rPr lang="en-US" sz="3600" dirty="0">
                <a:solidFill>
                  <a:schemeClr val="bg1"/>
                </a:solidFill>
              </a:rPr>
              <a:t> </a:t>
            </a:r>
            <a:r>
              <a:rPr lang="en-US" sz="3600" dirty="0" err="1"/>
              <a:t>Agentforce's</a:t>
            </a:r>
            <a:r>
              <a:rPr lang="en-US" sz="3600" dirty="0"/>
              <a:t> "Dev Agent" can execute multi-step development tasks, such as analyzing unfamiliar code, improving documentation, and managing complex workflows through natural language commands.</a:t>
            </a:r>
          </a:p>
          <a:p>
            <a:pPr marL="571500" indent="-571500">
              <a:buFont typeface="Wingdings" panose="05000000000000000000" pitchFamily="2" charset="2"/>
              <a:buChar char="Ø"/>
            </a:pPr>
            <a:r>
              <a:rPr lang="en-US" sz="3600" b="1" dirty="0">
                <a:solidFill>
                  <a:schemeClr val="bg1"/>
                </a:solidFill>
              </a:rPr>
              <a:t>Reduced context switching:</a:t>
            </a:r>
            <a:r>
              <a:rPr lang="en-US" sz="3600" dirty="0">
                <a:solidFill>
                  <a:schemeClr val="bg1"/>
                </a:solidFill>
              </a:rPr>
              <a:t> </a:t>
            </a:r>
            <a:r>
              <a:rPr lang="en-US" sz="3600" dirty="0"/>
              <a:t>By integrating AI assistance directly into the VS Code environment, developers can execute complex commands without switching between different tools and interfaces. </a:t>
            </a:r>
          </a:p>
        </p:txBody>
      </p:sp>
    </p:spTree>
    <p:extLst>
      <p:ext uri="{BB962C8B-B14F-4D97-AF65-F5344CB8AC3E}">
        <p14:creationId xmlns:p14="http://schemas.microsoft.com/office/powerpoint/2010/main" val="21288637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5725FD30-14CC-A401-1BEC-61C71DFB0A8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9E6837C-EA9F-3D76-05CE-0D04EB7A4A42}"/>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FAAF95B9-C81D-E8F0-B496-5E5417A3862E}"/>
              </a:ext>
            </a:extLst>
          </p:cNvPr>
          <p:cNvSpPr txBox="1"/>
          <p:nvPr/>
        </p:nvSpPr>
        <p:spPr>
          <a:xfrm>
            <a:off x="830179" y="450828"/>
            <a:ext cx="17449800" cy="1900520"/>
          </a:xfrm>
          <a:prstGeom prst="rect">
            <a:avLst/>
          </a:prstGeom>
          <a:noFill/>
        </p:spPr>
        <p:txBody>
          <a:bodyPr wrap="square" rtlCol="0">
            <a:spAutoFit/>
          </a:bodyPr>
          <a:lstStyle/>
          <a:p>
            <a:pPr>
              <a:lnSpc>
                <a:spcPts val="7600"/>
              </a:lnSpc>
            </a:pPr>
            <a:r>
              <a:rPr lang="en-US" sz="4000" dirty="0">
                <a:solidFill>
                  <a:schemeClr val="bg1"/>
                </a:solidFill>
                <a:latin typeface="HK Modular" panose="020B0604020202020204" charset="0"/>
                <a:ea typeface="HK Modular"/>
                <a:cs typeface="HK Modular"/>
                <a:sym typeface="HK Modular"/>
              </a:rPr>
              <a:t>Improved code quality and consistency</a:t>
            </a:r>
          </a:p>
          <a:p>
            <a:pPr>
              <a:lnSpc>
                <a:spcPts val="7600"/>
              </a:lnSpc>
            </a:pPr>
            <a:r>
              <a:rPr lang="en-US" sz="4000" dirty="0">
                <a:solidFill>
                  <a:schemeClr val="bg1"/>
                </a:solidFill>
                <a:latin typeface="HK Modular" panose="020B0604020202020204" charset="0"/>
                <a:ea typeface="HK Modular"/>
                <a:cs typeface="HK Modular"/>
                <a:sym typeface="HK Modular"/>
              </a:rPr>
              <a:t>  </a:t>
            </a:r>
          </a:p>
        </p:txBody>
      </p:sp>
      <p:sp>
        <p:nvSpPr>
          <p:cNvPr id="5" name="TextBox 4">
            <a:extLst>
              <a:ext uri="{FF2B5EF4-FFF2-40B4-BE49-F238E27FC236}">
                <a16:creationId xmlns:a16="http://schemas.microsoft.com/office/drawing/2014/main" id="{E247300D-FF57-AFDB-33FA-B47613853092}"/>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1D166F64-6093-98AE-8D72-7764333D341D}"/>
              </a:ext>
            </a:extLst>
          </p:cNvPr>
          <p:cNvSpPr txBox="1"/>
          <p:nvPr/>
        </p:nvSpPr>
        <p:spPr>
          <a:xfrm>
            <a:off x="1219200" y="2105025"/>
            <a:ext cx="15316200" cy="6186309"/>
          </a:xfrm>
          <a:prstGeom prst="rect">
            <a:avLst/>
          </a:prstGeom>
          <a:noFill/>
        </p:spPr>
        <p:txBody>
          <a:bodyPr wrap="square">
            <a:spAutoFit/>
          </a:bodyPr>
          <a:lstStyle/>
          <a:p>
            <a:pPr marL="571500" indent="-571500">
              <a:buFont typeface="Wingdings" panose="05000000000000000000" pitchFamily="2" charset="2"/>
              <a:buChar char="Ø"/>
            </a:pPr>
            <a:r>
              <a:rPr lang="en-US" sz="4400" b="1" dirty="0">
                <a:solidFill>
                  <a:schemeClr val="bg1"/>
                </a:solidFill>
              </a:rPr>
              <a:t>Enforce best practices</a:t>
            </a:r>
            <a:r>
              <a:rPr lang="en-US" sz="4400" b="1" dirty="0"/>
              <a:t>:</a:t>
            </a:r>
            <a:r>
              <a:rPr lang="en-US" sz="4400" dirty="0"/>
              <a:t> The tool helps enforce development standards by generating boilerplate code and supporting static analysis and security scanning tools.</a:t>
            </a:r>
          </a:p>
          <a:p>
            <a:pPr marL="571500" indent="-571500">
              <a:buFont typeface="Wingdings" panose="05000000000000000000" pitchFamily="2" charset="2"/>
              <a:buChar char="Ø"/>
            </a:pPr>
            <a:r>
              <a:rPr lang="en-US" sz="4400" b="1" dirty="0">
                <a:solidFill>
                  <a:schemeClr val="bg1"/>
                </a:solidFill>
              </a:rPr>
              <a:t>Standardized development:</a:t>
            </a:r>
            <a:r>
              <a:rPr lang="en-US" sz="4400" dirty="0">
                <a:solidFill>
                  <a:schemeClr val="bg1"/>
                </a:solidFill>
              </a:rPr>
              <a:t> </a:t>
            </a:r>
            <a:r>
              <a:rPr lang="en-US" sz="4400" dirty="0"/>
              <a:t>Developers can create and enforce consistent coding standards and project-specific preferences across their teams using "Dev Agent Rules".</a:t>
            </a:r>
          </a:p>
          <a:p>
            <a:pPr marL="571500" indent="-571500">
              <a:buFont typeface="Wingdings" panose="05000000000000000000" pitchFamily="2" charset="2"/>
              <a:buChar char="Ø"/>
            </a:pPr>
            <a:r>
              <a:rPr lang="en-US" sz="4400" b="1" dirty="0">
                <a:solidFill>
                  <a:schemeClr val="bg1"/>
                </a:solidFill>
              </a:rPr>
              <a:t>Enhanced understanding:</a:t>
            </a:r>
            <a:r>
              <a:rPr lang="en-US" sz="4400" dirty="0">
                <a:solidFill>
                  <a:schemeClr val="bg1"/>
                </a:solidFill>
              </a:rPr>
              <a:t> </a:t>
            </a:r>
            <a:r>
              <a:rPr lang="en-US" sz="4400" dirty="0"/>
              <a:t>Dev Agent can help developers quickly understand existing or unfamiliar code by providing explanations and concise summaries. </a:t>
            </a:r>
          </a:p>
        </p:txBody>
      </p:sp>
    </p:spTree>
    <p:extLst>
      <p:ext uri="{BB962C8B-B14F-4D97-AF65-F5344CB8AC3E}">
        <p14:creationId xmlns:p14="http://schemas.microsoft.com/office/powerpoint/2010/main" val="38843522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A0F8F215-B352-4798-11F6-2962B142A9A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FC129EA-0768-901C-0E52-A06DA100CC69}"/>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FC9BF300-A3CE-55F3-2C2C-7D45833ADB02}"/>
              </a:ext>
            </a:extLst>
          </p:cNvPr>
          <p:cNvSpPr txBox="1"/>
          <p:nvPr/>
        </p:nvSpPr>
        <p:spPr>
          <a:xfrm>
            <a:off x="830179" y="450828"/>
            <a:ext cx="17449800" cy="925894"/>
          </a:xfrm>
          <a:prstGeom prst="rect">
            <a:avLst/>
          </a:prstGeom>
          <a:noFill/>
        </p:spPr>
        <p:txBody>
          <a:bodyPr wrap="square" rtlCol="0">
            <a:spAutoFit/>
          </a:bodyPr>
          <a:lstStyle/>
          <a:p>
            <a:pPr>
              <a:lnSpc>
                <a:spcPts val="7600"/>
              </a:lnSpc>
            </a:pPr>
            <a:r>
              <a:rPr lang="en-US" sz="4000">
                <a:solidFill>
                  <a:schemeClr val="bg1"/>
                </a:solidFill>
                <a:latin typeface="HK Modular" panose="020B0604020202020204" charset="0"/>
                <a:ea typeface="HK Modular"/>
                <a:cs typeface="HK Modular"/>
                <a:sym typeface="HK Modular"/>
              </a:rPr>
              <a:t>Secure and integrated development</a:t>
            </a:r>
            <a:endParaRPr lang="en-US" sz="4000" dirty="0">
              <a:solidFill>
                <a:schemeClr val="bg1"/>
              </a:solidFill>
              <a:latin typeface="HK Modular" panose="020B0604020202020204" charset="0"/>
              <a:ea typeface="HK Modular"/>
              <a:cs typeface="HK Modular"/>
              <a:sym typeface="HK Modular"/>
            </a:endParaRPr>
          </a:p>
        </p:txBody>
      </p:sp>
      <p:sp>
        <p:nvSpPr>
          <p:cNvPr id="5" name="TextBox 4">
            <a:extLst>
              <a:ext uri="{FF2B5EF4-FFF2-40B4-BE49-F238E27FC236}">
                <a16:creationId xmlns:a16="http://schemas.microsoft.com/office/drawing/2014/main" id="{D61D0CBF-3B5B-2280-3F7A-955D6711DC58}"/>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46792266-FFF1-CD2B-2B2A-457459D442DF}"/>
              </a:ext>
            </a:extLst>
          </p:cNvPr>
          <p:cNvSpPr txBox="1"/>
          <p:nvPr/>
        </p:nvSpPr>
        <p:spPr>
          <a:xfrm>
            <a:off x="1219200" y="2105025"/>
            <a:ext cx="15316200" cy="6186309"/>
          </a:xfrm>
          <a:prstGeom prst="rect">
            <a:avLst/>
          </a:prstGeom>
          <a:noFill/>
        </p:spPr>
        <p:txBody>
          <a:bodyPr wrap="square">
            <a:spAutoFit/>
          </a:bodyPr>
          <a:lstStyle/>
          <a:p>
            <a:pPr marL="571500" indent="-571500">
              <a:buFont typeface="Wingdings" panose="05000000000000000000" pitchFamily="2" charset="2"/>
              <a:buChar char="Ø"/>
            </a:pPr>
            <a:r>
              <a:rPr lang="en-US" sz="4400" b="1" dirty="0">
                <a:solidFill>
                  <a:schemeClr val="bg1"/>
                </a:solidFill>
              </a:rPr>
              <a:t>Built on a trusted platform:</a:t>
            </a:r>
            <a:r>
              <a:rPr lang="en-US" sz="4400" dirty="0">
                <a:solidFill>
                  <a:schemeClr val="bg1"/>
                </a:solidFill>
              </a:rPr>
              <a:t> </a:t>
            </a:r>
            <a:r>
              <a:rPr lang="en-US" sz="4400" dirty="0" err="1"/>
              <a:t>Agentforce</a:t>
            </a:r>
            <a:r>
              <a:rPr lang="en-US" sz="4400" dirty="0"/>
              <a:t> is built on the secure Salesforce Platform, respecting your existing security policies and using a Trust Layer to protect sensitive data.</a:t>
            </a:r>
          </a:p>
          <a:p>
            <a:pPr marL="571500" indent="-571500">
              <a:buFont typeface="Wingdings" panose="05000000000000000000" pitchFamily="2" charset="2"/>
              <a:buChar char="Ø"/>
            </a:pPr>
            <a:r>
              <a:rPr lang="en-US" sz="4400" b="1" dirty="0">
                <a:solidFill>
                  <a:schemeClr val="bg1"/>
                </a:solidFill>
              </a:rPr>
              <a:t>Seamless integration:</a:t>
            </a:r>
            <a:r>
              <a:rPr lang="en-US" sz="4400" dirty="0">
                <a:solidFill>
                  <a:schemeClr val="bg1"/>
                </a:solidFill>
              </a:rPr>
              <a:t> </a:t>
            </a:r>
            <a:r>
              <a:rPr lang="en-US" sz="4400" dirty="0"/>
              <a:t>It connects directly with your existing Salesforce org, Salesforce DX CLI, and DevOps workflows, allowing for seamless deployment and metadata operations.</a:t>
            </a:r>
          </a:p>
          <a:p>
            <a:pPr marL="571500" indent="-571500">
              <a:buFont typeface="Wingdings" panose="05000000000000000000" pitchFamily="2" charset="2"/>
              <a:buChar char="Ø"/>
            </a:pPr>
            <a:r>
              <a:rPr lang="en-US" sz="4400" b="1" dirty="0">
                <a:solidFill>
                  <a:schemeClr val="bg1"/>
                </a:solidFill>
              </a:rPr>
              <a:t>External system connectivity:</a:t>
            </a:r>
            <a:r>
              <a:rPr lang="en-US" sz="4400" dirty="0">
                <a:solidFill>
                  <a:schemeClr val="bg1"/>
                </a:solidFill>
              </a:rPr>
              <a:t> </a:t>
            </a:r>
            <a:r>
              <a:rPr lang="en-US" sz="4400" dirty="0"/>
              <a:t>Through the Model Content Protocol (MCP), </a:t>
            </a:r>
            <a:r>
              <a:rPr lang="en-US" sz="4400" dirty="0" err="1"/>
              <a:t>Agentforce</a:t>
            </a:r>
            <a:r>
              <a:rPr lang="en-US" sz="4400" dirty="0"/>
              <a:t> can securely connect to external systems and data sources, extending its capabilities. </a:t>
            </a:r>
          </a:p>
        </p:txBody>
      </p:sp>
    </p:spTree>
    <p:extLst>
      <p:ext uri="{BB962C8B-B14F-4D97-AF65-F5344CB8AC3E}">
        <p14:creationId xmlns:p14="http://schemas.microsoft.com/office/powerpoint/2010/main" val="6218506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D42391BB-29F2-4B4B-D2B8-4116E1A6824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8EB505D-5927-909C-9955-57BD86B68D56}"/>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EA0DA6B8-6369-0553-4962-F98A80F9457C}"/>
              </a:ext>
            </a:extLst>
          </p:cNvPr>
          <p:cNvSpPr txBox="1"/>
          <p:nvPr/>
        </p:nvSpPr>
        <p:spPr>
          <a:xfrm>
            <a:off x="830179" y="450828"/>
            <a:ext cx="17449800" cy="1900520"/>
          </a:xfrm>
          <a:prstGeom prst="rect">
            <a:avLst/>
          </a:prstGeom>
          <a:noFill/>
        </p:spPr>
        <p:txBody>
          <a:bodyPr wrap="square" rtlCol="0">
            <a:spAutoFit/>
          </a:bodyPr>
          <a:lstStyle/>
          <a:p>
            <a:pPr>
              <a:lnSpc>
                <a:spcPts val="7600"/>
              </a:lnSpc>
            </a:pPr>
            <a:r>
              <a:rPr lang="en-US" sz="4000" b="1" dirty="0">
                <a:solidFill>
                  <a:schemeClr val="bg1"/>
                </a:solidFill>
                <a:latin typeface="HK Modular" panose="020B0604020202020204" charset="0"/>
              </a:rPr>
              <a:t>⚙️ Business Scenario</a:t>
            </a:r>
          </a:p>
          <a:p>
            <a:pPr>
              <a:lnSpc>
                <a:spcPts val="7600"/>
              </a:lnSpc>
            </a:pPr>
            <a:endParaRPr lang="en-US" sz="4000" dirty="0">
              <a:solidFill>
                <a:schemeClr val="bg1"/>
              </a:solidFill>
              <a:latin typeface="HK Modular" panose="020B0604020202020204" charset="0"/>
              <a:ea typeface="HK Modular"/>
              <a:cs typeface="HK Modular"/>
              <a:sym typeface="HK Modular"/>
            </a:endParaRPr>
          </a:p>
        </p:txBody>
      </p:sp>
      <p:sp>
        <p:nvSpPr>
          <p:cNvPr id="5" name="TextBox 4">
            <a:extLst>
              <a:ext uri="{FF2B5EF4-FFF2-40B4-BE49-F238E27FC236}">
                <a16:creationId xmlns:a16="http://schemas.microsoft.com/office/drawing/2014/main" id="{099FD4EE-7403-747D-520D-6564DEF09AE2}"/>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7EF865B7-4157-7275-0ACF-5A81E40417A0}"/>
              </a:ext>
            </a:extLst>
          </p:cNvPr>
          <p:cNvSpPr txBox="1"/>
          <p:nvPr/>
        </p:nvSpPr>
        <p:spPr>
          <a:xfrm>
            <a:off x="1219200" y="1439188"/>
            <a:ext cx="16383000" cy="8217634"/>
          </a:xfrm>
          <a:prstGeom prst="rect">
            <a:avLst/>
          </a:prstGeom>
          <a:noFill/>
        </p:spPr>
        <p:txBody>
          <a:bodyPr wrap="square">
            <a:spAutoFit/>
          </a:bodyPr>
          <a:lstStyle/>
          <a:p>
            <a:r>
              <a:rPr lang="en-US" sz="4800" dirty="0"/>
              <a:t>Your fictional company, </a:t>
            </a:r>
            <a:r>
              <a:rPr lang="en-US" sz="4800" b="1" dirty="0" err="1"/>
              <a:t>BoostForce</a:t>
            </a:r>
            <a:r>
              <a:rPr lang="en-US" sz="4800" dirty="0"/>
              <a:t>, wants to help their sales teams </a:t>
            </a:r>
            <a:r>
              <a:rPr lang="en-US" sz="4800" b="1" dirty="0"/>
              <a:t>focus on deals that are most likely to close</a:t>
            </a:r>
            <a:r>
              <a:rPr lang="en-US" sz="4800" dirty="0"/>
              <a:t>.</a:t>
            </a:r>
            <a:br>
              <a:rPr lang="en-US" sz="4800" dirty="0"/>
            </a:br>
            <a:r>
              <a:rPr lang="en-US" sz="4800" dirty="0"/>
              <a:t>You’ll build an AI-assisted “Sales Productivity Booster” feature with these components:</a:t>
            </a:r>
          </a:p>
          <a:p>
            <a:pPr marL="685800" indent="-685800">
              <a:buFont typeface="Wingdings" panose="05000000000000000000" pitchFamily="2" charset="2"/>
              <a:buChar char="Ø"/>
            </a:pPr>
            <a:r>
              <a:rPr lang="en-US" sz="4800" dirty="0"/>
              <a:t>An </a:t>
            </a:r>
            <a:r>
              <a:rPr lang="en-US" sz="4800" b="1" dirty="0"/>
              <a:t>Apex service</a:t>
            </a:r>
            <a:r>
              <a:rPr lang="en-US" sz="4800" dirty="0"/>
              <a:t> that calculates a </a:t>
            </a:r>
            <a:r>
              <a:rPr lang="en-US" sz="4800" b="1" dirty="0"/>
              <a:t>Priority Score</a:t>
            </a:r>
            <a:r>
              <a:rPr lang="en-US" sz="4800" dirty="0"/>
              <a:t> for each Opportunity</a:t>
            </a:r>
          </a:p>
          <a:p>
            <a:pPr marL="685800" indent="-685800">
              <a:buFont typeface="Wingdings" panose="05000000000000000000" pitchFamily="2" charset="2"/>
              <a:buChar char="Ø"/>
            </a:pPr>
            <a:r>
              <a:rPr lang="en-US" sz="4800" dirty="0"/>
              <a:t>An </a:t>
            </a:r>
            <a:r>
              <a:rPr lang="en-US" sz="4800" b="1" dirty="0"/>
              <a:t>Apex trigger</a:t>
            </a:r>
            <a:r>
              <a:rPr lang="en-US" sz="4800" dirty="0"/>
              <a:t> that updates the score automatically when key fields change</a:t>
            </a:r>
          </a:p>
          <a:p>
            <a:pPr marL="685800" indent="-685800">
              <a:buFont typeface="Wingdings" panose="05000000000000000000" pitchFamily="2" charset="2"/>
              <a:buChar char="Ø"/>
            </a:pPr>
            <a:r>
              <a:rPr lang="en-US" sz="4800" dirty="0"/>
              <a:t>A </a:t>
            </a:r>
            <a:r>
              <a:rPr lang="en-US" sz="4800" b="1" dirty="0"/>
              <a:t>LWC dashboard</a:t>
            </a:r>
            <a:r>
              <a:rPr lang="en-US" sz="4800" dirty="0"/>
              <a:t> to display high-priority deals</a:t>
            </a:r>
          </a:p>
          <a:p>
            <a:pPr marL="685800" indent="-685800">
              <a:buFont typeface="Wingdings" panose="05000000000000000000" pitchFamily="2" charset="2"/>
              <a:buChar char="Ø"/>
            </a:pPr>
            <a:r>
              <a:rPr lang="en-US" sz="4800" b="1" dirty="0"/>
              <a:t>SOQL queries</a:t>
            </a:r>
            <a:r>
              <a:rPr lang="en-US" sz="4800" dirty="0"/>
              <a:t>, </a:t>
            </a:r>
            <a:r>
              <a:rPr lang="en-US" sz="4800" b="1" dirty="0"/>
              <a:t>unit tests</a:t>
            </a:r>
            <a:r>
              <a:rPr lang="en-US" sz="4800" dirty="0"/>
              <a:t>, and </a:t>
            </a:r>
            <a:r>
              <a:rPr lang="en-US" sz="4800" b="1" dirty="0"/>
              <a:t>documentation</a:t>
            </a:r>
            <a:r>
              <a:rPr lang="en-US" sz="4800" dirty="0"/>
              <a:t> — all generated and refined using </a:t>
            </a:r>
            <a:r>
              <a:rPr lang="en-US" sz="4800" dirty="0" err="1"/>
              <a:t>Agentforce</a:t>
            </a:r>
            <a:r>
              <a:rPr lang="en-US" sz="4800" dirty="0"/>
              <a:t>.</a:t>
            </a:r>
          </a:p>
        </p:txBody>
      </p:sp>
    </p:spTree>
    <p:extLst>
      <p:ext uri="{BB962C8B-B14F-4D97-AF65-F5344CB8AC3E}">
        <p14:creationId xmlns:p14="http://schemas.microsoft.com/office/powerpoint/2010/main" val="1586717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4C6E0F09-2B24-18B1-DF7E-00ED6701007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A9A4519-4461-376B-F3F3-5960CDD24B0C}"/>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315B8FF7-5C55-E352-75DB-6D4BBE2D43FA}"/>
              </a:ext>
            </a:extLst>
          </p:cNvPr>
          <p:cNvSpPr txBox="1"/>
          <p:nvPr/>
        </p:nvSpPr>
        <p:spPr>
          <a:xfrm>
            <a:off x="830179" y="450828"/>
            <a:ext cx="17449800" cy="936988"/>
          </a:xfrm>
          <a:prstGeom prst="rect">
            <a:avLst/>
          </a:prstGeom>
          <a:noFill/>
        </p:spPr>
        <p:txBody>
          <a:bodyPr wrap="square" rtlCol="0">
            <a:spAutoFit/>
          </a:bodyPr>
          <a:lstStyle/>
          <a:p>
            <a:pPr>
              <a:lnSpc>
                <a:spcPts val="7600"/>
              </a:lnSpc>
            </a:pPr>
            <a:r>
              <a:rPr lang="en-US" sz="4000" b="1" dirty="0">
                <a:solidFill>
                  <a:schemeClr val="bg1"/>
                </a:solidFill>
                <a:latin typeface="HK Modular" panose="020B0604020202020204" charset="0"/>
              </a:rPr>
              <a:t>⚙️ </a:t>
            </a:r>
            <a:r>
              <a:rPr lang="en-US" sz="4000" b="1" dirty="0">
                <a:solidFill>
                  <a:schemeClr val="bg1"/>
                </a:solidFill>
                <a:latin typeface="HK Modular" panose="020B0604020202020204" charset="0"/>
                <a:sym typeface="HK Modular"/>
              </a:rPr>
              <a:t>Create Custom Fields</a:t>
            </a:r>
            <a:endParaRPr lang="en-US" sz="4000" b="1" dirty="0">
              <a:solidFill>
                <a:schemeClr val="bg1"/>
              </a:solidFill>
              <a:latin typeface="HK Modular" panose="020B0604020202020204" charset="0"/>
            </a:endParaRPr>
          </a:p>
        </p:txBody>
      </p:sp>
      <p:sp>
        <p:nvSpPr>
          <p:cNvPr id="5" name="TextBox 4">
            <a:extLst>
              <a:ext uri="{FF2B5EF4-FFF2-40B4-BE49-F238E27FC236}">
                <a16:creationId xmlns:a16="http://schemas.microsoft.com/office/drawing/2014/main" id="{297A00A9-70EE-1F5C-D80D-D90FCED7E12B}"/>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graphicFrame>
        <p:nvGraphicFramePr>
          <p:cNvPr id="3" name="Table 2">
            <a:extLst>
              <a:ext uri="{FF2B5EF4-FFF2-40B4-BE49-F238E27FC236}">
                <a16:creationId xmlns:a16="http://schemas.microsoft.com/office/drawing/2014/main" id="{D034AF1E-4E7C-3F23-C062-1BB9F3EFA445}"/>
              </a:ext>
            </a:extLst>
          </p:cNvPr>
          <p:cNvGraphicFramePr>
            <a:graphicFrameLocks noGrp="1"/>
          </p:cNvGraphicFramePr>
          <p:nvPr>
            <p:extLst>
              <p:ext uri="{D42A27DB-BD31-4B8C-83A1-F6EECF244321}">
                <p14:modId xmlns:p14="http://schemas.microsoft.com/office/powerpoint/2010/main" val="3450472001"/>
              </p:ext>
            </p:extLst>
          </p:nvPr>
        </p:nvGraphicFramePr>
        <p:xfrm>
          <a:off x="457200" y="2537300"/>
          <a:ext cx="14325600" cy="3494825"/>
        </p:xfrm>
        <a:graphic>
          <a:graphicData uri="http://schemas.openxmlformats.org/drawingml/2006/table">
            <a:tbl>
              <a:tblPr/>
              <a:tblGrid>
                <a:gridCol w="3581400">
                  <a:extLst>
                    <a:ext uri="{9D8B030D-6E8A-4147-A177-3AD203B41FA5}">
                      <a16:colId xmlns:a16="http://schemas.microsoft.com/office/drawing/2014/main" val="41314798"/>
                    </a:ext>
                  </a:extLst>
                </a:gridCol>
                <a:gridCol w="3581400">
                  <a:extLst>
                    <a:ext uri="{9D8B030D-6E8A-4147-A177-3AD203B41FA5}">
                      <a16:colId xmlns:a16="http://schemas.microsoft.com/office/drawing/2014/main" val="729922776"/>
                    </a:ext>
                  </a:extLst>
                </a:gridCol>
                <a:gridCol w="3581400">
                  <a:extLst>
                    <a:ext uri="{9D8B030D-6E8A-4147-A177-3AD203B41FA5}">
                      <a16:colId xmlns:a16="http://schemas.microsoft.com/office/drawing/2014/main" val="2853613575"/>
                    </a:ext>
                  </a:extLst>
                </a:gridCol>
                <a:gridCol w="3581400">
                  <a:extLst>
                    <a:ext uri="{9D8B030D-6E8A-4147-A177-3AD203B41FA5}">
                      <a16:colId xmlns:a16="http://schemas.microsoft.com/office/drawing/2014/main" val="2831177990"/>
                    </a:ext>
                  </a:extLst>
                </a:gridCol>
              </a:tblGrid>
              <a:tr h="559172">
                <a:tc>
                  <a:txBody>
                    <a:bodyPr/>
                    <a:lstStyle/>
                    <a:p>
                      <a:pPr>
                        <a:buNone/>
                      </a:pPr>
                      <a:r>
                        <a:rPr lang="en-US" sz="2800" dirty="0">
                          <a:solidFill>
                            <a:schemeClr val="bg1"/>
                          </a:solidFill>
                        </a:rPr>
                        <a:t>Object</a:t>
                      </a:r>
                    </a:p>
                  </a:txBody>
                  <a:tcPr anchor="ctr">
                    <a:lnL>
                      <a:noFill/>
                    </a:lnL>
                    <a:lnR>
                      <a:noFill/>
                    </a:lnR>
                    <a:lnT>
                      <a:noFill/>
                    </a:lnT>
                    <a:lnB>
                      <a:noFill/>
                    </a:lnB>
                    <a:noFill/>
                  </a:tcPr>
                </a:tc>
                <a:tc>
                  <a:txBody>
                    <a:bodyPr/>
                    <a:lstStyle/>
                    <a:p>
                      <a:pPr>
                        <a:buNone/>
                      </a:pPr>
                      <a:r>
                        <a:rPr lang="en-US" sz="2800">
                          <a:solidFill>
                            <a:schemeClr val="bg1"/>
                          </a:solidFill>
                        </a:rPr>
                        <a:t>Field</a:t>
                      </a:r>
                    </a:p>
                  </a:txBody>
                  <a:tcPr anchor="ctr">
                    <a:lnL>
                      <a:noFill/>
                    </a:lnL>
                    <a:lnR>
                      <a:noFill/>
                    </a:lnR>
                    <a:lnT>
                      <a:noFill/>
                    </a:lnT>
                    <a:lnB>
                      <a:noFill/>
                    </a:lnB>
                    <a:noFill/>
                  </a:tcPr>
                </a:tc>
                <a:tc>
                  <a:txBody>
                    <a:bodyPr/>
                    <a:lstStyle/>
                    <a:p>
                      <a:pPr>
                        <a:buNone/>
                      </a:pPr>
                      <a:r>
                        <a:rPr lang="en-US" sz="2800">
                          <a:solidFill>
                            <a:schemeClr val="bg1"/>
                          </a:solidFill>
                        </a:rPr>
                        <a:t>Type</a:t>
                      </a:r>
                    </a:p>
                  </a:txBody>
                  <a:tcPr anchor="ctr">
                    <a:lnL>
                      <a:noFill/>
                    </a:lnL>
                    <a:lnR>
                      <a:noFill/>
                    </a:lnR>
                    <a:lnT>
                      <a:noFill/>
                    </a:lnT>
                    <a:lnB>
                      <a:noFill/>
                    </a:lnB>
                    <a:noFill/>
                  </a:tcPr>
                </a:tc>
                <a:tc>
                  <a:txBody>
                    <a:bodyPr/>
                    <a:lstStyle/>
                    <a:p>
                      <a:pPr>
                        <a:buNone/>
                      </a:pPr>
                      <a:r>
                        <a:rPr lang="en-US" sz="2800" dirty="0">
                          <a:solidFill>
                            <a:schemeClr val="bg1"/>
                          </a:solidFill>
                        </a:rPr>
                        <a:t>Description</a:t>
                      </a:r>
                    </a:p>
                  </a:txBody>
                  <a:tcPr anchor="ctr">
                    <a:lnL>
                      <a:noFill/>
                    </a:lnL>
                    <a:lnR>
                      <a:noFill/>
                    </a:lnR>
                    <a:lnT>
                      <a:noFill/>
                    </a:lnT>
                    <a:lnB>
                      <a:noFill/>
                    </a:lnB>
                    <a:noFill/>
                  </a:tcPr>
                </a:tc>
                <a:extLst>
                  <a:ext uri="{0D108BD9-81ED-4DB2-BD59-A6C34878D82A}">
                    <a16:rowId xmlns:a16="http://schemas.microsoft.com/office/drawing/2014/main" val="2414852544"/>
                  </a:ext>
                </a:extLst>
              </a:tr>
              <a:tr h="978551">
                <a:tc>
                  <a:txBody>
                    <a:bodyPr/>
                    <a:lstStyle/>
                    <a:p>
                      <a:pPr>
                        <a:buNone/>
                      </a:pPr>
                      <a:r>
                        <a:rPr lang="en-US" sz="2800" dirty="0">
                          <a:solidFill>
                            <a:schemeClr val="bg1"/>
                          </a:solidFill>
                        </a:rPr>
                        <a:t>Opportunity</a:t>
                      </a:r>
                    </a:p>
                  </a:txBody>
                  <a:tcPr anchor="ctr">
                    <a:lnL>
                      <a:noFill/>
                    </a:lnL>
                    <a:lnR>
                      <a:noFill/>
                    </a:lnR>
                    <a:lnT>
                      <a:noFill/>
                    </a:lnT>
                    <a:lnB>
                      <a:noFill/>
                    </a:lnB>
                    <a:noFill/>
                  </a:tcPr>
                </a:tc>
                <a:tc>
                  <a:txBody>
                    <a:bodyPr/>
                    <a:lstStyle/>
                    <a:p>
                      <a:pPr>
                        <a:buNone/>
                      </a:pPr>
                      <a:r>
                        <a:rPr lang="en-US" sz="2800" dirty="0" err="1">
                          <a:solidFill>
                            <a:schemeClr val="bg1"/>
                          </a:solidFill>
                        </a:rPr>
                        <a:t>Priority_Score__c</a:t>
                      </a:r>
                      <a:endParaRPr lang="en-US" sz="2800" dirty="0">
                        <a:solidFill>
                          <a:schemeClr val="bg1"/>
                        </a:solidFill>
                      </a:endParaRPr>
                    </a:p>
                  </a:txBody>
                  <a:tcPr anchor="ctr">
                    <a:lnL>
                      <a:noFill/>
                    </a:lnL>
                    <a:lnR>
                      <a:noFill/>
                    </a:lnR>
                    <a:lnT>
                      <a:noFill/>
                    </a:lnT>
                    <a:lnB>
                      <a:noFill/>
                    </a:lnB>
                    <a:noFill/>
                  </a:tcPr>
                </a:tc>
                <a:tc>
                  <a:txBody>
                    <a:bodyPr/>
                    <a:lstStyle/>
                    <a:p>
                      <a:pPr>
                        <a:buNone/>
                      </a:pPr>
                      <a:r>
                        <a:rPr lang="en-US" sz="2800" dirty="0">
                          <a:solidFill>
                            <a:schemeClr val="bg1"/>
                          </a:solidFill>
                        </a:rPr>
                        <a:t>Number(3,0)</a:t>
                      </a:r>
                    </a:p>
                  </a:txBody>
                  <a:tcPr anchor="ctr">
                    <a:lnL>
                      <a:noFill/>
                    </a:lnL>
                    <a:lnR>
                      <a:noFill/>
                    </a:lnR>
                    <a:lnT>
                      <a:noFill/>
                    </a:lnT>
                    <a:lnB>
                      <a:noFill/>
                    </a:lnB>
                    <a:noFill/>
                  </a:tcPr>
                </a:tc>
                <a:tc>
                  <a:txBody>
                    <a:bodyPr/>
                    <a:lstStyle/>
                    <a:p>
                      <a:pPr>
                        <a:buNone/>
                      </a:pPr>
                      <a:r>
                        <a:rPr lang="en-US" sz="2800" dirty="0">
                          <a:solidFill>
                            <a:schemeClr val="bg1"/>
                          </a:solidFill>
                        </a:rPr>
                        <a:t>AI-calculated score (0–100)</a:t>
                      </a:r>
                    </a:p>
                  </a:txBody>
                  <a:tcPr anchor="ctr">
                    <a:lnL>
                      <a:noFill/>
                    </a:lnL>
                    <a:lnR>
                      <a:noFill/>
                    </a:lnR>
                    <a:lnT>
                      <a:noFill/>
                    </a:lnT>
                    <a:lnB>
                      <a:noFill/>
                    </a:lnB>
                    <a:noFill/>
                  </a:tcPr>
                </a:tc>
                <a:extLst>
                  <a:ext uri="{0D108BD9-81ED-4DB2-BD59-A6C34878D82A}">
                    <a16:rowId xmlns:a16="http://schemas.microsoft.com/office/drawing/2014/main" val="196871288"/>
                  </a:ext>
                </a:extLst>
              </a:tr>
              <a:tr h="978551">
                <a:tc>
                  <a:txBody>
                    <a:bodyPr/>
                    <a:lstStyle/>
                    <a:p>
                      <a:pPr>
                        <a:buNone/>
                      </a:pPr>
                      <a:r>
                        <a:rPr lang="en-US" sz="2800" dirty="0">
                          <a:solidFill>
                            <a:schemeClr val="bg1"/>
                          </a:solidFill>
                        </a:rPr>
                        <a:t>Opportunity</a:t>
                      </a:r>
                    </a:p>
                  </a:txBody>
                  <a:tcPr anchor="ctr">
                    <a:lnL>
                      <a:noFill/>
                    </a:lnL>
                    <a:lnR>
                      <a:noFill/>
                    </a:lnR>
                    <a:lnT>
                      <a:noFill/>
                    </a:lnT>
                    <a:lnB>
                      <a:noFill/>
                    </a:lnB>
                    <a:noFill/>
                  </a:tcPr>
                </a:tc>
                <a:tc>
                  <a:txBody>
                    <a:bodyPr/>
                    <a:lstStyle/>
                    <a:p>
                      <a:pPr>
                        <a:buNone/>
                      </a:pPr>
                      <a:r>
                        <a:rPr lang="en-US" sz="2800" dirty="0" err="1">
                          <a:solidFill>
                            <a:schemeClr val="bg1"/>
                          </a:solidFill>
                        </a:rPr>
                        <a:t>Confidence__c</a:t>
                      </a:r>
                      <a:endParaRPr lang="en-US" sz="2800" dirty="0">
                        <a:solidFill>
                          <a:schemeClr val="bg1"/>
                        </a:solidFill>
                      </a:endParaRPr>
                    </a:p>
                  </a:txBody>
                  <a:tcPr anchor="ctr">
                    <a:lnL>
                      <a:noFill/>
                    </a:lnL>
                    <a:lnR>
                      <a:noFill/>
                    </a:lnR>
                    <a:lnT>
                      <a:noFill/>
                    </a:lnT>
                    <a:lnB>
                      <a:noFill/>
                    </a:lnB>
                    <a:noFill/>
                  </a:tcPr>
                </a:tc>
                <a:tc>
                  <a:txBody>
                    <a:bodyPr/>
                    <a:lstStyle/>
                    <a:p>
                      <a:pPr>
                        <a:buNone/>
                      </a:pPr>
                      <a:r>
                        <a:rPr lang="en-US" sz="2800" dirty="0">
                          <a:solidFill>
                            <a:schemeClr val="bg1"/>
                          </a:solidFill>
                        </a:rPr>
                        <a:t>Percent(3,1)</a:t>
                      </a:r>
                    </a:p>
                  </a:txBody>
                  <a:tcPr anchor="ctr">
                    <a:lnL>
                      <a:noFill/>
                    </a:lnL>
                    <a:lnR>
                      <a:noFill/>
                    </a:lnR>
                    <a:lnT>
                      <a:noFill/>
                    </a:lnT>
                    <a:lnB>
                      <a:noFill/>
                    </a:lnB>
                    <a:noFill/>
                  </a:tcPr>
                </a:tc>
                <a:tc>
                  <a:txBody>
                    <a:bodyPr/>
                    <a:lstStyle/>
                    <a:p>
                      <a:pPr>
                        <a:buNone/>
                      </a:pPr>
                      <a:r>
                        <a:rPr lang="en-US" sz="2800" dirty="0">
                          <a:solidFill>
                            <a:schemeClr val="bg1"/>
                          </a:solidFill>
                        </a:rPr>
                        <a:t>Rep’s confidence in close</a:t>
                      </a:r>
                    </a:p>
                  </a:txBody>
                  <a:tcPr anchor="ctr">
                    <a:lnL>
                      <a:noFill/>
                    </a:lnL>
                    <a:lnR>
                      <a:noFill/>
                    </a:lnR>
                    <a:lnT>
                      <a:noFill/>
                    </a:lnT>
                    <a:lnB>
                      <a:noFill/>
                    </a:lnB>
                    <a:noFill/>
                  </a:tcPr>
                </a:tc>
                <a:extLst>
                  <a:ext uri="{0D108BD9-81ED-4DB2-BD59-A6C34878D82A}">
                    <a16:rowId xmlns:a16="http://schemas.microsoft.com/office/drawing/2014/main" val="597204198"/>
                  </a:ext>
                </a:extLst>
              </a:tr>
              <a:tr h="978551">
                <a:tc>
                  <a:txBody>
                    <a:bodyPr/>
                    <a:lstStyle/>
                    <a:p>
                      <a:pPr>
                        <a:buNone/>
                      </a:pPr>
                      <a:r>
                        <a:rPr lang="en-US" sz="2800">
                          <a:solidFill>
                            <a:schemeClr val="bg1"/>
                          </a:solidFill>
                        </a:rPr>
                        <a:t>Opportunity</a:t>
                      </a:r>
                    </a:p>
                  </a:txBody>
                  <a:tcPr anchor="ctr">
                    <a:lnL>
                      <a:noFill/>
                    </a:lnL>
                    <a:lnR>
                      <a:noFill/>
                    </a:lnR>
                    <a:lnT>
                      <a:noFill/>
                    </a:lnT>
                    <a:lnB>
                      <a:noFill/>
                    </a:lnB>
                    <a:noFill/>
                  </a:tcPr>
                </a:tc>
                <a:tc>
                  <a:txBody>
                    <a:bodyPr/>
                    <a:lstStyle/>
                    <a:p>
                      <a:pPr>
                        <a:buNone/>
                      </a:pPr>
                      <a:r>
                        <a:rPr lang="en-US" sz="2800">
                          <a:solidFill>
                            <a:schemeClr val="bg1"/>
                          </a:solidFill>
                        </a:rPr>
                        <a:t>Days_To_Close__c</a:t>
                      </a:r>
                    </a:p>
                  </a:txBody>
                  <a:tcPr anchor="ctr">
                    <a:lnL>
                      <a:noFill/>
                    </a:lnL>
                    <a:lnR>
                      <a:noFill/>
                    </a:lnR>
                    <a:lnT>
                      <a:noFill/>
                    </a:lnT>
                    <a:lnB>
                      <a:noFill/>
                    </a:lnB>
                    <a:noFill/>
                  </a:tcPr>
                </a:tc>
                <a:tc>
                  <a:txBody>
                    <a:bodyPr/>
                    <a:lstStyle/>
                    <a:p>
                      <a:pPr>
                        <a:buNone/>
                      </a:pPr>
                      <a:r>
                        <a:rPr lang="en-US" sz="2800" dirty="0">
                          <a:solidFill>
                            <a:schemeClr val="bg1"/>
                          </a:solidFill>
                        </a:rPr>
                        <a:t>Formula</a:t>
                      </a:r>
                    </a:p>
                  </a:txBody>
                  <a:tcPr anchor="ctr">
                    <a:lnL>
                      <a:noFill/>
                    </a:lnL>
                    <a:lnR>
                      <a:noFill/>
                    </a:lnR>
                    <a:lnT>
                      <a:noFill/>
                    </a:lnT>
                    <a:lnB>
                      <a:noFill/>
                    </a:lnB>
                    <a:noFill/>
                  </a:tcPr>
                </a:tc>
                <a:tc>
                  <a:txBody>
                    <a:bodyPr/>
                    <a:lstStyle/>
                    <a:p>
                      <a:pPr>
                        <a:buNone/>
                      </a:pPr>
                      <a:r>
                        <a:rPr lang="en-US" sz="2800" dirty="0" err="1">
                          <a:solidFill>
                            <a:schemeClr val="bg1"/>
                          </a:solidFill>
                          <a:latin typeface="Courier New" panose="02070309020205020404" pitchFamily="49" charset="0"/>
                        </a:rPr>
                        <a:t>CloseDate</a:t>
                      </a:r>
                      <a:r>
                        <a:rPr lang="en-US" sz="2800" dirty="0">
                          <a:solidFill>
                            <a:schemeClr val="bg1"/>
                          </a:solidFill>
                          <a:latin typeface="Courier New" panose="02070309020205020404" pitchFamily="49" charset="0"/>
                        </a:rPr>
                        <a:t> - TODAY()</a:t>
                      </a:r>
                      <a:endParaRPr lang="en-US" sz="2800" dirty="0">
                        <a:solidFill>
                          <a:schemeClr val="bg1"/>
                        </a:solidFill>
                      </a:endParaRPr>
                    </a:p>
                  </a:txBody>
                  <a:tcPr anchor="ctr">
                    <a:lnL>
                      <a:noFill/>
                    </a:lnL>
                    <a:lnR>
                      <a:noFill/>
                    </a:lnR>
                    <a:lnT>
                      <a:noFill/>
                    </a:lnT>
                    <a:lnB>
                      <a:noFill/>
                    </a:lnB>
                    <a:noFill/>
                  </a:tcPr>
                </a:tc>
                <a:extLst>
                  <a:ext uri="{0D108BD9-81ED-4DB2-BD59-A6C34878D82A}">
                    <a16:rowId xmlns:a16="http://schemas.microsoft.com/office/drawing/2014/main" val="2793124164"/>
                  </a:ext>
                </a:extLst>
              </a:tr>
            </a:tbl>
          </a:graphicData>
        </a:graphic>
      </p:graphicFrame>
    </p:spTree>
    <p:extLst>
      <p:ext uri="{BB962C8B-B14F-4D97-AF65-F5344CB8AC3E}">
        <p14:creationId xmlns:p14="http://schemas.microsoft.com/office/powerpoint/2010/main" val="36503622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F6660D0B-527B-D394-1316-9105B9650E2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D3299A7-2EFA-EF39-0433-44E1D6587402}"/>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2F1E63F2-BD5B-0EDC-D3D8-F5891EED5C6E}"/>
              </a:ext>
            </a:extLst>
          </p:cNvPr>
          <p:cNvSpPr txBox="1"/>
          <p:nvPr/>
        </p:nvSpPr>
        <p:spPr>
          <a:xfrm>
            <a:off x="830179" y="450828"/>
            <a:ext cx="17449800" cy="2875146"/>
          </a:xfrm>
          <a:prstGeom prst="rect">
            <a:avLst/>
          </a:prstGeom>
          <a:noFill/>
        </p:spPr>
        <p:txBody>
          <a:bodyPr wrap="square" rtlCol="0">
            <a:spAutoFit/>
          </a:bodyPr>
          <a:lstStyle/>
          <a:p>
            <a:pPr>
              <a:lnSpc>
                <a:spcPts val="7600"/>
              </a:lnSpc>
            </a:pPr>
            <a:r>
              <a:rPr lang="en-US" sz="4000" b="1" dirty="0">
                <a:solidFill>
                  <a:schemeClr val="bg1"/>
                </a:solidFill>
                <a:latin typeface="HK Modular" panose="020B0604020202020204" charset="0"/>
              </a:rPr>
              <a:t>⚙️ </a:t>
            </a:r>
            <a:r>
              <a:rPr lang="en-US" sz="4000" dirty="0">
                <a:solidFill>
                  <a:schemeClr val="bg1"/>
                </a:solidFill>
                <a:latin typeface="HK Modular" panose="020B0604020202020204" charset="0"/>
              </a:rPr>
              <a:t>Build the Apex Service — </a:t>
            </a:r>
            <a:r>
              <a:rPr lang="en-US" sz="3200" dirty="0" err="1">
                <a:solidFill>
                  <a:schemeClr val="bg1"/>
                </a:solidFill>
                <a:latin typeface="HK Modular" panose="020B0604020202020204" charset="0"/>
              </a:rPr>
              <a:t>OpportunityScoringService</a:t>
            </a:r>
            <a:endParaRPr lang="en-US" sz="4000" b="1" dirty="0">
              <a:solidFill>
                <a:schemeClr val="bg1"/>
              </a:solidFill>
              <a:latin typeface="HK Modular" panose="020B0604020202020204" charset="0"/>
            </a:endParaRPr>
          </a:p>
          <a:p>
            <a:pPr>
              <a:lnSpc>
                <a:spcPts val="7600"/>
              </a:lnSpc>
            </a:pPr>
            <a:endParaRPr lang="en-US" sz="4000" dirty="0">
              <a:solidFill>
                <a:schemeClr val="bg1"/>
              </a:solidFill>
              <a:latin typeface="HK Modular" panose="020B0604020202020204" charset="0"/>
              <a:ea typeface="HK Modular"/>
              <a:cs typeface="HK Modular"/>
              <a:sym typeface="HK Modular"/>
            </a:endParaRPr>
          </a:p>
        </p:txBody>
      </p:sp>
      <p:sp>
        <p:nvSpPr>
          <p:cNvPr id="5" name="TextBox 4">
            <a:extLst>
              <a:ext uri="{FF2B5EF4-FFF2-40B4-BE49-F238E27FC236}">
                <a16:creationId xmlns:a16="http://schemas.microsoft.com/office/drawing/2014/main" id="{42344CCD-3948-90B0-9A13-9284E957FA21}"/>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844EDD35-ACAC-602A-D41D-AB50C61AD94F}"/>
              </a:ext>
            </a:extLst>
          </p:cNvPr>
          <p:cNvSpPr txBox="1"/>
          <p:nvPr/>
        </p:nvSpPr>
        <p:spPr>
          <a:xfrm>
            <a:off x="1387230" y="2781300"/>
            <a:ext cx="16383000" cy="4062651"/>
          </a:xfrm>
          <a:prstGeom prst="rect">
            <a:avLst/>
          </a:prstGeom>
          <a:noFill/>
        </p:spPr>
        <p:txBody>
          <a:bodyPr wrap="square">
            <a:spAutoFit/>
          </a:bodyPr>
          <a:lstStyle/>
          <a:p>
            <a:r>
              <a:rPr lang="en-US" sz="4800" dirty="0"/>
              <a:t>Create an Apex class called </a:t>
            </a:r>
            <a:r>
              <a:rPr lang="en-US" sz="4800" dirty="0" err="1"/>
              <a:t>OpportunityScoringService</a:t>
            </a:r>
            <a:r>
              <a:rPr lang="en-US" sz="4800" dirty="0"/>
              <a:t> with a method </a:t>
            </a:r>
            <a:r>
              <a:rPr lang="en-US" sz="2800" dirty="0" err="1">
                <a:highlight>
                  <a:srgbClr val="FFFF00"/>
                </a:highlight>
              </a:rPr>
              <a:t>updateScores</a:t>
            </a:r>
            <a:r>
              <a:rPr lang="en-US" sz="2800" dirty="0">
                <a:highlight>
                  <a:srgbClr val="FFFF00"/>
                </a:highlight>
              </a:rPr>
              <a:t>(Set&lt;Id&gt; </a:t>
            </a:r>
            <a:r>
              <a:rPr lang="en-US" sz="2800" dirty="0" err="1">
                <a:highlight>
                  <a:srgbClr val="FFFF00"/>
                </a:highlight>
              </a:rPr>
              <a:t>oppIds</a:t>
            </a:r>
            <a:r>
              <a:rPr lang="en-US" sz="2800" dirty="0">
                <a:highlight>
                  <a:srgbClr val="FFFF00"/>
                </a:highlight>
              </a:rPr>
              <a:t>)</a:t>
            </a:r>
            <a:r>
              <a:rPr lang="en-US" sz="6600" dirty="0">
                <a:highlight>
                  <a:srgbClr val="FFFF00"/>
                </a:highlight>
              </a:rPr>
              <a:t> </a:t>
            </a:r>
            <a:r>
              <a:rPr lang="en-US" sz="4800" dirty="0"/>
              <a:t>that calculates </a:t>
            </a:r>
            <a:r>
              <a:rPr lang="en-US" sz="4800" dirty="0" err="1"/>
              <a:t>Opportunity.Priority_Score__c</a:t>
            </a:r>
            <a:r>
              <a:rPr lang="en-US" sz="4800" dirty="0"/>
              <a:t> as:</a:t>
            </a:r>
            <a:br>
              <a:rPr lang="en-US" sz="4800" dirty="0"/>
            </a:br>
            <a:r>
              <a:rPr lang="en-US" sz="4800" dirty="0"/>
              <a:t>(0.5 × </a:t>
            </a:r>
            <a:r>
              <a:rPr lang="en-US" sz="4800" dirty="0" err="1"/>
              <a:t>Confidence__c</a:t>
            </a:r>
            <a:r>
              <a:rPr lang="en-US" sz="4800" dirty="0"/>
              <a:t>) + (0.3 × Stage Weight. Use SOQL to fetch data efficiently.</a:t>
            </a:r>
          </a:p>
        </p:txBody>
      </p:sp>
    </p:spTree>
    <p:extLst>
      <p:ext uri="{BB962C8B-B14F-4D97-AF65-F5344CB8AC3E}">
        <p14:creationId xmlns:p14="http://schemas.microsoft.com/office/powerpoint/2010/main" val="39390072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01068FED-E9C9-0815-E428-09018F66E5E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966AD92-29B0-C998-47B5-3F99F9A63CA9}"/>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4093A964-377B-F599-367C-668FA2FC5211}"/>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b="1" dirty="0">
                <a:solidFill>
                  <a:schemeClr val="bg1"/>
                </a:solidFill>
                <a:latin typeface="HK Modular" panose="020B0604020202020204" charset="0"/>
              </a:rPr>
              <a:t>⚙️ </a:t>
            </a:r>
            <a:r>
              <a:rPr lang="en-US" sz="4000" dirty="0">
                <a:solidFill>
                  <a:schemeClr val="bg1"/>
                </a:solidFill>
                <a:latin typeface="HK Modular" panose="020B0604020202020204" charset="0"/>
              </a:rPr>
              <a:t>Create a Trigger Handler</a:t>
            </a:r>
            <a:endParaRPr lang="en-US" sz="4000" dirty="0">
              <a:solidFill>
                <a:schemeClr val="bg1"/>
              </a:solidFill>
              <a:latin typeface="HK Modular" panose="020B0604020202020204" charset="0"/>
              <a:ea typeface="HK Modular"/>
              <a:cs typeface="HK Modular"/>
              <a:sym typeface="HK Modular"/>
            </a:endParaRPr>
          </a:p>
        </p:txBody>
      </p:sp>
      <p:sp>
        <p:nvSpPr>
          <p:cNvPr id="5" name="TextBox 4">
            <a:extLst>
              <a:ext uri="{FF2B5EF4-FFF2-40B4-BE49-F238E27FC236}">
                <a16:creationId xmlns:a16="http://schemas.microsoft.com/office/drawing/2014/main" id="{4E9E7567-9BB7-3BA0-7CFE-73207C3411B5}"/>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386F4266-1FC5-D64C-365E-81F14FA2EF14}"/>
              </a:ext>
            </a:extLst>
          </p:cNvPr>
          <p:cNvSpPr txBox="1"/>
          <p:nvPr/>
        </p:nvSpPr>
        <p:spPr>
          <a:xfrm>
            <a:off x="1387230" y="2781300"/>
            <a:ext cx="16383000" cy="1846659"/>
          </a:xfrm>
          <a:prstGeom prst="rect">
            <a:avLst/>
          </a:prstGeom>
          <a:noFill/>
        </p:spPr>
        <p:txBody>
          <a:bodyPr wrap="square">
            <a:spAutoFit/>
          </a:bodyPr>
          <a:lstStyle/>
          <a:p>
            <a:r>
              <a:rPr lang="en-US" sz="4800" dirty="0"/>
              <a:t>Write a trigger handler that calls </a:t>
            </a:r>
            <a:r>
              <a:rPr lang="en-US" sz="2800" dirty="0" err="1">
                <a:highlight>
                  <a:srgbClr val="FFFF00"/>
                </a:highlight>
              </a:rPr>
              <a:t>OpportunityScoringService.updateScores</a:t>
            </a:r>
            <a:r>
              <a:rPr lang="en-US" sz="2800" dirty="0">
                <a:highlight>
                  <a:srgbClr val="FFFF00"/>
                </a:highlight>
              </a:rPr>
              <a:t>()</a:t>
            </a:r>
            <a:r>
              <a:rPr lang="en-US" sz="6600" dirty="0">
                <a:highlight>
                  <a:srgbClr val="FFFF00"/>
                </a:highlight>
              </a:rPr>
              <a:t> </a:t>
            </a:r>
            <a:r>
              <a:rPr lang="en-US" sz="4800" dirty="0"/>
              <a:t>whenever Opportunity stage, amount, or confidence changes.</a:t>
            </a:r>
          </a:p>
        </p:txBody>
      </p:sp>
    </p:spTree>
    <p:extLst>
      <p:ext uri="{BB962C8B-B14F-4D97-AF65-F5344CB8AC3E}">
        <p14:creationId xmlns:p14="http://schemas.microsoft.com/office/powerpoint/2010/main" val="28968158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a:extLst>
            <a:ext uri="{FF2B5EF4-FFF2-40B4-BE49-F238E27FC236}">
              <a16:creationId xmlns:a16="http://schemas.microsoft.com/office/drawing/2014/main" id="{94BF4F5D-80F8-3A13-36B8-F21FBF5C9B8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EA75649-7109-AD2E-5F37-B48E807E095E}"/>
              </a:ext>
            </a:extLst>
          </p:cNvPr>
          <p:cNvSpPr/>
          <p:nvPr/>
        </p:nvSpPr>
        <p:spPr>
          <a:xfrm>
            <a:off x="13258800" y="19050"/>
            <a:ext cx="4511430" cy="4114800"/>
          </a:xfrm>
          <a:custGeom>
            <a:avLst/>
            <a:gdLst/>
            <a:ahLst/>
            <a:cxnLst/>
            <a:rect l="l" t="t" r="r" b="b"/>
            <a:pathLst>
              <a:path w="4511430" h="4114800">
                <a:moveTo>
                  <a:pt x="0" y="0"/>
                </a:moveTo>
                <a:lnTo>
                  <a:pt x="4511430" y="0"/>
                </a:lnTo>
                <a:lnTo>
                  <a:pt x="45114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F85D770C-56BF-4720-C052-4C71389D9422}"/>
              </a:ext>
            </a:extLst>
          </p:cNvPr>
          <p:cNvSpPr txBox="1"/>
          <p:nvPr/>
        </p:nvSpPr>
        <p:spPr>
          <a:xfrm>
            <a:off x="830179" y="450828"/>
            <a:ext cx="17449800" cy="951864"/>
          </a:xfrm>
          <a:prstGeom prst="rect">
            <a:avLst/>
          </a:prstGeom>
          <a:noFill/>
        </p:spPr>
        <p:txBody>
          <a:bodyPr wrap="square" rtlCol="0">
            <a:spAutoFit/>
          </a:bodyPr>
          <a:lstStyle/>
          <a:p>
            <a:pPr>
              <a:lnSpc>
                <a:spcPts val="7600"/>
              </a:lnSpc>
            </a:pPr>
            <a:r>
              <a:rPr lang="en-US" sz="4000" b="1" dirty="0">
                <a:solidFill>
                  <a:schemeClr val="bg1"/>
                </a:solidFill>
                <a:latin typeface="HK Modular" panose="020B0604020202020204" charset="0"/>
              </a:rPr>
              <a:t>⚙️ </a:t>
            </a:r>
            <a:r>
              <a:rPr lang="en-US" sz="4000" dirty="0">
                <a:solidFill>
                  <a:schemeClr val="bg1"/>
                </a:solidFill>
                <a:latin typeface="HK Modular" panose="020B0604020202020204" charset="0"/>
              </a:rPr>
              <a:t>Create a Lightning Web Component</a:t>
            </a:r>
            <a:endParaRPr lang="en-US" sz="4000" dirty="0">
              <a:solidFill>
                <a:schemeClr val="bg1"/>
              </a:solidFill>
              <a:latin typeface="HK Modular" panose="020B0604020202020204" charset="0"/>
              <a:ea typeface="HK Modular"/>
              <a:cs typeface="HK Modular"/>
              <a:sym typeface="HK Modular"/>
            </a:endParaRPr>
          </a:p>
        </p:txBody>
      </p:sp>
      <p:sp>
        <p:nvSpPr>
          <p:cNvPr id="5" name="TextBox 4">
            <a:extLst>
              <a:ext uri="{FF2B5EF4-FFF2-40B4-BE49-F238E27FC236}">
                <a16:creationId xmlns:a16="http://schemas.microsoft.com/office/drawing/2014/main" id="{CE2CD0ED-A57E-8EA6-805A-450DC8EE71BB}"/>
              </a:ext>
            </a:extLst>
          </p:cNvPr>
          <p:cNvSpPr txBox="1"/>
          <p:nvPr/>
        </p:nvSpPr>
        <p:spPr>
          <a:xfrm>
            <a:off x="609600" y="190500"/>
            <a:ext cx="15392400" cy="769441"/>
          </a:xfrm>
          <a:prstGeom prst="rect">
            <a:avLst/>
          </a:prstGeom>
          <a:noFill/>
        </p:spPr>
        <p:txBody>
          <a:bodyPr wrap="square" rtlCol="0">
            <a:spAutoFit/>
          </a:bodyPr>
          <a:lstStyle/>
          <a:p>
            <a:pPr marL="571500" indent="-571500">
              <a:buFont typeface="Wingdings" panose="05000000000000000000" pitchFamily="2" charset="2"/>
              <a:buChar char="q"/>
            </a:pPr>
            <a:endParaRPr lang="en-US" sz="4400" i="1" dirty="0"/>
          </a:p>
        </p:txBody>
      </p:sp>
      <p:sp>
        <p:nvSpPr>
          <p:cNvPr id="7" name="TextBox 6">
            <a:extLst>
              <a:ext uri="{FF2B5EF4-FFF2-40B4-BE49-F238E27FC236}">
                <a16:creationId xmlns:a16="http://schemas.microsoft.com/office/drawing/2014/main" id="{3B5B16DC-0209-67D9-3B02-78867A19E027}"/>
              </a:ext>
            </a:extLst>
          </p:cNvPr>
          <p:cNvSpPr txBox="1"/>
          <p:nvPr/>
        </p:nvSpPr>
        <p:spPr>
          <a:xfrm>
            <a:off x="1387230" y="2781300"/>
            <a:ext cx="16383000" cy="2308324"/>
          </a:xfrm>
          <a:prstGeom prst="rect">
            <a:avLst/>
          </a:prstGeom>
          <a:noFill/>
        </p:spPr>
        <p:txBody>
          <a:bodyPr wrap="square">
            <a:spAutoFit/>
          </a:bodyPr>
          <a:lstStyle/>
          <a:p>
            <a:r>
              <a:rPr lang="en-US" sz="4800" dirty="0"/>
              <a:t>Create an LWC called </a:t>
            </a:r>
            <a:r>
              <a:rPr lang="en-US" sz="2800" dirty="0" err="1">
                <a:highlight>
                  <a:srgbClr val="FFFF00"/>
                </a:highlight>
              </a:rPr>
              <a:t>opportunityPriorityBoard</a:t>
            </a:r>
            <a:r>
              <a:rPr lang="en-US" sz="4800" dirty="0"/>
              <a:t> that displays a table of top 10 Opportunities with columns: Name, Stage, Priority Score, Amount, and Close Date. Include a refresh button.</a:t>
            </a:r>
          </a:p>
        </p:txBody>
      </p:sp>
    </p:spTree>
    <p:extLst>
      <p:ext uri="{BB962C8B-B14F-4D97-AF65-F5344CB8AC3E}">
        <p14:creationId xmlns:p14="http://schemas.microsoft.com/office/powerpoint/2010/main" val="32445508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2787</TotalTime>
  <Words>4066</Words>
  <Application>Microsoft Office PowerPoint</Application>
  <PresentationFormat>Custom</PresentationFormat>
  <Paragraphs>422</Paragraphs>
  <Slides>60</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60</vt:i4>
      </vt:variant>
    </vt:vector>
  </HeadingPairs>
  <TitlesOfParts>
    <vt:vector size="72" baseType="lpstr">
      <vt:lpstr>Wingdings</vt:lpstr>
      <vt:lpstr>Courier New</vt:lpstr>
      <vt:lpstr>Arial</vt:lpstr>
      <vt:lpstr>Times New Roman</vt:lpstr>
      <vt:lpstr>Ovo</vt:lpstr>
      <vt:lpstr>Calibri</vt:lpstr>
      <vt:lpstr>Gagalin</vt:lpstr>
      <vt:lpstr>Aptos</vt:lpstr>
      <vt:lpstr>HK Modular</vt:lpstr>
      <vt:lpstr>Lato Bold</vt:lpstr>
      <vt:lpstr>Tomorrow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Cursor Complete Course</dc:title>
  <cp:lastModifiedBy>Sim Aulakh</cp:lastModifiedBy>
  <cp:revision>23</cp:revision>
  <dcterms:created xsi:type="dcterms:W3CDTF">2006-08-16T00:00:00Z</dcterms:created>
  <dcterms:modified xsi:type="dcterms:W3CDTF">2025-10-14T16:14:17Z</dcterms:modified>
  <dc:identifier>DAGzK66XO_4</dc:identifier>
</cp:coreProperties>
</file>